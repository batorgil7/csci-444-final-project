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8" r:id="rId2"/>
    <p:sldId id="259" r:id="rId3"/>
    <p:sldId id="260" r:id="rId4"/>
    <p:sldId id="263" r:id="rId5"/>
    <p:sldId id="262" r:id="rId6"/>
    <p:sldId id="264" r:id="rId7"/>
    <p:sldId id="266" r:id="rId8"/>
    <p:sldId id="265" r:id="rId9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37" y="2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8:  R Programming - lubridate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38AED-DC78-4884-8ACF-A7E390D406A8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8F842-490D-46D4-A3AB-D4697B8CB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67261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8:  R Programming - lubridate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9C217-6742-4F6C-9E23-2195CC0F3AB7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73B47-A84F-4284-9881-BC982F6BC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569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977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126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78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21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0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904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04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616CA0-919D-4A49-9C8A-62FDFB3A5183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7E5644-1E61-4311-A31E-84CB9C7AA8A9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901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42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386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10/7/2024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544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Lubridate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</p:spTree>
    <p:extLst>
      <p:ext uri="{BB962C8B-B14F-4D97-AF65-F5344CB8AC3E}">
        <p14:creationId xmlns:p14="http://schemas.microsoft.com/office/powerpoint/2010/main" val="173594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4414141" cy="3678303"/>
          </a:xfrm>
        </p:spPr>
        <p:txBody>
          <a:bodyPr/>
          <a:lstStyle/>
          <a:p>
            <a:r>
              <a:rPr lang="en-US" dirty="0"/>
              <a:t>Works with date and time datatypes</a:t>
            </a:r>
          </a:p>
          <a:p>
            <a:r>
              <a:rPr lang="en-US" dirty="0"/>
              <a:t>Part of </a:t>
            </a:r>
            <a:r>
              <a:rPr lang="en-US" dirty="0" err="1"/>
              <a:t>tidyverse</a:t>
            </a:r>
            <a:endParaRPr lang="en-US" dirty="0"/>
          </a:p>
          <a:p>
            <a:pPr lvl="1"/>
            <a:r>
              <a:rPr lang="en-US" dirty="0"/>
              <a:t>Not automatically installed</a:t>
            </a:r>
          </a:p>
        </p:txBody>
      </p:sp>
      <p:pic>
        <p:nvPicPr>
          <p:cNvPr id="5" name="Picture 18" descr="Image result for lubridat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27954" y="2277043"/>
            <a:ext cx="2257179" cy="270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57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a Date Data Type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798519"/>
              </p:ext>
            </p:extLst>
          </p:nvPr>
        </p:nvGraphicFramePr>
        <p:xfrm>
          <a:off x="581193" y="2228003"/>
          <a:ext cx="4659841" cy="3780601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2707359">
                  <a:extLst>
                    <a:ext uri="{9D8B030D-6E8A-4147-A177-3AD203B41FA5}">
                      <a16:colId xmlns:a16="http://schemas.microsoft.com/office/drawing/2014/main" val="295236310"/>
                    </a:ext>
                  </a:extLst>
                </a:gridCol>
                <a:gridCol w="1952482">
                  <a:extLst>
                    <a:ext uri="{9D8B030D-6E8A-4147-A177-3AD203B41FA5}">
                      <a16:colId xmlns:a16="http://schemas.microsoft.com/office/drawing/2014/main" val="2910257103"/>
                    </a:ext>
                  </a:extLst>
                </a:gridCol>
              </a:tblGrid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1" dirty="0">
                          <a:solidFill>
                            <a:schemeClr val="bg1"/>
                          </a:solidFill>
                          <a:effectLst/>
                        </a:rPr>
                        <a:t>Element</a:t>
                      </a:r>
                      <a:endParaRPr lang="en-US" sz="2400" i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i="1" dirty="0">
                          <a:solidFill>
                            <a:schemeClr val="bg1"/>
                          </a:solidFill>
                          <a:effectLst/>
                        </a:rPr>
                        <a:t>Function</a:t>
                      </a:r>
                      <a:endParaRPr lang="en-US" sz="2400" i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645737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August 1, 2024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mdy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233910970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2024-08-01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ymd()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3457051502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01-08-2024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dmy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1237739315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August 1, 2024 04:32:16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mdy_hms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1394554795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2024-08-01 04:32:16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ymd_hms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4048389564"/>
                  </a:ext>
                </a:extLst>
              </a:tr>
              <a:tr h="3556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01-08-2024 </a:t>
                      </a:r>
                      <a:r>
                        <a:rPr lang="en-US" sz="2400" dirty="0">
                          <a:effectLst/>
                        </a:rPr>
                        <a:t>04:32:16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dmy_hms</a:t>
                      </a:r>
                      <a:r>
                        <a:rPr lang="en-US" sz="2400" dirty="0">
                          <a:effectLst/>
                        </a:rPr>
                        <a:t>()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2639" marR="62639" marT="0" marB="0"/>
                </a:tc>
                <a:extLst>
                  <a:ext uri="{0D108BD9-81ED-4DB2-BD59-A6C34878D82A}">
                    <a16:rowId xmlns:a16="http://schemas.microsoft.com/office/drawing/2014/main" val="1740275496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647267" y="2228003"/>
            <a:ext cx="5963542" cy="3633047"/>
          </a:xfrm>
        </p:spPr>
        <p:txBody>
          <a:bodyPr>
            <a:normAutofit/>
          </a:bodyPr>
          <a:lstStyle/>
          <a:p>
            <a:r>
              <a:rPr lang="en-US" sz="2400" dirty="0" err="1"/>
              <a:t>mdy</a:t>
            </a:r>
            <a:r>
              <a:rPr lang="en-US" sz="2400" dirty="0"/>
              <a:t>("08-26-2024")</a:t>
            </a:r>
          </a:p>
          <a:p>
            <a:r>
              <a:rPr lang="en-US" sz="2400" dirty="0" err="1"/>
              <a:t>ydm</a:t>
            </a:r>
            <a:r>
              <a:rPr lang="en-US" sz="2400" dirty="0"/>
              <a:t>("2024-26-08")</a:t>
            </a:r>
          </a:p>
          <a:p>
            <a:r>
              <a:rPr lang="en-US" sz="2400" dirty="0" err="1"/>
              <a:t>wday</a:t>
            </a:r>
            <a:r>
              <a:rPr lang="en-US" sz="2400" dirty="0"/>
              <a:t>(</a:t>
            </a:r>
            <a:r>
              <a:rPr lang="en-US" sz="2400" dirty="0" err="1"/>
              <a:t>mdy</a:t>
            </a:r>
            <a:r>
              <a:rPr lang="en-US" sz="2400" dirty="0"/>
              <a:t>("08-26-2024")) </a:t>
            </a:r>
            <a:r>
              <a:rPr lang="en-US" sz="2400" dirty="0">
                <a:sym typeface="Wingdings" panose="05000000000000000000" pitchFamily="2" charset="2"/>
              </a:rPr>
              <a:t> returns 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</a:t>
            </a:r>
          </a:p>
          <a:p>
            <a:pPr lvl="1"/>
            <a:r>
              <a:rPr lang="en-US" sz="22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1- Sunday, 2 - Monday, 3 - Tuesday, etc.</a:t>
            </a:r>
            <a:endParaRPr lang="en-US" sz="2200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/>
              <a:t>yday</a:t>
            </a:r>
            <a:r>
              <a:rPr lang="en-US" sz="2400" dirty="0"/>
              <a:t>(</a:t>
            </a:r>
            <a:r>
              <a:rPr lang="en-US" sz="2400" dirty="0" err="1"/>
              <a:t>ydm</a:t>
            </a:r>
            <a:r>
              <a:rPr lang="en-US" sz="2400" dirty="0"/>
              <a:t>("2024-26-08")) </a:t>
            </a:r>
            <a:r>
              <a:rPr lang="en-US" sz="2400" dirty="0">
                <a:sym typeface="Wingdings" panose="05000000000000000000" pitchFamily="2" charset="2"/>
              </a:rPr>
              <a:t> returns </a:t>
            </a:r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239</a:t>
            </a:r>
            <a:endParaRPr lang="en-US" sz="2400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016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Mexican Weather </a:t>
            </a:r>
            <a:r>
              <a:rPr lang="en-US" dirty="0" err="1"/>
              <a:t>STations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47397"/>
            <a:ext cx="4421114" cy="4184445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Mexicanweather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read_csv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("mexicanweather.csv",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col_names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TRUE)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date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date data type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i="1" dirty="0" err="1">
                <a:solidFill>
                  <a:srgbClr val="C00000"/>
                </a:solidFill>
              </a:rPr>
              <a:t>Mexicanweather</a:t>
            </a:r>
            <a:r>
              <a:rPr lang="en-US" i="1" dirty="0">
                <a:solidFill>
                  <a:srgbClr val="C00000"/>
                </a:solidFill>
              </a:rPr>
              <a:t> &lt;- </a:t>
            </a:r>
            <a:r>
              <a:rPr lang="en-US" i="1" dirty="0" err="1">
                <a:solidFill>
                  <a:srgbClr val="C00000"/>
                </a:solidFill>
              </a:rPr>
              <a:t>Mexicanweather</a:t>
            </a:r>
            <a:r>
              <a:rPr lang="en-US" i="1" dirty="0">
                <a:solidFill>
                  <a:srgbClr val="C00000"/>
                </a:solidFill>
              </a:rPr>
              <a:t> 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 mutate(year = year(date),</a:t>
            </a:r>
          </a:p>
          <a:p>
            <a:r>
              <a:rPr lang="en-US" i="1" dirty="0">
                <a:solidFill>
                  <a:srgbClr val="C00000"/>
                </a:solidFill>
              </a:rPr>
              <a:t>         month = month(date),</a:t>
            </a:r>
          </a:p>
          <a:p>
            <a:r>
              <a:rPr lang="en-US" i="1" dirty="0">
                <a:solidFill>
                  <a:srgbClr val="C00000"/>
                </a:solidFill>
              </a:rPr>
              <a:t>         day = day(date)) %&gt;%</a:t>
            </a:r>
          </a:p>
          <a:p>
            <a:r>
              <a:rPr lang="en-US" i="1" dirty="0">
                <a:solidFill>
                  <a:srgbClr val="C00000"/>
                </a:solidFill>
              </a:rPr>
              <a:t>  select(-date)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710" y="2334268"/>
            <a:ext cx="4463380" cy="35245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211" y="2334267"/>
            <a:ext cx="6553544" cy="372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9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Paste  </a:t>
            </a:r>
            <a:r>
              <a:rPr lang="en-US" sz="2400" dirty="0"/>
              <a:t>v</a:t>
            </a:r>
            <a:r>
              <a:rPr lang="en-US" dirty="0"/>
              <a:t>.  Paste0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6751936" cy="4226585"/>
          </a:xfrm>
        </p:spPr>
        <p:txBody>
          <a:bodyPr>
            <a:normAutofit/>
          </a:bodyPr>
          <a:lstStyle/>
          <a:p>
            <a:r>
              <a:rPr lang="en-US" sz="2800" dirty="0"/>
              <a:t>Use paste functions to concatenate strings</a:t>
            </a:r>
          </a:p>
          <a:p>
            <a:pPr lvl="1"/>
            <a:r>
              <a:rPr lang="en-US" sz="2400" dirty="0"/>
              <a:t>paste </a:t>
            </a:r>
            <a:r>
              <a:rPr lang="en-US" sz="2400" dirty="0">
                <a:sym typeface="Wingdings" panose="05000000000000000000" pitchFamily="2" charset="2"/>
              </a:rPr>
              <a:t> " " (space) is </a:t>
            </a:r>
            <a:r>
              <a:rPr lang="en-US" sz="2400" u="sng" dirty="0">
                <a:sym typeface="Wingdings" panose="05000000000000000000" pitchFamily="2" charset="2"/>
              </a:rPr>
              <a:t>default</a:t>
            </a:r>
            <a:r>
              <a:rPr lang="en-US" sz="2400" dirty="0">
                <a:sym typeface="Wingdings" panose="05000000000000000000" pitchFamily="2" charset="2"/>
              </a:rPr>
              <a:t> delimiter</a:t>
            </a:r>
          </a:p>
          <a:p>
            <a:pPr lvl="2"/>
            <a:r>
              <a:rPr lang="en-US" sz="2400" dirty="0"/>
              <a:t>Specify </a:t>
            </a:r>
            <a:r>
              <a:rPr lang="en-U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sep</a:t>
            </a:r>
            <a:r>
              <a:rPr lang="en-US" sz="2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</a:t>
            </a:r>
            <a:r>
              <a:rPr lang="en-US" sz="2400" dirty="0"/>
              <a:t> if needed</a:t>
            </a:r>
            <a:endParaRPr lang="en-US" sz="2200" dirty="0">
              <a:sym typeface="Wingdings" panose="05000000000000000000" pitchFamily="2" charset="2"/>
            </a:endParaRPr>
          </a:p>
          <a:p>
            <a:pPr lvl="1"/>
            <a:r>
              <a:rPr lang="en-US" sz="2400" dirty="0"/>
              <a:t>paste0 </a:t>
            </a:r>
            <a:r>
              <a:rPr lang="en-US" sz="2400" dirty="0">
                <a:sym typeface="Wingdings" panose="05000000000000000000" pitchFamily="2" charset="2"/>
              </a:rPr>
              <a:t>  "" (empty string) is delimiter</a:t>
            </a:r>
          </a:p>
          <a:p>
            <a:pPr lvl="2"/>
            <a:r>
              <a:rPr lang="en-US" sz="2400" dirty="0"/>
              <a:t>Faster because no other delimiter is specified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9294" y="2228003"/>
            <a:ext cx="3811515" cy="3957644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num1 &lt;-  987</a:t>
            </a:r>
          </a:p>
          <a:p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num2 &lt;- 65</a:t>
            </a:r>
          </a:p>
          <a:p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num3 &lt;- 4321</a:t>
            </a:r>
          </a:p>
          <a:p>
            <a:r>
              <a:rPr lang="en-US" sz="28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ssn</a:t>
            </a:r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&lt;- paste(</a:t>
            </a:r>
            <a:r>
              <a:rPr lang="en-US" sz="28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sep</a:t>
            </a:r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="-", </a:t>
            </a:r>
            <a:r>
              <a:rPr lang="en-US" sz="28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as.character</a:t>
            </a:r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(num1), </a:t>
            </a:r>
            <a:b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8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as.character</a:t>
            </a:r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(num2),</a:t>
            </a:r>
            <a:b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8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as.character</a:t>
            </a:r>
            <a:r>
              <a:rPr lang="en-US" sz="2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(num3))</a:t>
            </a:r>
          </a:p>
        </p:txBody>
      </p:sp>
    </p:spTree>
    <p:extLst>
      <p:ext uri="{BB962C8B-B14F-4D97-AF65-F5344CB8AC3E}">
        <p14:creationId xmlns:p14="http://schemas.microsoft.com/office/powerpoint/2010/main" val="22892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BB73-F980-41E8-B0DA-F166B464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 Specifiers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0B658C-992A-4318-A465-63BE3A87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924" y="1992444"/>
            <a:ext cx="6915906" cy="45499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F7C6996-25CB-48F3-B033-357F256F37BC}"/>
              </a:ext>
            </a:extLst>
          </p:cNvPr>
          <p:cNvSpPr/>
          <p:nvPr/>
        </p:nvSpPr>
        <p:spPr>
          <a:xfrm>
            <a:off x="2515924" y="6581001"/>
            <a:ext cx="106070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https://www.ibm.com/docs/en/cmofz/10.1.0?topic=SSQHWE_10.1.0/com.ibm.ondemand.mp.doc/arsa0257.htm</a:t>
            </a:r>
          </a:p>
        </p:txBody>
      </p:sp>
    </p:spTree>
    <p:extLst>
      <p:ext uri="{BB962C8B-B14F-4D97-AF65-F5344CB8AC3E}">
        <p14:creationId xmlns:p14="http://schemas.microsoft.com/office/powerpoint/2010/main" val="124361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8874-E0BE-4FE7-ABEE-D3DEB289B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Cyprus Tree </a:t>
            </a:r>
            <a:r>
              <a:rPr lang="en-US" dirty="0" err="1"/>
              <a:t>DAta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CC153-E869-44D9-B38F-3019CB6A1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45" y="1989228"/>
            <a:ext cx="5612644" cy="2650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F28916-EFAE-4CE4-A097-30D42BF32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11" y="3429000"/>
            <a:ext cx="5612645" cy="2708473"/>
          </a:xfrm>
          <a:prstGeom prst="rect">
            <a:avLst/>
          </a:prstGeom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8673BE28-A0B8-495B-A0CE-FC1A7E549491}"/>
              </a:ext>
            </a:extLst>
          </p:cNvPr>
          <p:cNvSpPr/>
          <p:nvPr/>
        </p:nvSpPr>
        <p:spPr>
          <a:xfrm rot="5400000">
            <a:off x="7108286" y="1125415"/>
            <a:ext cx="614875" cy="331587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98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DA88-72DE-44F9-9711-55FFDB9F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E39D-CB23-4FDE-8CA8-1161CDCA9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903" y="1911391"/>
            <a:ext cx="11029615" cy="486106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#Convert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Date_Time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to a different date format</a:t>
            </a:r>
          </a:p>
          <a:p>
            <a:r>
              <a:rPr lang="en-US" dirty="0" err="1"/>
              <a:t>oneFile</a:t>
            </a:r>
            <a:r>
              <a:rPr lang="en-US" dirty="0"/>
              <a:t> &lt;- </a:t>
            </a:r>
            <a:r>
              <a:rPr lang="en-US" dirty="0" err="1"/>
              <a:t>oneFile</a:t>
            </a:r>
            <a:r>
              <a:rPr lang="en-US" dirty="0"/>
              <a:t> %&gt;%</a:t>
            </a:r>
          </a:p>
          <a:p>
            <a:r>
              <a:rPr lang="en-US" dirty="0"/>
              <a:t>  mutate(</a:t>
            </a:r>
            <a:r>
              <a:rPr lang="en-US" dirty="0" err="1"/>
              <a:t>Date_Time</a:t>
            </a:r>
            <a:r>
              <a:rPr lang="en-US" dirty="0"/>
              <a:t> =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format(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with_tz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as_datetime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Date_Time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format="%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Y.%m.%d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%H:%M",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"GMT"),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"America/Chicago"), format = "%m/%d/%Y %H:%M")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#Convert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Date_Time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POSIXct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so it is recognized by Excel</a:t>
            </a:r>
          </a:p>
          <a:p>
            <a:r>
              <a:rPr lang="en-US" dirty="0" err="1"/>
              <a:t>oneFile</a:t>
            </a:r>
            <a:r>
              <a:rPr lang="en-US" dirty="0"/>
              <a:t> &lt;- </a:t>
            </a:r>
            <a:r>
              <a:rPr lang="en-US" dirty="0" err="1"/>
              <a:t>oneFile</a:t>
            </a:r>
            <a:r>
              <a:rPr lang="en-US" dirty="0"/>
              <a:t> %&gt;%</a:t>
            </a:r>
          </a:p>
          <a:p>
            <a:r>
              <a:rPr lang="en-US" dirty="0"/>
              <a:t>   mutate(</a:t>
            </a:r>
            <a:r>
              <a:rPr lang="en-US" dirty="0" err="1"/>
              <a:t>Date_Time</a:t>
            </a:r>
            <a:r>
              <a:rPr lang="en-US" dirty="0"/>
              <a:t> =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with_tz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as.POSIXct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Date_Time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format = "%m/%d/%Y %H:%M",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"GMT"), 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tz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"America/Chicago")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4E7775D6-CE54-4308-B40B-F464AA3B0176}"/>
              </a:ext>
            </a:extLst>
          </p:cNvPr>
          <p:cNvSpPr/>
          <p:nvPr/>
        </p:nvSpPr>
        <p:spPr>
          <a:xfrm>
            <a:off x="430654" y="3673823"/>
            <a:ext cx="9185295" cy="133620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 </a:t>
            </a:r>
            <a:r>
              <a:rPr lang="en-US" b="1" dirty="0"/>
              <a:t>Portable Operating System Interface</a:t>
            </a:r>
            <a:r>
              <a:rPr lang="en-US" dirty="0"/>
              <a:t> (POSIX) is a family of standards</a:t>
            </a:r>
          </a:p>
          <a:p>
            <a:pPr algn="ctr"/>
            <a:r>
              <a:rPr lang="en-US" dirty="0" err="1"/>
              <a:t>POSIXct</a:t>
            </a:r>
            <a:r>
              <a:rPr lang="en-US" dirty="0"/>
              <a:t> </a:t>
            </a:r>
            <a:r>
              <a:rPr lang="en-US" b="1" dirty="0"/>
              <a:t>stores date and time in seconds with the number of seconds beginning at 1 January 1970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97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11630</TotalTime>
  <Words>437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Gill Sans MT</vt:lpstr>
      <vt:lpstr>Times New Roman</vt:lpstr>
      <vt:lpstr>Wingdings</vt:lpstr>
      <vt:lpstr>Wingdings 2</vt:lpstr>
      <vt:lpstr>RTheme1</vt:lpstr>
      <vt:lpstr>Lubridate</vt:lpstr>
      <vt:lpstr>PowerPoint Presentation</vt:lpstr>
      <vt:lpstr>Constructing a Date Data Type</vt:lpstr>
      <vt:lpstr>Mexican Weather STations</vt:lpstr>
      <vt:lpstr>Paste  v.  Paste0</vt:lpstr>
      <vt:lpstr>Date Format Specifiers</vt:lpstr>
      <vt:lpstr>Example – Cyprus Tree DAta</vt:lpstr>
      <vt:lpstr>Example</vt:lpstr>
    </vt:vector>
  </TitlesOfParts>
  <Company>University of Mississippi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Lubridate</dc:title>
  <dc:creator>Kristi Davidson</dc:creator>
  <cp:lastModifiedBy>kristi</cp:lastModifiedBy>
  <cp:revision>27</cp:revision>
  <cp:lastPrinted>2019-08-23T21:15:06Z</cp:lastPrinted>
  <dcterms:created xsi:type="dcterms:W3CDTF">2019-08-01T20:01:34Z</dcterms:created>
  <dcterms:modified xsi:type="dcterms:W3CDTF">2024-10-07T14:43:12Z</dcterms:modified>
</cp:coreProperties>
</file>