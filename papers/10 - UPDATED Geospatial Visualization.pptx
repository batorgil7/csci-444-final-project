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8"/>
  </p:notesMasterIdLst>
  <p:handoutMasterIdLst>
    <p:handoutMasterId r:id="rId39"/>
  </p:handoutMasterIdLst>
  <p:sldIdLst>
    <p:sldId id="257" r:id="rId2"/>
    <p:sldId id="258" r:id="rId3"/>
    <p:sldId id="259" r:id="rId4"/>
    <p:sldId id="260" r:id="rId5"/>
    <p:sldId id="262" r:id="rId6"/>
    <p:sldId id="261" r:id="rId7"/>
    <p:sldId id="263" r:id="rId8"/>
    <p:sldId id="264" r:id="rId9"/>
    <p:sldId id="267" r:id="rId10"/>
    <p:sldId id="265" r:id="rId11"/>
    <p:sldId id="286" r:id="rId12"/>
    <p:sldId id="268" r:id="rId13"/>
    <p:sldId id="296" r:id="rId14"/>
    <p:sldId id="266" r:id="rId15"/>
    <p:sldId id="299" r:id="rId16"/>
    <p:sldId id="289" r:id="rId17"/>
    <p:sldId id="288" r:id="rId18"/>
    <p:sldId id="293" r:id="rId19"/>
    <p:sldId id="294" r:id="rId20"/>
    <p:sldId id="297" r:id="rId21"/>
    <p:sldId id="29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300" r:id="rId32"/>
    <p:sldId id="278" r:id="rId33"/>
    <p:sldId id="279" r:id="rId34"/>
    <p:sldId id="280" r:id="rId35"/>
    <p:sldId id="281" r:id="rId36"/>
    <p:sldId id="282" r:id="rId37"/>
  </p:sldIdLst>
  <p:sldSz cx="12192000" cy="6858000"/>
  <p:notesSz cx="68580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33" autoAdjust="0"/>
    <p:restoredTop sz="86441" autoAdjust="0"/>
  </p:normalViewPr>
  <p:slideViewPr>
    <p:cSldViewPr snapToGrid="0">
      <p:cViewPr varScale="1">
        <p:scale>
          <a:sx n="74" d="100"/>
          <a:sy n="74" d="100"/>
        </p:scale>
        <p:origin x="101" y="3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643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Unit 10:  R Programming - Geospatial Visualization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6643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86E0B4-01A0-4ECB-ADB1-EA7886A556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2971800" cy="4664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829967"/>
            <a:ext cx="2971800" cy="4664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88F811-3B42-468A-97F8-36BE1486F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873564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643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Unit 10:  R Programming - Geospatial Visualization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643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39A4D2-12EC-4D00-83F1-ED89CA52FD25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413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73892"/>
            <a:ext cx="5486400" cy="366045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71800" cy="4664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829967"/>
            <a:ext cx="2971800" cy="4664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507E68-8FD3-4EE8-9DBB-9A992A168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722635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DFF08F-DC6B-4601-B491-B0F83F6DD2DA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1A3260">
                    <a:lumMod val="75000"/>
                    <a:lumOff val="25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10/19/2025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1A3260">
                  <a:lumMod val="75000"/>
                  <a:lumOff val="25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 dirty="0">
              <a:ln>
                <a:noFill/>
              </a:ln>
              <a:solidFill>
                <a:srgbClr val="1A3260">
                  <a:lumMod val="75000"/>
                  <a:lumOff val="25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AB73BC-B049-4115-A692-8D63A059BFB8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1A3260">
                    <a:lumMod val="75000"/>
                    <a:lumOff val="25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1A3260">
                  <a:lumMod val="75000"/>
                  <a:lumOff val="25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939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DFF08F-DC6B-4601-B491-B0F83F6DD2DA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10/19/2025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AB73BC-B049-4115-A692-8D63A059BFB8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5102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DFF08F-DC6B-4601-B491-B0F83F6DD2DA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1A3260">
                    <a:lumMod val="75000"/>
                    <a:lumOff val="25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10/19/2025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1A3260">
                  <a:lumMod val="75000"/>
                  <a:lumOff val="25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 dirty="0">
              <a:ln>
                <a:noFill/>
              </a:ln>
              <a:solidFill>
                <a:srgbClr val="1A3260">
                  <a:lumMod val="75000"/>
                  <a:lumOff val="25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AB73BC-B049-4115-A692-8D63A059BFB8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1A3260">
                    <a:lumMod val="75000"/>
                    <a:lumOff val="25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1A3260">
                  <a:lumMod val="75000"/>
                  <a:lumOff val="25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1944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DFF08F-DC6B-4601-B491-B0F83F6DD2DA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10/19/2025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AB73BC-B049-4115-A692-8D63A059BFB8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9824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DFF08F-DC6B-4601-B491-B0F83F6DD2DA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10/19/2025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AB73BC-B049-4115-A692-8D63A059BFB8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491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DFF08F-DC6B-4601-B491-B0F83F6DD2DA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10/19/2025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AB73BC-B049-4115-A692-8D63A059BFB8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354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DFF08F-DC6B-4601-B491-B0F83F6DD2DA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10/19/2025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AB73BC-B049-4115-A692-8D63A059BFB8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9735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DFF08F-DC6B-4601-B491-B0F83F6DD2DA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1A3260">
                    <a:lumMod val="75000"/>
                    <a:lumOff val="25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10/19/2025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1A3260">
                  <a:lumMod val="75000"/>
                  <a:lumOff val="25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 dirty="0">
              <a:ln>
                <a:noFill/>
              </a:ln>
              <a:solidFill>
                <a:srgbClr val="1A3260">
                  <a:lumMod val="75000"/>
                  <a:lumOff val="25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AB73BC-B049-4115-A692-8D63A059BFB8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1A3260">
                    <a:lumMod val="75000"/>
                    <a:lumOff val="25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1A3260">
                  <a:lumMod val="75000"/>
                  <a:lumOff val="25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8927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7616CA0-919D-4A49-9C8A-62FDFB3A5183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10/19/2025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7E5644-1E61-4311-A31E-84CB9C7AA8A9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3133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DFF08F-DC6B-4601-B491-B0F83F6DD2DA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10/19/2025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AB73BC-B049-4115-A692-8D63A059BFB8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0467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DFF08F-DC6B-4601-B491-B0F83F6DD2DA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1A3260">
                    <a:lumMod val="75000"/>
                    <a:lumOff val="25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10/19/2025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1A3260">
                  <a:lumMod val="75000"/>
                  <a:lumOff val="25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AB73BC-B049-4115-A692-8D63A059BFB8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1A3260">
                    <a:lumMod val="75000"/>
                    <a:lumOff val="25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1A3260">
                  <a:lumMod val="75000"/>
                  <a:lumOff val="25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4581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DFF08F-DC6B-4601-B491-B0F83F6DD2DA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10/19/2025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AB73BC-B049-4115-A692-8D63A059BFB8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04966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Geospatial Visualization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CSCI 444</a:t>
            </a:r>
          </a:p>
        </p:txBody>
      </p:sp>
    </p:spTree>
    <p:extLst>
      <p:ext uri="{BB962C8B-B14F-4D97-AF65-F5344CB8AC3E}">
        <p14:creationId xmlns:p14="http://schemas.microsoft.com/office/powerpoint/2010/main" val="1872489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Choropleth Maps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3" y="2180496"/>
            <a:ext cx="5030714" cy="3678303"/>
          </a:xfrm>
        </p:spPr>
        <p:txBody>
          <a:bodyPr/>
          <a:lstStyle/>
          <a:p>
            <a:r>
              <a:rPr lang="en-US" dirty="0"/>
              <a:t>Choropleth Map</a:t>
            </a:r>
          </a:p>
          <a:p>
            <a:pPr lvl="1"/>
            <a:r>
              <a:rPr lang="en-US" dirty="0"/>
              <a:t>Data displayed on a map</a:t>
            </a:r>
          </a:p>
          <a:p>
            <a:pPr lvl="1"/>
            <a:r>
              <a:rPr lang="en-US" dirty="0"/>
              <a:t>Color-coding regions based on variable’s value</a:t>
            </a:r>
          </a:p>
        </p:txBody>
      </p:sp>
      <p:pic>
        <p:nvPicPr>
          <p:cNvPr id="1026" name="Picture 2" descr="Image result for choropleth map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7386" y="2495646"/>
            <a:ext cx="6953250" cy="304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0936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R’s </a:t>
            </a:r>
            <a:r>
              <a:rPr lang="en-US" cap="none" dirty="0" err="1"/>
              <a:t>map_data</a:t>
            </a:r>
            <a:r>
              <a:rPr lang="en-US" dirty="0"/>
              <a:t> function</a:t>
            </a:r>
          </a:p>
        </p:txBody>
      </p:sp>
      <p:pic>
        <p:nvPicPr>
          <p:cNvPr id="2052" name="Picture 4" descr="Image result for choropleth maps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657493" y="2401331"/>
            <a:ext cx="3534507" cy="2480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715956"/>
            <a:ext cx="11029615" cy="4882068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rgbClr val="7030A0"/>
                </a:solidFill>
              </a:rPr>
              <a:t>maps</a:t>
            </a:r>
            <a:r>
              <a:rPr lang="en-US" dirty="0"/>
              <a:t> package</a:t>
            </a:r>
          </a:p>
          <a:p>
            <a:r>
              <a:rPr lang="en-US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map_data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("</a:t>
            </a:r>
            <a:r>
              <a:rPr lang="en-US" b="1" i="1" dirty="0">
                <a:solidFill>
                  <a:srgbClr val="C00000"/>
                </a:solidFill>
              </a:rPr>
              <a:t>name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")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retrieves latitude and longitude</a:t>
            </a:r>
          </a:p>
          <a:p>
            <a:r>
              <a:rPr lang="en-US" dirty="0">
                <a:sym typeface="Wingdings" panose="05000000000000000000" pitchFamily="2" charset="2"/>
              </a:rPr>
              <a:t>Use </a:t>
            </a:r>
            <a:r>
              <a:rPr lang="en-US" b="1" i="1" dirty="0">
                <a:solidFill>
                  <a:srgbClr val="C00000"/>
                </a:solidFill>
                <a:sym typeface="Wingdings" panose="05000000000000000000" pitchFamily="2" charset="2"/>
              </a:rPr>
              <a:t>name</a:t>
            </a:r>
            <a:r>
              <a:rPr lang="en-US" dirty="0">
                <a:sym typeface="Wingdings" panose="05000000000000000000" pitchFamily="2" charset="2"/>
              </a:rPr>
              <a:t> of map in </a:t>
            </a:r>
            <a:r>
              <a:rPr lang="en-US" b="1" i="1" dirty="0">
                <a:solidFill>
                  <a:srgbClr val="7030A0"/>
                </a:solidFill>
                <a:sym typeface="Wingdings" panose="05000000000000000000" pitchFamily="2" charset="2"/>
              </a:rPr>
              <a:t>maps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r>
              <a:rPr lang="en-US" dirty="0">
                <a:sym typeface="Wingdings" panose="05000000000000000000" pitchFamily="2" charset="2"/>
              </a:rPr>
              <a:t>world</a:t>
            </a:r>
          </a:p>
          <a:p>
            <a:pPr lvl="1"/>
            <a:r>
              <a:rPr lang="en-US" dirty="0"/>
              <a:t>world2</a:t>
            </a:r>
          </a:p>
          <a:p>
            <a:pPr lvl="1"/>
            <a:r>
              <a:rPr lang="en-US" dirty="0" err="1"/>
              <a:t>usa</a:t>
            </a:r>
            <a:endParaRPr lang="en-US" dirty="0"/>
          </a:p>
          <a:p>
            <a:pPr lvl="1"/>
            <a:r>
              <a:rPr lang="en-US" dirty="0"/>
              <a:t>state</a:t>
            </a:r>
          </a:p>
          <a:p>
            <a:pPr lvl="1"/>
            <a:r>
              <a:rPr lang="en-US" dirty="0"/>
              <a:t>county</a:t>
            </a:r>
          </a:p>
          <a:p>
            <a:pPr lvl="1"/>
            <a:r>
              <a:rPr lang="en-US" dirty="0" err="1"/>
              <a:t>france</a:t>
            </a:r>
            <a:r>
              <a:rPr lang="en-US" dirty="0"/>
              <a:t>, </a:t>
            </a:r>
            <a:r>
              <a:rPr lang="en-US" dirty="0" err="1"/>
              <a:t>italy</a:t>
            </a:r>
            <a:r>
              <a:rPr lang="en-US" dirty="0"/>
              <a:t>, </a:t>
            </a:r>
            <a:r>
              <a:rPr lang="en-US" dirty="0" err="1"/>
              <a:t>nz</a:t>
            </a:r>
            <a:endParaRPr lang="en-US" dirty="0"/>
          </a:p>
        </p:txBody>
      </p:sp>
      <p:pic>
        <p:nvPicPr>
          <p:cNvPr id="2050" name="Picture 2" descr="Image result for choropleth map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1504" y="3997139"/>
            <a:ext cx="5476398" cy="2600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1827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R Builds Maps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" y="1947413"/>
            <a:ext cx="9882555" cy="2032915"/>
          </a:xfrm>
        </p:spPr>
        <p:txBody>
          <a:bodyPr>
            <a:normAutofit/>
          </a:bodyPr>
          <a:lstStyle/>
          <a:p>
            <a:r>
              <a:rPr lang="en-US" dirty="0" err="1">
                <a:sym typeface="Wingdings" panose="05000000000000000000" pitchFamily="2" charset="2"/>
              </a:rPr>
              <a:t>geom_polygon</a:t>
            </a:r>
            <a:r>
              <a:rPr lang="en-US" dirty="0">
                <a:sym typeface="Wingdings" panose="05000000000000000000" pitchFamily="2" charset="2"/>
              </a:rPr>
              <a:t>  connects the polygon regions</a:t>
            </a:r>
            <a:endParaRPr lang="en-US" dirty="0"/>
          </a:p>
          <a:p>
            <a:pPr lvl="1"/>
            <a:r>
              <a:rPr lang="en-US" dirty="0"/>
              <a:t>Uses </a:t>
            </a:r>
            <a:r>
              <a:rPr lang="en-US" dirty="0" err="1"/>
              <a:t>shapefiles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maps data for complicated areas 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                        </a:t>
            </a:r>
            <a:r>
              <a:rPr lang="en-US" dirty="0" err="1">
                <a:sym typeface="Wingdings" panose="05000000000000000000" pitchFamily="2" charset="2"/>
              </a:rPr>
              <a:t>nontopological</a:t>
            </a:r>
            <a:r>
              <a:rPr lang="en-US" dirty="0">
                <a:sym typeface="Wingdings" panose="05000000000000000000" pitchFamily="2" charset="2"/>
              </a:rPr>
              <a:t> format for storing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                            geometric locations (e.g., </a:t>
            </a:r>
            <a:r>
              <a:rPr lang="en-US" dirty="0" err="1">
                <a:sym typeface="Wingdings" panose="05000000000000000000" pitchFamily="2" charset="2"/>
              </a:rPr>
              <a:t>GeoJSON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shapefiles</a:t>
            </a:r>
            <a:r>
              <a:rPr lang="en-US" dirty="0">
                <a:sym typeface="Wingdings" panose="05000000000000000000" pitchFamily="2" charset="2"/>
              </a:rPr>
              <a:t>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9435" y="3888460"/>
            <a:ext cx="5371373" cy="2969540"/>
          </a:xfrm>
          <a:prstGeom prst="rect">
            <a:avLst/>
          </a:prstGeom>
        </p:spPr>
      </p:pic>
      <p:pic>
        <p:nvPicPr>
          <p:cNvPr id="3074" name="Picture 2" descr="Image result for what is a shapefile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278031" y="4089601"/>
            <a:ext cx="3450291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3688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 – US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931109"/>
            <a:ext cx="5102432" cy="4720703"/>
          </a:xfrm>
        </p:spPr>
        <p:txBody>
          <a:bodyPr>
            <a:normAutofit lnSpcReduction="10000"/>
          </a:bodyPr>
          <a:lstStyle/>
          <a:p>
            <a:pPr marL="306000" lvl="1"/>
            <a:r>
              <a:rPr lang="en-US" sz="2800" dirty="0" err="1">
                <a:solidFill>
                  <a:srgbClr val="C00000"/>
                </a:solidFill>
              </a:rPr>
              <a:t>us_states</a:t>
            </a:r>
            <a:r>
              <a:rPr lang="en-US" sz="2800" dirty="0">
                <a:solidFill>
                  <a:srgbClr val="C00000"/>
                </a:solidFill>
              </a:rPr>
              <a:t> &lt;- </a:t>
            </a:r>
            <a:r>
              <a:rPr lang="en-US" sz="2800" dirty="0" err="1">
                <a:solidFill>
                  <a:srgbClr val="C00000"/>
                </a:solidFill>
              </a:rPr>
              <a:t>map_data</a:t>
            </a:r>
            <a:r>
              <a:rPr lang="en-US" sz="2800" dirty="0">
                <a:solidFill>
                  <a:srgbClr val="C00000"/>
                </a:solidFill>
              </a:rPr>
              <a:t>("state")</a:t>
            </a:r>
          </a:p>
          <a:p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us_states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%&gt;%</a:t>
            </a:r>
          </a:p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ggplot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(mapping = 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aes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(x=long,</a:t>
            </a:r>
          </a:p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                y=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lat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,</a:t>
            </a:r>
          </a:p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                group = group)) +</a:t>
            </a:r>
          </a:p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geom_polygon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(color="black",</a:t>
            </a:r>
          </a:p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        fill = "white") +</a:t>
            </a:r>
          </a:p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coord_sf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8764" y="2490464"/>
            <a:ext cx="5532044" cy="305836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228237" y="3005667"/>
            <a:ext cx="1018675" cy="584200"/>
          </a:xfrm>
          <a:prstGeom prst="roundRect">
            <a:avLst/>
          </a:prstGeom>
          <a:solidFill>
            <a:srgbClr val="C00000">
              <a:alpha val="3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3132408" y="3589867"/>
            <a:ext cx="1095829" cy="584200"/>
          </a:xfrm>
          <a:prstGeom prst="roundRect">
            <a:avLst/>
          </a:prstGeom>
          <a:solidFill>
            <a:srgbClr val="C00000">
              <a:alpha val="3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946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 – </a:t>
            </a:r>
            <a:r>
              <a:rPr lang="en-US" cap="none" dirty="0" err="1"/>
              <a:t>con’t</a:t>
            </a:r>
            <a:endParaRPr lang="en-US" cap="non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786054"/>
            <a:ext cx="11029615" cy="217048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US Map</a:t>
            </a:r>
          </a:p>
          <a:p>
            <a:pPr lvl="1"/>
            <a:r>
              <a:rPr lang="en-US" dirty="0"/>
              <a:t>REMOVE LINE </a:t>
            </a:r>
            <a:r>
              <a:rPr lang="en-US" dirty="0">
                <a:sym typeface="Wingdings" panose="05000000000000000000" pitchFamily="2" charset="2"/>
              </a:rPr>
              <a:t>  </a:t>
            </a:r>
            <a:r>
              <a:rPr lang="en-US" i="1" dirty="0">
                <a:solidFill>
                  <a:schemeClr val="accent5">
                    <a:lumMod val="50000"/>
                  </a:schemeClr>
                </a:solidFill>
              </a:rPr>
              <a:t>group = group</a:t>
            </a:r>
            <a:r>
              <a:rPr lang="en-US" dirty="0"/>
              <a:t>  </a:t>
            </a:r>
          </a:p>
          <a:p>
            <a:pPr lvl="2"/>
            <a:r>
              <a:rPr lang="en-US" dirty="0"/>
              <a:t>What displays?</a:t>
            </a:r>
          </a:p>
          <a:p>
            <a:pPr lvl="1"/>
            <a:r>
              <a:rPr lang="en-US" dirty="0"/>
              <a:t>R doesn’t know how to consider </a:t>
            </a:r>
            <a:r>
              <a:rPr lang="en-US" dirty="0" err="1"/>
              <a:t>subregions</a:t>
            </a:r>
            <a:r>
              <a:rPr lang="en-US" dirty="0"/>
              <a:t> such as the state of Washington.  The group variable is by </a:t>
            </a:r>
            <a:r>
              <a:rPr lang="en-US" i="1" dirty="0">
                <a:solidFill>
                  <a:schemeClr val="accent5">
                    <a:lumMod val="50000"/>
                  </a:schemeClr>
                </a:solidFill>
              </a:rPr>
              <a:t>group</a:t>
            </a:r>
            <a:r>
              <a:rPr lang="en-US" dirty="0"/>
              <a:t> or </a:t>
            </a:r>
            <a:r>
              <a:rPr lang="en-US" i="1" dirty="0">
                <a:solidFill>
                  <a:schemeClr val="accent5">
                    <a:lumMod val="50000"/>
                  </a:schemeClr>
                </a:solidFill>
              </a:rPr>
              <a:t>region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both represent one state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2130" y="3956537"/>
            <a:ext cx="5198177" cy="2955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765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 Projections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990165"/>
            <a:ext cx="6608501" cy="4867835"/>
          </a:xfrm>
        </p:spPr>
        <p:txBody>
          <a:bodyPr>
            <a:normAutofit/>
          </a:bodyPr>
          <a:lstStyle/>
          <a:p>
            <a:r>
              <a:rPr lang="en-US" dirty="0"/>
              <a:t>Mercator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default</a:t>
            </a:r>
          </a:p>
          <a:p>
            <a:pPr lvl="1"/>
            <a:r>
              <a:rPr lang="en-US" dirty="0"/>
              <a:t>Based on Cartesian Coordinates</a:t>
            </a:r>
          </a:p>
          <a:p>
            <a:r>
              <a:rPr lang="en-US" dirty="0"/>
              <a:t>Albers </a:t>
            </a:r>
            <a:r>
              <a:rPr lang="en-US" dirty="0">
                <a:sym typeface="Wingdings" panose="05000000000000000000" pitchFamily="2" charset="2"/>
              </a:rPr>
              <a:t> spherical projection</a:t>
            </a:r>
            <a:endParaRPr lang="en-US" dirty="0"/>
          </a:p>
          <a:p>
            <a:pPr lvl="1"/>
            <a:r>
              <a:rPr lang="en-US" dirty="0"/>
              <a:t>Example:</a:t>
            </a:r>
            <a:r>
              <a:rPr lang="en-US" dirty="0">
                <a:sym typeface="Wingdings" panose="05000000000000000000" pitchFamily="2" charset="2"/>
              </a:rPr>
              <a:t> curving at Canadian border</a:t>
            </a:r>
            <a:endParaRPr lang="en-US" dirty="0"/>
          </a:p>
          <a:p>
            <a:r>
              <a:rPr lang="en-US" b="1" i="1" dirty="0" err="1">
                <a:solidFill>
                  <a:srgbClr val="7030A0"/>
                </a:solidFill>
              </a:rPr>
              <a:t>mapproj</a:t>
            </a:r>
            <a:r>
              <a:rPr lang="en-US" dirty="0"/>
              <a:t> package </a:t>
            </a:r>
            <a:r>
              <a:rPr lang="en-US" dirty="0">
                <a:sym typeface="Wingdings" panose="05000000000000000000" pitchFamily="2" charset="2"/>
              </a:rPr>
              <a:t> use map projection in </a:t>
            </a:r>
            <a:r>
              <a:rPr lang="en-US" dirty="0" err="1">
                <a:sym typeface="Wingdings" panose="05000000000000000000" pitchFamily="2" charset="2"/>
              </a:rPr>
              <a:t>coord_map</a:t>
            </a:r>
            <a:endParaRPr lang="en-US" dirty="0"/>
          </a:p>
          <a:p>
            <a:pPr lvl="1"/>
            <a:r>
              <a:rPr lang="en-US" dirty="0" err="1">
                <a:sym typeface="Wingdings" panose="05000000000000000000" pitchFamily="2" charset="2"/>
              </a:rPr>
              <a:t>coord_map</a:t>
            </a:r>
            <a:r>
              <a:rPr lang="en-US" dirty="0">
                <a:sym typeface="Wingdings" panose="05000000000000000000" pitchFamily="2" charset="2"/>
              </a:rPr>
              <a:t>(projection = “</a:t>
            </a:r>
            <a:r>
              <a:rPr lang="en-US" dirty="0" err="1">
                <a:sym typeface="Wingdings" panose="05000000000000000000" pitchFamily="2" charset="2"/>
              </a:rPr>
              <a:t>albers</a:t>
            </a:r>
            <a:r>
              <a:rPr lang="en-US" dirty="0">
                <a:sym typeface="Wingdings" panose="05000000000000000000" pitchFamily="2" charset="2"/>
              </a:rPr>
              <a:t>”, 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                   lat0=39, lat1=45)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6919" y="1209056"/>
            <a:ext cx="3197878" cy="228310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5858" y="3449033"/>
            <a:ext cx="4390743" cy="2395954"/>
          </a:xfrm>
          <a:prstGeom prst="rect">
            <a:avLst/>
          </a:prstGeom>
        </p:spPr>
      </p:pic>
      <p:sp>
        <p:nvSpPr>
          <p:cNvPr id="6" name="Left Arrow Callout 5"/>
          <p:cNvSpPr/>
          <p:nvPr/>
        </p:nvSpPr>
        <p:spPr>
          <a:xfrm>
            <a:off x="5253316" y="5868185"/>
            <a:ext cx="3872753" cy="717177"/>
          </a:xfrm>
          <a:prstGeom prst="left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Albers requires starting and stopping latitude</a:t>
            </a:r>
          </a:p>
        </p:txBody>
      </p:sp>
    </p:spTree>
    <p:extLst>
      <p:ext uri="{BB962C8B-B14F-4D97-AF65-F5344CB8AC3E}">
        <p14:creationId xmlns:p14="http://schemas.microsoft.com/office/powerpoint/2010/main" val="687686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Maps with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72075" y="1962615"/>
            <a:ext cx="6438733" cy="462775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merge(map, dataset, by=“var”)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left_join</a:t>
            </a:r>
            <a:r>
              <a:rPr lang="en-US" dirty="0"/>
              <a:t>(</a:t>
            </a:r>
            <a:r>
              <a:rPr lang="en-US" i="1" dirty="0"/>
              <a:t>map</a:t>
            </a:r>
            <a:r>
              <a:rPr lang="en-US" dirty="0"/>
              <a:t>, </a:t>
            </a:r>
            <a:r>
              <a:rPr lang="en-US" i="1" dirty="0"/>
              <a:t>dataset, by=“var”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Use merge with shape files and </a:t>
            </a:r>
            <a:r>
              <a:rPr lang="en-US" dirty="0" err="1"/>
              <a:t>left_join</a:t>
            </a:r>
            <a:r>
              <a:rPr lang="en-US" dirty="0"/>
              <a:t> with long &amp; lab</a:t>
            </a:r>
          </a:p>
          <a:p>
            <a:pPr lvl="1"/>
            <a:r>
              <a:rPr lang="en-US" dirty="0"/>
              <a:t>map &amp; data MUST have a common </a:t>
            </a:r>
            <a:r>
              <a:rPr lang="en-US" b="1" i="1" dirty="0">
                <a:solidFill>
                  <a:schemeClr val="accent5">
                    <a:lumMod val="50000"/>
                  </a:schemeClr>
                </a:solidFill>
              </a:rPr>
              <a:t>variable</a:t>
            </a:r>
            <a:r>
              <a:rPr lang="en-US" dirty="0"/>
              <a:t> name</a:t>
            </a:r>
          </a:p>
          <a:p>
            <a:pPr lvl="1"/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Observational Units</a:t>
            </a:r>
            <a:r>
              <a:rPr lang="en-US" dirty="0"/>
              <a:t> must have same spelling</a:t>
            </a:r>
          </a:p>
          <a:p>
            <a:pPr lvl="2"/>
            <a:r>
              <a:rPr lang="en-US" dirty="0"/>
              <a:t>Washington DC v. District of Columbia</a:t>
            </a:r>
          </a:p>
          <a:p>
            <a:pPr lvl="2"/>
            <a:r>
              <a:rPr lang="en-US" dirty="0"/>
              <a:t>Example Code:</a:t>
            </a:r>
          </a:p>
          <a:p>
            <a:pPr lvl="3"/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mutate(</a:t>
            </a:r>
            <a:r>
              <a:rPr lang="en-US" b="1" i="1" dirty="0">
                <a:solidFill>
                  <a:schemeClr val="accent5">
                    <a:lumMod val="50000"/>
                  </a:schemeClr>
                </a:solidFill>
              </a:rPr>
              <a:t>region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</a:t>
            </a:r>
            <a:r>
              <a:rPr lang="en-US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ifelse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</a:t>
            </a:r>
            <a:r>
              <a:rPr lang="en-US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as.character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(state) == “DC”, “district of </a:t>
            </a:r>
            <a:r>
              <a:rPr lang="en-US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columbia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“, </a:t>
            </a:r>
            <a:r>
              <a:rPr lang="en-US" b="1" i="1" dirty="0">
                <a:solidFill>
                  <a:schemeClr val="accent5">
                    <a:lumMod val="50000"/>
                  </a:schemeClr>
                </a:solidFill>
              </a:rPr>
              <a:t>region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))</a:t>
            </a:r>
          </a:p>
          <a:p>
            <a:pPr marL="0" indent="0">
              <a:buNone/>
            </a:pPr>
            <a:endParaRPr lang="en-US" b="1" i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098" name="Picture 2" descr="Image result for washington dc map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81192" y="2449435"/>
            <a:ext cx="4438650" cy="3303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2491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Election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9165" y="2274014"/>
            <a:ext cx="6774772" cy="4262253"/>
          </a:xfrm>
        </p:spPr>
        <p:txBody>
          <a:bodyPr>
            <a:normAutofit/>
          </a:bodyPr>
          <a:lstStyle/>
          <a:p>
            <a:r>
              <a:rPr lang="en-US" b="1" i="1" dirty="0" err="1">
                <a:solidFill>
                  <a:srgbClr val="7030A0"/>
                </a:solidFill>
              </a:rPr>
              <a:t>socviz</a:t>
            </a:r>
            <a:r>
              <a:rPr lang="en-US" dirty="0"/>
              <a:t> package </a:t>
            </a:r>
            <a:r>
              <a:rPr lang="en-US" dirty="0">
                <a:sym typeface="Wingdings" panose="05000000000000000000" pitchFamily="2" charset="2"/>
              </a:rPr>
              <a:t> has 2016 election data</a:t>
            </a:r>
          </a:p>
          <a:p>
            <a:r>
              <a:rPr lang="en-US" dirty="0"/>
              <a:t>Update for 2020 election data</a:t>
            </a:r>
          </a:p>
          <a:p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election2020 &lt;- </a:t>
            </a:r>
            <a:r>
              <a:rPr lang="en-US" sz="2000" dirty="0" err="1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read_csv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("./data/president_2020.csv")</a:t>
            </a:r>
          </a:p>
          <a:p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election2020 &lt;- election2020 %&gt;%  </a:t>
            </a:r>
            <a:b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</a:b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mutate(winner = </a:t>
            </a:r>
            <a:r>
              <a:rPr lang="en-US" sz="2000" dirty="0" err="1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ifelse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(.$`Biden/Harris` &gt; </a:t>
            </a:r>
            <a:r>
              <a:rPr lang="en-US" sz="2000" dirty="0">
                <a:solidFill>
                  <a:srgbClr val="C00000"/>
                </a:solidFill>
                <a:sym typeface="Wingdings" panose="05000000000000000000" pitchFamily="2" charset="2"/>
              </a:rPr>
              <a:t>.$`Trump/Pence`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,  </a:t>
            </a:r>
            <a:b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</a:b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                                   "Biden", </a:t>
            </a:r>
            <a:r>
              <a:rPr lang="en-US" sz="2000" dirty="0">
                <a:solidFill>
                  <a:srgbClr val="C00000"/>
                </a:solidFill>
                <a:sym typeface="Wingdings" panose="05000000000000000000" pitchFamily="2" charset="2"/>
              </a:rPr>
              <a:t>"Trump"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),</a:t>
            </a:r>
            <a:b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</a:b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            party = </a:t>
            </a:r>
            <a:r>
              <a:rPr lang="en-US" sz="2000" dirty="0" err="1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ifelse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(.$`Biden/Harris` &gt; </a:t>
            </a:r>
            <a:r>
              <a:rPr lang="en-US" sz="2000" dirty="0">
                <a:solidFill>
                  <a:srgbClr val="C00000"/>
                </a:solidFill>
                <a:sym typeface="Wingdings" panose="05000000000000000000" pitchFamily="2" charset="2"/>
              </a:rPr>
              <a:t>.$`Trump/Pence`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, </a:t>
            </a:r>
            <a:b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</a:b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                                    "Democrat", </a:t>
            </a:r>
            <a:r>
              <a:rPr lang="en-US" sz="2000" dirty="0">
                <a:solidFill>
                  <a:srgbClr val="C00000"/>
                </a:solidFill>
                <a:sym typeface="Wingdings" panose="05000000000000000000" pitchFamily="2" charset="2"/>
              </a:rPr>
              <a:t>"Republican"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), </a:t>
            </a:r>
            <a:b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</a:b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            region = </a:t>
            </a:r>
            <a:r>
              <a:rPr lang="en-US" sz="2000" dirty="0" err="1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str_to_lower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(State)) %&gt;% </a:t>
            </a:r>
            <a:b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</a:b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select(-State)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2A64C3-5369-425E-ADE5-CF8188A4F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4196" y="2274014"/>
            <a:ext cx="5304489" cy="3543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047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Observational Units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3077" y="1923202"/>
            <a:ext cx="5662924" cy="3781407"/>
          </a:xfrm>
        </p:spPr>
        <p:txBody>
          <a:bodyPr>
            <a:noAutofit/>
          </a:bodyPr>
          <a:lstStyle/>
          <a:p>
            <a:r>
              <a:rPr lang="en-US" sz="2400" dirty="0">
                <a:sym typeface="Wingdings" panose="05000000000000000000" pitchFamily="2" charset="2"/>
              </a:rPr>
              <a:t>Grab distinct region/state names</a:t>
            </a:r>
          </a:p>
          <a:p>
            <a:pPr lvl="1"/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comparison &lt;- </a:t>
            </a:r>
            <a:r>
              <a:rPr lang="en-US" sz="20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us_states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%&gt;%</a:t>
            </a:r>
          </a:p>
          <a:p>
            <a:pPr lvl="1"/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distinct(region) %&gt;%</a:t>
            </a:r>
          </a:p>
          <a:p>
            <a:pPr lvl="1"/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arrange(region)</a:t>
            </a:r>
          </a:p>
          <a:p>
            <a:pPr lvl="1"/>
            <a:r>
              <a:rPr lang="en-US" sz="2000" dirty="0" err="1">
                <a:solidFill>
                  <a:srgbClr val="C00000"/>
                </a:solidFill>
              </a:rPr>
              <a:t>comparisonelection</a:t>
            </a:r>
            <a:r>
              <a:rPr lang="en-US" sz="2000" dirty="0">
                <a:solidFill>
                  <a:srgbClr val="C00000"/>
                </a:solidFill>
              </a:rPr>
              <a:t> &lt;- election %&gt;%</a:t>
            </a:r>
          </a:p>
          <a:p>
            <a:pPr lvl="1"/>
            <a:r>
              <a:rPr lang="en-US" sz="2000" dirty="0">
                <a:solidFill>
                  <a:srgbClr val="C00000"/>
                </a:solidFill>
              </a:rPr>
              <a:t>  distinct(region) %&gt;%</a:t>
            </a:r>
          </a:p>
          <a:p>
            <a:pPr lvl="1"/>
            <a:r>
              <a:rPr lang="en-US" sz="2000" dirty="0">
                <a:solidFill>
                  <a:srgbClr val="C00000"/>
                </a:solidFill>
              </a:rPr>
              <a:t>  mutate(state = </a:t>
            </a:r>
            <a:r>
              <a:rPr lang="en-US" sz="2000" dirty="0" err="1">
                <a:solidFill>
                  <a:srgbClr val="C00000"/>
                </a:solidFill>
              </a:rPr>
              <a:t>tolower</a:t>
            </a:r>
            <a:r>
              <a:rPr lang="en-US" sz="2000" dirty="0">
                <a:solidFill>
                  <a:srgbClr val="C00000"/>
                </a:solidFill>
              </a:rPr>
              <a:t>(region)) %&gt;%</a:t>
            </a:r>
          </a:p>
          <a:p>
            <a:pPr lvl="1"/>
            <a:r>
              <a:rPr lang="en-US" sz="2000" dirty="0">
                <a:solidFill>
                  <a:srgbClr val="C00000"/>
                </a:solidFill>
              </a:rPr>
              <a:t>  arrange(state)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77468" y="2245931"/>
            <a:ext cx="6071098" cy="4674822"/>
          </a:xfrm>
        </p:spPr>
        <p:txBody>
          <a:bodyPr>
            <a:normAutofit/>
          </a:bodyPr>
          <a:lstStyle/>
          <a:p>
            <a:r>
              <a:rPr lang="en-US" sz="2400" dirty="0"/>
              <a:t>Now, compare differences</a:t>
            </a:r>
          </a:p>
          <a:p>
            <a:pPr lvl="1"/>
            <a:r>
              <a:rPr lang="en-US" sz="2200" dirty="0"/>
              <a:t>Creates a vector of differing names </a:t>
            </a:r>
            <a:r>
              <a:rPr lang="en-US" sz="2200" dirty="0">
                <a:sym typeface="Wingdings" panose="05000000000000000000" pitchFamily="2" charset="2"/>
              </a:rPr>
              <a:t> returns 0 if all names are the same</a:t>
            </a:r>
            <a:endParaRPr lang="en-US" sz="2200" dirty="0"/>
          </a:p>
          <a:p>
            <a:pPr lvl="1"/>
            <a:r>
              <a:rPr lang="en-US" sz="2000" b="1" dirty="0" err="1">
                <a:solidFill>
                  <a:schemeClr val="accent5">
                    <a:lumMod val="50000"/>
                  </a:schemeClr>
                </a:solidFill>
              </a:rPr>
              <a:t>stateRegions</a:t>
            </a: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</a:rPr>
              <a:t>&lt;-</a:t>
            </a: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accent5">
                    <a:lumMod val="50000"/>
                  </a:schemeClr>
                </a:solidFill>
              </a:rPr>
              <a:t>setdiff</a:t>
            </a: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</a:rPr>
              <a:t>(</a:t>
            </a:r>
            <a:r>
              <a:rPr lang="en-US" sz="20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comparison$region</a:t>
            </a: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</a:rPr>
              <a:t>, </a:t>
            </a:r>
            <a:r>
              <a:rPr lang="en-US" sz="2000" b="1" dirty="0" err="1">
                <a:solidFill>
                  <a:srgbClr val="C00000"/>
                </a:solidFill>
              </a:rPr>
              <a:t>comparisonelection$state</a:t>
            </a: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</a:rPr>
              <a:t>)</a:t>
            </a:r>
          </a:p>
          <a:p>
            <a:pPr marL="324000" lvl="1" indent="0">
              <a:buNone/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</a:rPr>
              <a:t>     </a:t>
            </a:r>
            <a:r>
              <a:rPr lang="en-US" sz="2000" b="1" dirty="0" err="1">
                <a:solidFill>
                  <a:schemeClr val="accent5">
                    <a:lumMod val="50000"/>
                  </a:schemeClr>
                </a:solidFill>
              </a:rPr>
              <a:t>stateRegions</a:t>
            </a:r>
            <a:endParaRPr lang="en-US" sz="2000" b="1" dirty="0">
              <a:solidFill>
                <a:schemeClr val="accent5">
                  <a:lumMod val="50000"/>
                </a:schemeClr>
              </a:solidFill>
            </a:endParaRPr>
          </a:p>
          <a:p>
            <a:pPr lvl="1"/>
            <a:endParaRPr lang="en-US" sz="2000" dirty="0"/>
          </a:p>
          <a:p>
            <a:pPr lvl="1"/>
            <a:r>
              <a:rPr lang="en-US" sz="2000" b="1" dirty="0" err="1">
                <a:solidFill>
                  <a:srgbClr val="7030A0"/>
                </a:solidFill>
              </a:rPr>
              <a:t>electionStates</a:t>
            </a:r>
            <a:r>
              <a:rPr lang="en-US" sz="2000" b="1" dirty="0">
                <a:solidFill>
                  <a:srgbClr val="7030A0"/>
                </a:solidFill>
              </a:rPr>
              <a:t> </a:t>
            </a:r>
            <a:r>
              <a:rPr lang="en-US" sz="2000" b="1" dirty="0">
                <a:solidFill>
                  <a:srgbClr val="7030A0"/>
                </a:solidFill>
                <a:latin typeface="Consolas" panose="020B0609020204030204" pitchFamily="49" charset="0"/>
              </a:rPr>
              <a:t>&lt;-</a:t>
            </a:r>
            <a:r>
              <a:rPr lang="en-US" sz="2000" b="1" dirty="0">
                <a:solidFill>
                  <a:srgbClr val="7030A0"/>
                </a:solidFill>
              </a:rPr>
              <a:t> </a:t>
            </a:r>
            <a:r>
              <a:rPr lang="en-US" sz="2000" b="1" dirty="0" err="1">
                <a:solidFill>
                  <a:srgbClr val="7030A0"/>
                </a:solidFill>
              </a:rPr>
              <a:t>setdiff</a:t>
            </a:r>
            <a:r>
              <a:rPr lang="en-US" sz="2000" b="1" dirty="0">
                <a:solidFill>
                  <a:srgbClr val="7030A0"/>
                </a:solidFill>
              </a:rPr>
              <a:t>(</a:t>
            </a:r>
            <a:r>
              <a:rPr lang="en-US" sz="2000" b="1" dirty="0" err="1">
                <a:solidFill>
                  <a:srgbClr val="C00000"/>
                </a:solidFill>
              </a:rPr>
              <a:t>comparisonelection$state</a:t>
            </a:r>
            <a:r>
              <a:rPr lang="en-US" sz="2000" b="1" dirty="0">
                <a:solidFill>
                  <a:srgbClr val="7030A0"/>
                </a:solidFill>
              </a:rPr>
              <a:t>, </a:t>
            </a:r>
            <a:r>
              <a:rPr lang="en-US" sz="20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comparison$region</a:t>
            </a:r>
            <a:r>
              <a:rPr lang="en-US" sz="2000" b="1" dirty="0">
                <a:solidFill>
                  <a:srgbClr val="7030A0"/>
                </a:solidFill>
              </a:rPr>
              <a:t>)</a:t>
            </a:r>
          </a:p>
          <a:p>
            <a:pPr marL="324000" lvl="1" indent="0">
              <a:buNone/>
            </a:pPr>
            <a:r>
              <a:rPr lang="en-US" sz="2000" b="1" dirty="0">
                <a:solidFill>
                  <a:srgbClr val="7030A0"/>
                </a:solidFill>
              </a:rPr>
              <a:t>    </a:t>
            </a:r>
            <a:r>
              <a:rPr lang="en-US" sz="2000" b="1" dirty="0" err="1">
                <a:solidFill>
                  <a:srgbClr val="7030A0"/>
                </a:solidFill>
              </a:rPr>
              <a:t>electionStates</a:t>
            </a:r>
            <a:endParaRPr lang="en-US" sz="20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878813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4025977" cy="3678303"/>
          </a:xfrm>
        </p:spPr>
        <p:txBody>
          <a:bodyPr/>
          <a:lstStyle/>
          <a:p>
            <a:r>
              <a:rPr lang="en-US" dirty="0"/>
              <a:t>From which dataset are states missing?</a:t>
            </a:r>
          </a:p>
          <a:p>
            <a:pPr lvl="1"/>
            <a:r>
              <a:rPr lang="en-US" i="1" dirty="0"/>
              <a:t>What are in the election results but NOT in the </a:t>
            </a:r>
            <a:r>
              <a:rPr lang="en-US" i="1" dirty="0" err="1"/>
              <a:t>us_map</a:t>
            </a:r>
            <a:r>
              <a:rPr lang="en-US" i="1" dirty="0"/>
              <a:t> data?</a:t>
            </a:r>
          </a:p>
          <a:p>
            <a:r>
              <a:rPr lang="en-US" dirty="0"/>
              <a:t>What are those states?</a:t>
            </a:r>
          </a:p>
          <a:p>
            <a:endParaRPr lang="en-US" dirty="0"/>
          </a:p>
        </p:txBody>
      </p:sp>
      <p:pic>
        <p:nvPicPr>
          <p:cNvPr id="1034" name="Picture 10" descr="Image result for Alaska state outlin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4462" y="1835252"/>
            <a:ext cx="5199939" cy="4104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age result for Hawaii state outlin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6033" y="2721573"/>
            <a:ext cx="2750622" cy="1811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0014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Election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715956"/>
            <a:ext cx="4852454" cy="4966198"/>
          </a:xfrm>
        </p:spPr>
        <p:txBody>
          <a:bodyPr>
            <a:normAutofit fontScale="70000" lnSpcReduction="20000"/>
          </a:bodyPr>
          <a:lstStyle/>
          <a:p>
            <a:r>
              <a:rPr lang="en-US" b="1" i="1" dirty="0" err="1">
                <a:solidFill>
                  <a:srgbClr val="C00000"/>
                </a:solidFill>
              </a:rPr>
              <a:t>left_join</a:t>
            </a:r>
            <a:r>
              <a:rPr lang="en-US" b="1" i="1" dirty="0">
                <a:solidFill>
                  <a:srgbClr val="C00000"/>
                </a:solidFill>
              </a:rPr>
              <a:t>(</a:t>
            </a:r>
            <a:r>
              <a:rPr lang="en-US" b="1" i="1" dirty="0" err="1">
                <a:solidFill>
                  <a:srgbClr val="C00000"/>
                </a:solidFill>
              </a:rPr>
              <a:t>us_states</a:t>
            </a:r>
            <a:r>
              <a:rPr lang="en-US" b="1" i="1" dirty="0">
                <a:solidFill>
                  <a:srgbClr val="C00000"/>
                </a:solidFill>
              </a:rPr>
              <a:t>, election2016) %&gt;%</a:t>
            </a:r>
          </a:p>
          <a:p>
            <a:r>
              <a:rPr lang="en-US" dirty="0"/>
              <a:t>  </a:t>
            </a:r>
            <a:r>
              <a:rPr lang="en-US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ggplot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(mapping = </a:t>
            </a:r>
            <a:r>
              <a:rPr lang="en-US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aes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(x = long,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                y = </a:t>
            </a:r>
            <a:r>
              <a:rPr lang="en-US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lat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,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                group = group,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                fill = party)) +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</a:t>
            </a:r>
            <a:r>
              <a:rPr lang="en-US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geom_polygon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(color = "gray") +</a:t>
            </a:r>
          </a:p>
          <a:p>
            <a:r>
              <a:rPr lang="en-US" b="1" i="1" dirty="0">
                <a:solidFill>
                  <a:srgbClr val="C00000"/>
                </a:solidFill>
              </a:rPr>
              <a:t>  </a:t>
            </a:r>
            <a:r>
              <a:rPr lang="en-US" b="1" i="1" dirty="0" err="1">
                <a:solidFill>
                  <a:srgbClr val="C00000"/>
                </a:solidFill>
              </a:rPr>
              <a:t>coord_map</a:t>
            </a:r>
            <a:r>
              <a:rPr lang="en-US" b="1" i="1" dirty="0">
                <a:solidFill>
                  <a:srgbClr val="C00000"/>
                </a:solidFill>
              </a:rPr>
              <a:t>(projection = "</a:t>
            </a:r>
            <a:r>
              <a:rPr lang="en-US" b="1" i="1" dirty="0" err="1">
                <a:solidFill>
                  <a:srgbClr val="C00000"/>
                </a:solidFill>
              </a:rPr>
              <a:t>albers</a:t>
            </a:r>
            <a:r>
              <a:rPr lang="en-US" b="1" i="1" dirty="0">
                <a:solidFill>
                  <a:srgbClr val="C00000"/>
                </a:solidFill>
              </a:rPr>
              <a:t>",</a:t>
            </a:r>
          </a:p>
          <a:p>
            <a:r>
              <a:rPr lang="en-US" b="1" i="1" dirty="0">
                <a:solidFill>
                  <a:srgbClr val="C00000"/>
                </a:solidFill>
              </a:rPr>
              <a:t>            lat0 = 39,</a:t>
            </a:r>
          </a:p>
          <a:p>
            <a:r>
              <a:rPr lang="en-US" b="1" i="1" dirty="0">
                <a:solidFill>
                  <a:srgbClr val="C00000"/>
                </a:solidFill>
              </a:rPr>
              <a:t>            lat1 = 45) +</a:t>
            </a:r>
          </a:p>
          <a:p>
            <a:r>
              <a:rPr lang="en-US" b="1" i="1" dirty="0">
                <a:solidFill>
                  <a:srgbClr val="C00000"/>
                </a:solidFill>
              </a:rPr>
              <a:t>  guides(fill = FALSE) +</a:t>
            </a:r>
          </a:p>
          <a:p>
            <a:r>
              <a:rPr lang="en-US" b="1" i="1" dirty="0">
                <a:solidFill>
                  <a:srgbClr val="C00000"/>
                </a:solidFill>
              </a:rPr>
              <a:t>  </a:t>
            </a:r>
            <a:r>
              <a:rPr lang="en-US" b="1" i="1" dirty="0" err="1">
                <a:solidFill>
                  <a:srgbClr val="C00000"/>
                </a:solidFill>
              </a:rPr>
              <a:t>scale_fill_manual</a:t>
            </a:r>
            <a:r>
              <a:rPr lang="en-US" b="1" i="1" dirty="0">
                <a:solidFill>
                  <a:srgbClr val="C00000"/>
                </a:solidFill>
              </a:rPr>
              <a:t>(values = c("blue", "red")) +</a:t>
            </a:r>
          </a:p>
          <a:p>
            <a:r>
              <a:rPr lang="en-US" b="1" i="1" dirty="0" err="1">
                <a:solidFill>
                  <a:srgbClr val="C00000"/>
                </a:solidFill>
              </a:rPr>
              <a:t>theme_map</a:t>
            </a:r>
            <a:r>
              <a:rPr lang="en-US" b="1" i="1" dirty="0">
                <a:solidFill>
                  <a:srgbClr val="C00000"/>
                </a:solidFill>
              </a:rPr>
              <a:t>()</a:t>
            </a:r>
          </a:p>
        </p:txBody>
      </p:sp>
      <p:sp>
        <p:nvSpPr>
          <p:cNvPr id="5" name="Up Arrow Callout 4"/>
          <p:cNvSpPr/>
          <p:nvPr/>
        </p:nvSpPr>
        <p:spPr>
          <a:xfrm>
            <a:off x="6928338" y="5735706"/>
            <a:ext cx="3187777" cy="930424"/>
          </a:xfrm>
          <a:prstGeom prst="up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Alaska &amp; Hawaii left out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C35DE1-D514-483A-B00C-1D3C20416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842" y="1873262"/>
            <a:ext cx="5262769" cy="3515557"/>
          </a:xfrm>
          <a:prstGeom prst="rect">
            <a:avLst/>
          </a:prstGeom>
        </p:spPr>
      </p:pic>
      <p:sp>
        <p:nvSpPr>
          <p:cNvPr id="7" name="Left Arrow Callout 4">
            <a:extLst>
              <a:ext uri="{FF2B5EF4-FFF2-40B4-BE49-F238E27FC236}">
                <a16:creationId xmlns:a16="http://schemas.microsoft.com/office/drawing/2014/main" id="{D1255D8F-D63A-49C5-AB95-7FEE61048733}"/>
              </a:ext>
            </a:extLst>
          </p:cNvPr>
          <p:cNvSpPr/>
          <p:nvPr/>
        </p:nvSpPr>
        <p:spPr>
          <a:xfrm>
            <a:off x="2664821" y="6154334"/>
            <a:ext cx="2919046" cy="511796"/>
          </a:xfrm>
          <a:prstGeom prst="left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theme_map</a:t>
            </a:r>
            <a:r>
              <a:rPr lang="en-US" dirty="0"/>
              <a:t>()?</a:t>
            </a:r>
          </a:p>
        </p:txBody>
      </p:sp>
    </p:spTree>
    <p:extLst>
      <p:ext uri="{BB962C8B-B14F-4D97-AF65-F5344CB8AC3E}">
        <p14:creationId xmlns:p14="http://schemas.microsoft.com/office/powerpoint/2010/main" val="2035145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 err="1"/>
              <a:t>theme_map</a:t>
            </a:r>
            <a:r>
              <a:rPr lang="en-US" cap="none" dirty="0"/>
              <a:t>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7100933" cy="3678303"/>
          </a:xfrm>
        </p:spPr>
        <p:txBody>
          <a:bodyPr/>
          <a:lstStyle/>
          <a:p>
            <a:r>
              <a:rPr lang="en-US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theme_map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()</a:t>
            </a:r>
          </a:p>
          <a:p>
            <a:pPr lvl="1"/>
            <a:r>
              <a:rPr lang="en-US" dirty="0"/>
              <a:t>In the </a:t>
            </a:r>
            <a:r>
              <a:rPr lang="en-US" dirty="0" err="1"/>
              <a:t>cowplot</a:t>
            </a:r>
            <a:r>
              <a:rPr lang="en-US" dirty="0"/>
              <a:t> package</a:t>
            </a:r>
          </a:p>
          <a:p>
            <a:pPr lvl="1"/>
            <a:r>
              <a:rPr lang="en-US" dirty="0"/>
              <a:t>Developed by Claus O. Wilke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provides map themes that create figures suitable for publication</a:t>
            </a:r>
          </a:p>
          <a:p>
            <a:pPr lvl="1"/>
            <a:r>
              <a:rPr lang="en-US" dirty="0"/>
              <a:t>Removes axes ticks, lines, labels and gridlines</a:t>
            </a:r>
          </a:p>
        </p:txBody>
      </p:sp>
      <p:pic>
        <p:nvPicPr>
          <p:cNvPr id="1026" name="Picture 2" descr="Image result for Claus O. Wilk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4824" y="2516054"/>
            <a:ext cx="3261556" cy="326155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77713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Election Data with Alaska &amp; Hawaii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8058" y="1824897"/>
            <a:ext cx="11029615" cy="2213704"/>
          </a:xfrm>
        </p:spPr>
        <p:txBody>
          <a:bodyPr>
            <a:normAutofit/>
          </a:bodyPr>
          <a:lstStyle/>
          <a:p>
            <a:r>
              <a:rPr lang="en-US" dirty="0"/>
              <a:t>Use </a:t>
            </a:r>
            <a:r>
              <a:rPr lang="en-US" b="1" i="1" dirty="0" err="1">
                <a:solidFill>
                  <a:srgbClr val="7030A0"/>
                </a:solidFill>
              </a:rPr>
              <a:t>usmap</a:t>
            </a:r>
            <a:r>
              <a:rPr lang="en-US" dirty="0"/>
              <a:t> package </a:t>
            </a:r>
            <a:r>
              <a:rPr lang="en-US" dirty="0">
                <a:sym typeface="Wingdings" panose="05000000000000000000" pitchFamily="2" charset="2"/>
              </a:rPr>
              <a:t> has a </a:t>
            </a:r>
            <a:r>
              <a:rPr lang="en-US" dirty="0" err="1">
                <a:sym typeface="Wingdings" panose="05000000000000000000" pitchFamily="2" charset="2"/>
              </a:rPr>
              <a:t>plot_usmap</a:t>
            </a:r>
            <a:r>
              <a:rPr lang="en-US" dirty="0">
                <a:sym typeface="Wingdings" panose="05000000000000000000" pitchFamily="2" charset="2"/>
              </a:rPr>
              <a:t> function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Includes Alaska &amp; Hawaii</a:t>
            </a:r>
            <a:endParaRPr lang="en-US" dirty="0"/>
          </a:p>
          <a:p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plot_usmap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(regions = "states", data=election2020, values = "winner") +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 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scale_fill_manual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(values = c("blue", "red"))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9098" y="3430058"/>
            <a:ext cx="4268575" cy="3218844"/>
          </a:xfrm>
          <a:prstGeom prst="rect">
            <a:avLst/>
          </a:prstGeom>
        </p:spPr>
      </p:pic>
      <p:sp>
        <p:nvSpPr>
          <p:cNvPr id="5" name="Right Arrow Callout 4"/>
          <p:cNvSpPr/>
          <p:nvPr/>
        </p:nvSpPr>
        <p:spPr>
          <a:xfrm>
            <a:off x="3411415" y="5716917"/>
            <a:ext cx="3305908" cy="931985"/>
          </a:xfrm>
          <a:prstGeom prst="right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Alaska &amp; Hawaii now included</a:t>
            </a:r>
          </a:p>
        </p:txBody>
      </p:sp>
    </p:spTree>
    <p:extLst>
      <p:ext uri="{BB962C8B-B14F-4D97-AF65-F5344CB8AC3E}">
        <p14:creationId xmlns:p14="http://schemas.microsoft.com/office/powerpoint/2010/main" val="281377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2C3D3-36A8-47A2-ABC4-DB5E0E301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Election Data using Shape Files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3DE8B-03E1-405A-A0A6-99A031D375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election_alt</a:t>
            </a:r>
            <a:r>
              <a:rPr lang="en-US" dirty="0"/>
              <a:t> &lt;- merge(</a:t>
            </a:r>
            <a:r>
              <a:rPr lang="en-US" dirty="0" err="1"/>
              <a:t>us_states</a:t>
            </a:r>
            <a:r>
              <a:rPr lang="en-US" dirty="0"/>
              <a:t>, election2020, </a:t>
            </a:r>
            <a:br>
              <a:rPr lang="en-US" dirty="0"/>
            </a:br>
            <a:r>
              <a:rPr lang="en-US" dirty="0"/>
              <a:t>              by="region")</a:t>
            </a:r>
            <a:br>
              <a:rPr lang="en-US" dirty="0"/>
            </a:br>
            <a:endParaRPr lang="en-US" dirty="0"/>
          </a:p>
          <a:p>
            <a:r>
              <a:rPr lang="en-US" dirty="0" err="1"/>
              <a:t>plot_usmap</a:t>
            </a:r>
            <a:r>
              <a:rPr lang="en-US" dirty="0"/>
              <a:t>() +  </a:t>
            </a:r>
            <a:br>
              <a:rPr lang="en-US" dirty="0"/>
            </a:br>
            <a:r>
              <a:rPr lang="en-US" dirty="0"/>
              <a:t>  </a:t>
            </a:r>
            <a:r>
              <a:rPr lang="en-US" dirty="0" err="1">
                <a:solidFill>
                  <a:srgbClr val="FF0000"/>
                </a:solidFill>
              </a:rPr>
              <a:t>geom_sf</a:t>
            </a:r>
            <a:r>
              <a:rPr lang="en-US" dirty="0">
                <a:solidFill>
                  <a:srgbClr val="FF0000"/>
                </a:solidFill>
              </a:rPr>
              <a:t>(data=election_v3, </a:t>
            </a:r>
            <a:r>
              <a:rPr lang="en-US" dirty="0" err="1">
                <a:solidFill>
                  <a:srgbClr val="FF0000"/>
                </a:solidFill>
              </a:rPr>
              <a:t>aes</a:t>
            </a:r>
            <a:r>
              <a:rPr lang="en-US" dirty="0">
                <a:solidFill>
                  <a:srgbClr val="FF0000"/>
                </a:solidFill>
              </a:rPr>
              <a:t>(fill=winner)) </a:t>
            </a:r>
            <a:r>
              <a:rPr lang="en-US" dirty="0"/>
              <a:t>+</a:t>
            </a:r>
            <a:br>
              <a:rPr lang="en-US" dirty="0"/>
            </a:br>
            <a:r>
              <a:rPr lang="en-US" dirty="0"/>
              <a:t>  </a:t>
            </a:r>
            <a:r>
              <a:rPr lang="en-US" dirty="0" err="1"/>
              <a:t>scale_fill_manual</a:t>
            </a:r>
            <a:r>
              <a:rPr lang="en-US" dirty="0"/>
              <a:t>(values = c("blue", "red"))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FC014F-D2C6-478A-98B5-54268B31DA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698" y="2078587"/>
            <a:ext cx="4268575" cy="3218844"/>
          </a:xfrm>
          <a:prstGeom prst="rect">
            <a:avLst/>
          </a:prstGeom>
        </p:spPr>
      </p:pic>
      <p:sp>
        <p:nvSpPr>
          <p:cNvPr id="5" name="Up Arrow Callout 4">
            <a:extLst>
              <a:ext uri="{FF2B5EF4-FFF2-40B4-BE49-F238E27FC236}">
                <a16:creationId xmlns:a16="http://schemas.microsoft.com/office/drawing/2014/main" id="{A7843495-F9D4-4DA9-B61D-35866705ABB5}"/>
              </a:ext>
            </a:extLst>
          </p:cNvPr>
          <p:cNvSpPr/>
          <p:nvPr/>
        </p:nvSpPr>
        <p:spPr>
          <a:xfrm>
            <a:off x="510285" y="5409232"/>
            <a:ext cx="3446364" cy="1284866"/>
          </a:xfrm>
          <a:prstGeom prst="up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Simple Features (sf) geometry</a:t>
            </a:r>
          </a:p>
          <a:p>
            <a:pPr algn="ctr"/>
            <a:r>
              <a:rPr lang="en-US" i="1" dirty="0"/>
              <a:t>SF</a:t>
            </a:r>
            <a:r>
              <a:rPr lang="en-US" dirty="0"/>
              <a:t> is an international standard for representing geographic features</a:t>
            </a:r>
          </a:p>
        </p:txBody>
      </p:sp>
    </p:spTree>
    <p:extLst>
      <p:ext uri="{BB962C8B-B14F-4D97-AF65-F5344CB8AC3E}">
        <p14:creationId xmlns:p14="http://schemas.microsoft.com/office/powerpoint/2010/main" val="4128070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 err="1"/>
              <a:t>plot_usmap</a:t>
            </a:r>
            <a:r>
              <a:rPr lang="en-US" dirty="0"/>
              <a:t>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896533"/>
            <a:ext cx="4667250" cy="4961467"/>
          </a:xfrm>
        </p:spPr>
        <p:txBody>
          <a:bodyPr>
            <a:noAutofit/>
          </a:bodyPr>
          <a:lstStyle/>
          <a:p>
            <a:r>
              <a:rPr lang="en-US" sz="2000" dirty="0"/>
              <a:t>function (</a:t>
            </a:r>
            <a:r>
              <a:rPr lang="en-US" sz="2000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regions</a:t>
            </a:r>
            <a:r>
              <a:rPr lang="en-US" sz="2000" dirty="0"/>
              <a:t> = c("states", "state", "counties", "county"), </a:t>
            </a:r>
          </a:p>
          <a:p>
            <a:r>
              <a:rPr lang="en-US" sz="2000" dirty="0"/>
              <a:t>  </a:t>
            </a:r>
            <a:r>
              <a:rPr lang="en-US" sz="2000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include</a:t>
            </a:r>
            <a:r>
              <a:rPr lang="en-US" sz="2000" dirty="0"/>
              <a:t> = c(), </a:t>
            </a:r>
            <a:r>
              <a:rPr lang="en-US" sz="2000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data</a:t>
            </a:r>
            <a:r>
              <a:rPr lang="en-US" sz="2000" dirty="0"/>
              <a:t> = </a:t>
            </a:r>
            <a:r>
              <a:rPr lang="en-US" sz="2000" dirty="0" err="1"/>
              <a:t>data.frame</a:t>
            </a:r>
            <a:r>
              <a:rPr lang="en-US" sz="2000" dirty="0"/>
              <a:t>(), </a:t>
            </a:r>
            <a:r>
              <a:rPr lang="en-US" sz="2000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values</a:t>
            </a:r>
            <a:r>
              <a:rPr lang="en-US" sz="2000" dirty="0"/>
              <a:t> = "values", </a:t>
            </a:r>
            <a:r>
              <a:rPr lang="en-US" sz="2000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theme</a:t>
            </a:r>
            <a:r>
              <a:rPr lang="en-US" sz="2000" dirty="0"/>
              <a:t> = </a:t>
            </a:r>
            <a:r>
              <a:rPr lang="en-US" sz="2000" dirty="0" err="1"/>
              <a:t>theme_map</a:t>
            </a:r>
            <a:r>
              <a:rPr lang="en-US" sz="2000" dirty="0"/>
              <a:t>(), </a:t>
            </a:r>
          </a:p>
          <a:p>
            <a:r>
              <a:rPr lang="en-US" sz="2000" dirty="0"/>
              <a:t>  </a:t>
            </a:r>
            <a:r>
              <a:rPr lang="en-US" sz="2000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lines</a:t>
            </a:r>
            <a:r>
              <a:rPr lang="en-US" sz="2000" dirty="0"/>
              <a:t> = "black", </a:t>
            </a:r>
            <a:r>
              <a:rPr lang="en-US" sz="2000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labels</a:t>
            </a:r>
            <a:r>
              <a:rPr lang="en-US" sz="2000" dirty="0"/>
              <a:t> = FALSE, </a:t>
            </a:r>
            <a:r>
              <a:rPr lang="en-US" sz="2000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label_color</a:t>
            </a:r>
            <a:r>
              <a:rPr lang="en-US" sz="2000" dirty="0"/>
              <a:t> = "black")  {</a:t>
            </a:r>
          </a:p>
          <a:p>
            <a:endParaRPr lang="en-US" sz="2000" dirty="0"/>
          </a:p>
          <a:p>
            <a:r>
              <a:rPr lang="en-US" sz="2000" i="1" dirty="0">
                <a:solidFill>
                  <a:srgbClr val="C00000"/>
                </a:solidFill>
              </a:rPr>
              <a:t>  if (!</a:t>
            </a:r>
            <a:r>
              <a:rPr lang="en-US" sz="2000" i="1" dirty="0" err="1">
                <a:solidFill>
                  <a:srgbClr val="C00000"/>
                </a:solidFill>
              </a:rPr>
              <a:t>requireNamespace</a:t>
            </a:r>
            <a:r>
              <a:rPr lang="en-US" sz="2000" i="1" dirty="0">
                <a:solidFill>
                  <a:srgbClr val="C00000"/>
                </a:solidFill>
              </a:rPr>
              <a:t>("ggplot2", quietly = TRUE)) </a:t>
            </a:r>
            <a:r>
              <a:rPr lang="en-US" sz="2000" dirty="0"/>
              <a:t>{</a:t>
            </a:r>
          </a:p>
          <a:p>
            <a:r>
              <a:rPr lang="en-US" sz="2000" dirty="0"/>
              <a:t>    </a:t>
            </a:r>
            <a:r>
              <a:rPr lang="en-US" sz="2000" i="1" dirty="0">
                <a:solidFill>
                  <a:srgbClr val="C00000"/>
                </a:solidFill>
              </a:rPr>
              <a:t>stop</a:t>
            </a:r>
            <a:r>
              <a:rPr lang="en-US" sz="2000" dirty="0"/>
              <a:t>("Please install `ggplot2`. Use: </a:t>
            </a:r>
            <a:r>
              <a:rPr lang="en-US" sz="2000" dirty="0" err="1"/>
              <a:t>install.packages</a:t>
            </a:r>
            <a:r>
              <a:rPr lang="en-US" sz="2000" dirty="0"/>
              <a:t>(\"ggplot2\")")</a:t>
            </a:r>
          </a:p>
          <a:p>
            <a:r>
              <a:rPr lang="en-US" sz="2000" dirty="0"/>
              <a:t>  }</a:t>
            </a:r>
          </a:p>
          <a:p>
            <a:r>
              <a:rPr lang="en-US" sz="2000" dirty="0"/>
              <a:t>  </a:t>
            </a:r>
            <a:r>
              <a:rPr lang="en-US" sz="2000" b="1" dirty="0">
                <a:solidFill>
                  <a:srgbClr val="7030A0"/>
                </a:solidFill>
              </a:rPr>
              <a:t>regions_ &lt;- </a:t>
            </a:r>
            <a:r>
              <a:rPr lang="en-US" sz="2000" b="1" dirty="0" err="1">
                <a:solidFill>
                  <a:srgbClr val="7030A0"/>
                </a:solidFill>
              </a:rPr>
              <a:t>match.arg</a:t>
            </a:r>
            <a:r>
              <a:rPr lang="en-US" sz="2000" b="1" dirty="0">
                <a:solidFill>
                  <a:srgbClr val="7030A0"/>
                </a:solidFill>
              </a:rPr>
              <a:t>(regions)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48225" y="1907116"/>
            <a:ext cx="7343775" cy="4961467"/>
          </a:xfrm>
        </p:spPr>
        <p:txBody>
          <a:bodyPr>
            <a:noAutofit/>
          </a:bodyPr>
          <a:lstStyle/>
          <a:p>
            <a:r>
              <a:rPr lang="en-US" sz="1900" i="1" dirty="0">
                <a:solidFill>
                  <a:schemeClr val="accent6">
                    <a:lumMod val="75000"/>
                  </a:schemeClr>
                </a:solidFill>
              </a:rPr>
              <a:t>  if (</a:t>
            </a:r>
            <a:r>
              <a:rPr lang="en-US" sz="1900" i="1" dirty="0" err="1">
                <a:solidFill>
                  <a:schemeClr val="accent6">
                    <a:lumMod val="75000"/>
                  </a:schemeClr>
                </a:solidFill>
              </a:rPr>
              <a:t>nrow</a:t>
            </a:r>
            <a:r>
              <a:rPr lang="en-US" sz="1900" i="1" dirty="0">
                <a:solidFill>
                  <a:schemeClr val="accent6">
                    <a:lumMod val="75000"/>
                  </a:schemeClr>
                </a:solidFill>
              </a:rPr>
              <a:t>(data) == 0) </a:t>
            </a:r>
            <a:r>
              <a:rPr lang="en-US" sz="1900" dirty="0"/>
              <a:t>{</a:t>
            </a:r>
          </a:p>
          <a:p>
            <a:r>
              <a:rPr lang="en-US" sz="1900" dirty="0"/>
              <a:t>    </a:t>
            </a:r>
            <a:r>
              <a:rPr lang="en-US" sz="1900" dirty="0" err="1"/>
              <a:t>map_df</a:t>
            </a:r>
            <a:r>
              <a:rPr lang="en-US" sz="1900" dirty="0"/>
              <a:t> &lt;- </a:t>
            </a:r>
            <a:r>
              <a:rPr lang="en-US" sz="19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us_map</a:t>
            </a:r>
            <a:r>
              <a:rPr lang="en-US" sz="19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(regions = regions_, include = include)</a:t>
            </a:r>
          </a:p>
          <a:p>
            <a:r>
              <a:rPr lang="en-US" sz="19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</a:t>
            </a:r>
            <a:r>
              <a:rPr lang="en-US" sz="19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polygon_layer</a:t>
            </a:r>
            <a:r>
              <a:rPr lang="en-US" sz="19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900" dirty="0"/>
              <a:t>&lt;- </a:t>
            </a:r>
            <a:r>
              <a:rPr lang="en-US" sz="1900" b="1" i="1" dirty="0">
                <a:solidFill>
                  <a:srgbClr val="7030A0"/>
                </a:solidFill>
              </a:rPr>
              <a:t>ggplot2::</a:t>
            </a:r>
            <a:r>
              <a:rPr lang="en-US" sz="1900" dirty="0" err="1">
                <a:solidFill>
                  <a:schemeClr val="tx1"/>
                </a:solidFill>
              </a:rPr>
              <a:t>geom_polygon</a:t>
            </a:r>
            <a:r>
              <a:rPr lang="en-US" sz="1900" dirty="0">
                <a:solidFill>
                  <a:schemeClr val="tx1"/>
                </a:solidFill>
              </a:rPr>
              <a:t>(ggplot2::</a:t>
            </a:r>
            <a:r>
              <a:rPr lang="en-US" sz="1900" dirty="0" err="1">
                <a:solidFill>
                  <a:schemeClr val="tx1"/>
                </a:solidFill>
              </a:rPr>
              <a:t>aes</a:t>
            </a:r>
            <a:r>
              <a:rPr lang="en-US" sz="1900" dirty="0">
                <a:solidFill>
                  <a:schemeClr val="tx1"/>
                </a:solidFill>
              </a:rPr>
              <a:t>(</a:t>
            </a:r>
            <a:r>
              <a:rPr lang="en-US" sz="19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x</a:t>
            </a:r>
            <a:r>
              <a:rPr lang="en-US" sz="1900" dirty="0">
                <a:solidFill>
                  <a:schemeClr val="tx1"/>
                </a:solidFill>
              </a:rPr>
              <a:t> = </a:t>
            </a:r>
            <a:r>
              <a:rPr lang="en-US" sz="1900" dirty="0" err="1">
                <a:solidFill>
                  <a:schemeClr val="tx1"/>
                </a:solidFill>
              </a:rPr>
              <a:t>map_df$long</a:t>
            </a:r>
            <a:r>
              <a:rPr lang="en-US" sz="1900" b="1" i="1" dirty="0">
                <a:solidFill>
                  <a:srgbClr val="7030A0"/>
                </a:solidFill>
              </a:rPr>
              <a:t>, </a:t>
            </a:r>
          </a:p>
          <a:p>
            <a:r>
              <a:rPr lang="en-US" sz="1900" dirty="0"/>
              <a:t>      </a:t>
            </a:r>
            <a:r>
              <a:rPr lang="en-US" sz="19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y</a:t>
            </a:r>
            <a:r>
              <a:rPr lang="en-US" sz="1900" dirty="0"/>
              <a:t> = </a:t>
            </a:r>
            <a:r>
              <a:rPr lang="en-US" sz="1900" dirty="0" err="1"/>
              <a:t>map_df$lat</a:t>
            </a:r>
            <a:r>
              <a:rPr lang="en-US" sz="1900" dirty="0"/>
              <a:t>, </a:t>
            </a:r>
            <a:r>
              <a:rPr lang="en-US" sz="19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group</a:t>
            </a:r>
            <a:r>
              <a:rPr lang="en-US" sz="1900" dirty="0"/>
              <a:t> = </a:t>
            </a:r>
            <a:r>
              <a:rPr lang="en-US" sz="1900" dirty="0" err="1"/>
              <a:t>map_df$group</a:t>
            </a:r>
            <a:r>
              <a:rPr lang="en-US" sz="1900" dirty="0"/>
              <a:t>), </a:t>
            </a:r>
            <a:r>
              <a:rPr lang="en-US" sz="1900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colour</a:t>
            </a:r>
            <a:r>
              <a:rPr lang="en-US" sz="1900" dirty="0"/>
              <a:t> = lines, </a:t>
            </a:r>
          </a:p>
          <a:p>
            <a:r>
              <a:rPr lang="en-US" sz="1900" dirty="0"/>
              <a:t>      </a:t>
            </a:r>
            <a:r>
              <a:rPr lang="en-US" sz="19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fill</a:t>
            </a:r>
            <a:r>
              <a:rPr lang="en-US" sz="1900" dirty="0"/>
              <a:t> = "white", </a:t>
            </a:r>
            <a:r>
              <a:rPr lang="en-US" sz="19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size</a:t>
            </a:r>
            <a:r>
              <a:rPr lang="en-US" sz="1900" dirty="0"/>
              <a:t> = 0.4)</a:t>
            </a:r>
          </a:p>
          <a:p>
            <a:r>
              <a:rPr lang="en-US" sz="1900" dirty="0"/>
              <a:t>  }</a:t>
            </a:r>
            <a:r>
              <a:rPr lang="en-US" sz="1900" i="1" dirty="0">
                <a:solidFill>
                  <a:schemeClr val="accent6">
                    <a:lumMod val="75000"/>
                  </a:schemeClr>
                </a:solidFill>
              </a:rPr>
              <a:t>else </a:t>
            </a:r>
            <a:r>
              <a:rPr lang="en-US" sz="1900" dirty="0"/>
              <a:t>{</a:t>
            </a:r>
          </a:p>
          <a:p>
            <a:r>
              <a:rPr lang="en-US" sz="1900" dirty="0"/>
              <a:t>    </a:t>
            </a:r>
            <a:r>
              <a:rPr lang="en-US" sz="1900" dirty="0" err="1"/>
              <a:t>map_df</a:t>
            </a:r>
            <a:r>
              <a:rPr lang="en-US" sz="1900" dirty="0"/>
              <a:t> &lt;- </a:t>
            </a:r>
            <a:r>
              <a:rPr lang="en-US" sz="19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map_with_data</a:t>
            </a:r>
            <a:r>
              <a:rPr lang="en-US" sz="19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(data, values = values, include = include)</a:t>
            </a:r>
          </a:p>
          <a:p>
            <a:r>
              <a:rPr lang="en-US" sz="1900" dirty="0"/>
              <a:t>    </a:t>
            </a:r>
            <a:r>
              <a:rPr lang="en-US" sz="1900" dirty="0" err="1"/>
              <a:t>polygon_layer</a:t>
            </a:r>
            <a:r>
              <a:rPr lang="en-US" sz="1900" dirty="0"/>
              <a:t> &lt;- </a:t>
            </a:r>
            <a:r>
              <a:rPr lang="en-US" sz="1900" b="1" i="1" dirty="0">
                <a:solidFill>
                  <a:srgbClr val="7030A0"/>
                </a:solidFill>
              </a:rPr>
              <a:t>ggplot2</a:t>
            </a:r>
            <a:r>
              <a:rPr lang="en-US" sz="1900" dirty="0"/>
              <a:t>::</a:t>
            </a:r>
            <a:r>
              <a:rPr lang="en-US" sz="1900" dirty="0" err="1"/>
              <a:t>geom_polygon</a:t>
            </a:r>
            <a:r>
              <a:rPr lang="en-US" sz="1900" dirty="0"/>
              <a:t>(ggplot2::</a:t>
            </a:r>
            <a:r>
              <a:rPr lang="en-US" sz="1900" dirty="0" err="1"/>
              <a:t>aes</a:t>
            </a:r>
            <a:r>
              <a:rPr lang="en-US" sz="1900" dirty="0"/>
              <a:t>(</a:t>
            </a:r>
            <a:r>
              <a:rPr lang="en-US" sz="19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x</a:t>
            </a:r>
            <a:r>
              <a:rPr lang="en-US" sz="1900" dirty="0"/>
              <a:t> = </a:t>
            </a:r>
            <a:r>
              <a:rPr lang="en-US" sz="1900" dirty="0" err="1"/>
              <a:t>map_df$long</a:t>
            </a:r>
            <a:r>
              <a:rPr lang="en-US" sz="1900" dirty="0"/>
              <a:t>, </a:t>
            </a:r>
          </a:p>
          <a:p>
            <a:r>
              <a:rPr lang="en-US" sz="1900" dirty="0"/>
              <a:t>      </a:t>
            </a:r>
            <a:r>
              <a:rPr lang="en-US" sz="19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y </a:t>
            </a:r>
            <a:r>
              <a:rPr lang="en-US" sz="1900" dirty="0"/>
              <a:t>= </a:t>
            </a:r>
            <a:r>
              <a:rPr lang="en-US" sz="1900" dirty="0" err="1"/>
              <a:t>map_df$lat</a:t>
            </a:r>
            <a:r>
              <a:rPr lang="en-US" sz="1900" dirty="0"/>
              <a:t>, </a:t>
            </a:r>
            <a:r>
              <a:rPr lang="en-US" sz="19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group</a:t>
            </a:r>
            <a:r>
              <a:rPr lang="en-US" sz="1900" dirty="0"/>
              <a:t> = </a:t>
            </a:r>
            <a:r>
              <a:rPr lang="en-US" sz="1900" dirty="0" err="1"/>
              <a:t>map_df$group</a:t>
            </a:r>
            <a:r>
              <a:rPr lang="en-US" sz="1900" dirty="0"/>
              <a:t>, </a:t>
            </a:r>
            <a:r>
              <a:rPr lang="en-US" sz="19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fill</a:t>
            </a:r>
            <a:r>
              <a:rPr lang="en-US" sz="1900" dirty="0"/>
              <a:t> = </a:t>
            </a:r>
            <a:r>
              <a:rPr lang="en-US" sz="1900" dirty="0" err="1"/>
              <a:t>map_df</a:t>
            </a:r>
            <a:r>
              <a:rPr lang="en-US" sz="1900" dirty="0"/>
              <a:t>[, </a:t>
            </a:r>
          </a:p>
          <a:p>
            <a:r>
              <a:rPr lang="en-US" sz="1900" dirty="0"/>
              <a:t>        values]), </a:t>
            </a:r>
            <a:r>
              <a:rPr lang="en-US" sz="1900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colour</a:t>
            </a:r>
            <a:r>
              <a:rPr lang="en-US" sz="1900" dirty="0"/>
              <a:t> = lines, </a:t>
            </a:r>
            <a:r>
              <a:rPr lang="en-US" sz="19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size</a:t>
            </a:r>
            <a:r>
              <a:rPr lang="en-US" sz="1900" dirty="0"/>
              <a:t> = 0.4)</a:t>
            </a:r>
          </a:p>
          <a:p>
            <a:r>
              <a:rPr lang="en-US" sz="1900" dirty="0"/>
              <a:t>  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39633" y="3195109"/>
            <a:ext cx="1447800" cy="10001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>
                <a:solidFill>
                  <a:srgbClr val="FFFF00"/>
                </a:solidFill>
              </a:rPr>
              <a:t>include </a:t>
            </a:r>
            <a:r>
              <a:rPr lang="en-US" dirty="0"/>
              <a:t>specifies a state/county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2880" y="4060510"/>
            <a:ext cx="2726266" cy="50355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>
                <a:solidFill>
                  <a:srgbClr val="FFFF00"/>
                </a:solidFill>
              </a:rPr>
              <a:t>labels = TRUE </a:t>
            </a:r>
            <a:r>
              <a:rPr lang="en-US" dirty="0"/>
              <a:t>will list state abbreviation in state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DF5372D-9BB3-407A-9182-F410CE434191}"/>
              </a:ext>
            </a:extLst>
          </p:cNvPr>
          <p:cNvSpPr/>
          <p:nvPr/>
        </p:nvSpPr>
        <p:spPr>
          <a:xfrm>
            <a:off x="5187351" y="5055079"/>
            <a:ext cx="6314536" cy="617274"/>
          </a:xfrm>
          <a:prstGeom prst="roundRect">
            <a:avLst/>
          </a:prstGeom>
          <a:solidFill>
            <a:srgbClr val="C00000">
              <a:alpha val="17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8C4BCFC-B890-4C4D-B31D-BAAF215AE326}"/>
              </a:ext>
            </a:extLst>
          </p:cNvPr>
          <p:cNvSpPr/>
          <p:nvPr/>
        </p:nvSpPr>
        <p:spPr>
          <a:xfrm>
            <a:off x="5243501" y="2636156"/>
            <a:ext cx="6314536" cy="617274"/>
          </a:xfrm>
          <a:prstGeom prst="roundRect">
            <a:avLst/>
          </a:prstGeom>
          <a:solidFill>
            <a:srgbClr val="C00000">
              <a:alpha val="17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789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Labels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715956"/>
            <a:ext cx="11029615" cy="1660291"/>
          </a:xfrm>
        </p:spPr>
        <p:txBody>
          <a:bodyPr>
            <a:normAutofit/>
          </a:bodyPr>
          <a:lstStyle/>
          <a:p>
            <a:r>
              <a:rPr lang="en-US" dirty="0"/>
              <a:t>labels parameter allows for states to be labeled</a:t>
            </a:r>
          </a:p>
          <a:p>
            <a:pPr lvl="1"/>
            <a:r>
              <a:rPr lang="en-US" dirty="0" err="1"/>
              <a:t>plot_usmap</a:t>
            </a:r>
            <a:r>
              <a:rPr lang="en-US" dirty="0"/>
              <a:t>(regions = "states", data=election2016, values = "winner", labels=TRUE)</a:t>
            </a:r>
          </a:p>
          <a:p>
            <a:pPr lvl="1"/>
            <a:r>
              <a:rPr lang="en-US" dirty="0"/>
              <a:t>Only supported for states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1618" y="2729756"/>
            <a:ext cx="5682407" cy="412824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9812214" y="2254001"/>
            <a:ext cx="1638959" cy="584200"/>
          </a:xfrm>
          <a:prstGeom prst="roundRect">
            <a:avLst/>
          </a:prstGeom>
          <a:solidFill>
            <a:srgbClr val="C00000">
              <a:alpha val="3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46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</a:t>
            </a:r>
            <a:r>
              <a:rPr lang="en-US" dirty="0" err="1"/>
              <a:t>CenTroids</a:t>
            </a:r>
            <a:r>
              <a:rPr lang="en-US" dirty="0"/>
              <a:t> To MAPS with Long &amp; LAT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29119" y="1539838"/>
            <a:ext cx="12452148" cy="4284370"/>
          </a:xfrm>
        </p:spPr>
        <p:txBody>
          <a:bodyPr>
            <a:normAutofit/>
          </a:bodyPr>
          <a:lstStyle/>
          <a:p>
            <a:r>
              <a:rPr lang="en-US" dirty="0"/>
              <a:t>Centroid of a polygon is the center location</a:t>
            </a:r>
          </a:p>
          <a:p>
            <a:pPr lvl="1"/>
            <a:r>
              <a:rPr lang="en-US" dirty="0"/>
              <a:t>Center of the area of each state</a:t>
            </a:r>
          </a:p>
          <a:p>
            <a:r>
              <a:rPr lang="en-US" dirty="0"/>
              <a:t>Need map data with BOTH map and data</a:t>
            </a:r>
          </a:p>
          <a:p>
            <a:pPr lvl="1"/>
            <a:r>
              <a:rPr lang="en-US" b="1" i="1" dirty="0" err="1">
                <a:solidFill>
                  <a:srgbClr val="C00000"/>
                </a:solidFill>
              </a:rPr>
              <a:t>election_map</a:t>
            </a:r>
            <a:r>
              <a:rPr lang="en-US" b="1" i="1" dirty="0">
                <a:solidFill>
                  <a:srgbClr val="C00000"/>
                </a:solidFill>
              </a:rPr>
              <a:t> </a:t>
            </a:r>
            <a:r>
              <a:rPr lang="en-US" b="1" i="1" dirty="0">
                <a:solidFill>
                  <a:srgbClr val="C00000"/>
                </a:solidFill>
                <a:latin typeface="Consolas" panose="020B0609020204030204" pitchFamily="49" charset="0"/>
              </a:rPr>
              <a:t>&lt;-</a:t>
            </a:r>
            <a:r>
              <a:rPr lang="en-US" b="1" i="1" dirty="0">
                <a:solidFill>
                  <a:srgbClr val="C00000"/>
                </a:solidFill>
              </a:rPr>
              <a:t> </a:t>
            </a:r>
            <a:r>
              <a:rPr lang="en-US" b="1" i="1" dirty="0" err="1">
                <a:solidFill>
                  <a:srgbClr val="C00000"/>
                </a:solidFill>
              </a:rPr>
              <a:t>left_join</a:t>
            </a:r>
            <a:r>
              <a:rPr lang="en-US" b="1" i="1" dirty="0">
                <a:solidFill>
                  <a:srgbClr val="C00000"/>
                </a:solidFill>
              </a:rPr>
              <a:t>(us_states_v2, election2016, by = “region")</a:t>
            </a:r>
          </a:p>
          <a:p>
            <a:r>
              <a:rPr lang="en-US" dirty="0">
                <a:solidFill>
                  <a:schemeClr val="tx1"/>
                </a:solidFill>
              </a:rPr>
              <a:t>Bind longitude and latitude to a variable 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 Electoral + region</a:t>
            </a:r>
          </a:p>
          <a:p>
            <a:pPr lvl="1"/>
            <a:r>
              <a:rPr lang="en-US" sz="22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centroid &lt;- aggregate(data = </a:t>
            </a:r>
            <a:r>
              <a:rPr lang="en-US" sz="2200" b="1" i="1" dirty="0" err="1">
                <a:solidFill>
                  <a:srgbClr val="C00000"/>
                </a:solidFill>
              </a:rPr>
              <a:t>election_map</a:t>
            </a:r>
            <a:r>
              <a:rPr lang="en-US" sz="22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2200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cbind</a:t>
            </a:r>
            <a:r>
              <a:rPr lang="en-US" sz="22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(long, </a:t>
            </a:r>
            <a:r>
              <a:rPr lang="en-US" sz="2200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lat</a:t>
            </a:r>
            <a:r>
              <a:rPr lang="en-US" sz="22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) ~ Electoral + region, FUN=mean)</a:t>
            </a:r>
          </a:p>
        </p:txBody>
      </p:sp>
      <p:sp>
        <p:nvSpPr>
          <p:cNvPr id="4" name="Up Arrow Callout 3"/>
          <p:cNvSpPr/>
          <p:nvPr/>
        </p:nvSpPr>
        <p:spPr>
          <a:xfrm>
            <a:off x="9309023" y="5508697"/>
            <a:ext cx="2882977" cy="1153193"/>
          </a:xfrm>
          <a:prstGeom prst="up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REQUIRED</a:t>
            </a:r>
          </a:p>
          <a:p>
            <a:pPr algn="ctr"/>
            <a:r>
              <a:rPr lang="en-US" dirty="0"/>
              <a:t>Finds mean of longitude and latitude of each polygon</a:t>
            </a:r>
          </a:p>
        </p:txBody>
      </p:sp>
    </p:spTree>
    <p:extLst>
      <p:ext uri="{BB962C8B-B14F-4D97-AF65-F5344CB8AC3E}">
        <p14:creationId xmlns:p14="http://schemas.microsoft.com/office/powerpoint/2010/main" val="1935017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702520F-B69E-46A4-8018-C7D4F94DBEF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9214"/>
          <a:stretch/>
        </p:blipFill>
        <p:spPr>
          <a:xfrm>
            <a:off x="5922561" y="2056388"/>
            <a:ext cx="6325292" cy="3612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Centroids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</a:t>
            </a:r>
            <a:r>
              <a:rPr lang="en-US" dirty="0" err="1"/>
              <a:t>geom_text</a:t>
            </a:r>
            <a:r>
              <a:rPr lang="en-US" dirty="0"/>
              <a:t> layer to plot</a:t>
            </a:r>
          </a:p>
          <a:p>
            <a:pPr lvl="1"/>
            <a:r>
              <a:rPr lang="en-US" dirty="0"/>
              <a:t> </a:t>
            </a:r>
            <a:r>
              <a:rPr lang="en-US" dirty="0" err="1"/>
              <a:t>geom_text</a:t>
            </a:r>
            <a:r>
              <a:rPr lang="en-US" dirty="0"/>
              <a:t>(data = 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centroid</a:t>
            </a:r>
            <a:r>
              <a:rPr lang="en-US" dirty="0"/>
              <a:t>, </a:t>
            </a:r>
          </a:p>
          <a:p>
            <a:pPr marL="324000" lvl="1" indent="0">
              <a:buNone/>
            </a:pPr>
            <a:r>
              <a:rPr lang="en-US" dirty="0"/>
              <a:t>				    mapping = </a:t>
            </a:r>
            <a:r>
              <a:rPr lang="en-US" dirty="0" err="1"/>
              <a:t>aes</a:t>
            </a:r>
            <a:r>
              <a:rPr lang="en-US" dirty="0"/>
              <a:t>(x = long,</a:t>
            </a:r>
          </a:p>
          <a:p>
            <a:pPr marL="324000" lvl="1" indent="0">
              <a:buNone/>
            </a:pPr>
            <a:r>
              <a:rPr lang="en-US" dirty="0"/>
              <a:t>                                            y = </a:t>
            </a:r>
            <a:r>
              <a:rPr lang="en-US" dirty="0" err="1"/>
              <a:t>lat</a:t>
            </a:r>
            <a:r>
              <a:rPr lang="en-US" dirty="0"/>
              <a:t>,</a:t>
            </a:r>
          </a:p>
          <a:p>
            <a:pPr marL="324000" lvl="1" indent="0">
              <a:buNone/>
            </a:pPr>
            <a:r>
              <a:rPr lang="en-US" dirty="0"/>
              <a:t>                                            label = Electoral), </a:t>
            </a:r>
          </a:p>
          <a:p>
            <a:pPr marL="324000" lvl="1" indent="0">
              <a:buNone/>
            </a:pPr>
            <a:r>
              <a:rPr lang="en-US" dirty="0"/>
              <a:t>					color = “yellow", size = 3) </a:t>
            </a:r>
          </a:p>
        </p:txBody>
      </p:sp>
      <p:sp>
        <p:nvSpPr>
          <p:cNvPr id="4" name="Right Arrow Callout 3"/>
          <p:cNvSpPr/>
          <p:nvPr/>
        </p:nvSpPr>
        <p:spPr>
          <a:xfrm>
            <a:off x="105509" y="4297680"/>
            <a:ext cx="4262510" cy="1005840"/>
          </a:xfrm>
          <a:prstGeom prst="right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Wrap variable in </a:t>
            </a:r>
            <a:r>
              <a:rPr lang="en-US" dirty="0" err="1"/>
              <a:t>sprintf</a:t>
            </a:r>
            <a:r>
              <a:rPr lang="en-US" dirty="0"/>
              <a:t> to control output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sprintf</a:t>
            </a:r>
            <a:r>
              <a:rPr lang="en-US" dirty="0">
                <a:sym typeface="Wingdings" panose="05000000000000000000" pitchFamily="2" charset="2"/>
              </a:rPr>
              <a:t>(“%0.0f”, Electoral)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10459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</a:t>
            </a:r>
            <a:r>
              <a:rPr lang="en-US" dirty="0" err="1"/>
              <a:t>CenTroids</a:t>
            </a:r>
            <a:r>
              <a:rPr lang="en-US" dirty="0"/>
              <a:t> To MAPS with Shape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29119" y="1539838"/>
            <a:ext cx="12452148" cy="4284370"/>
          </a:xfrm>
        </p:spPr>
        <p:txBody>
          <a:bodyPr>
            <a:normAutofit/>
          </a:bodyPr>
          <a:lstStyle/>
          <a:p>
            <a:r>
              <a:rPr lang="en-US" dirty="0"/>
              <a:t>Centroid labels must have BOTH shape files and data</a:t>
            </a:r>
          </a:p>
          <a:p>
            <a:pPr lvl="1"/>
            <a:r>
              <a:rPr lang="en-US" dirty="0" err="1"/>
              <a:t>centroid_labels</a:t>
            </a:r>
            <a:r>
              <a:rPr lang="en-US" dirty="0"/>
              <a:t> is in the </a:t>
            </a:r>
            <a:r>
              <a:rPr lang="en-US" b="1" i="1" dirty="0" err="1">
                <a:solidFill>
                  <a:srgbClr val="7030A0"/>
                </a:solidFill>
              </a:rPr>
              <a:t>usmapdata</a:t>
            </a:r>
            <a:r>
              <a:rPr lang="en-US" dirty="0"/>
              <a:t> package</a:t>
            </a:r>
          </a:p>
          <a:p>
            <a:pPr lvl="1"/>
            <a:r>
              <a:rPr lang="en-US" b="1" i="1" dirty="0" err="1">
                <a:solidFill>
                  <a:srgbClr val="C00000"/>
                </a:solidFill>
              </a:rPr>
              <a:t>centroid_labels</a:t>
            </a:r>
            <a:r>
              <a:rPr lang="en-US" b="1" i="1" dirty="0">
                <a:solidFill>
                  <a:srgbClr val="C00000"/>
                </a:solidFill>
              </a:rPr>
              <a:t> &lt;- </a:t>
            </a:r>
            <a:r>
              <a:rPr lang="en-US" b="1" i="1" dirty="0" err="1">
                <a:solidFill>
                  <a:srgbClr val="C00000"/>
                </a:solidFill>
              </a:rPr>
              <a:t>centroid_labels</a:t>
            </a:r>
            <a:r>
              <a:rPr lang="en-US" b="1" i="1" dirty="0">
                <a:solidFill>
                  <a:srgbClr val="C00000"/>
                </a:solidFill>
              </a:rPr>
              <a:t>("states")</a:t>
            </a:r>
          </a:p>
          <a:p>
            <a:pPr lvl="1"/>
            <a:endParaRPr lang="en-US" b="1" i="1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Need map data with BOTH shape files and data</a:t>
            </a:r>
          </a:p>
          <a:p>
            <a:pPr lvl="1"/>
            <a:r>
              <a:rPr lang="en-US" sz="2200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data_labels</a:t>
            </a:r>
            <a:r>
              <a:rPr lang="en-US" sz="22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&lt;- merge(</a:t>
            </a:r>
            <a:r>
              <a:rPr lang="en-US" sz="2200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centroid_labels</a:t>
            </a:r>
            <a:r>
              <a:rPr lang="en-US" sz="22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, election2020, by = "</a:t>
            </a:r>
            <a:r>
              <a:rPr lang="en-US" sz="2200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abbr</a:t>
            </a:r>
            <a:r>
              <a:rPr lang="en-US" sz="22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2804532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3935B2C-A99C-46DD-A7A2-B6E296AC4B9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901"/>
          <a:stretch/>
        </p:blipFill>
        <p:spPr>
          <a:xfrm>
            <a:off x="6607834" y="1802586"/>
            <a:ext cx="5267517" cy="387392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Centroids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5185" y="2331409"/>
            <a:ext cx="11029615" cy="3678303"/>
          </a:xfrm>
        </p:spPr>
        <p:txBody>
          <a:bodyPr/>
          <a:lstStyle/>
          <a:p>
            <a:r>
              <a:rPr lang="en-US" dirty="0"/>
              <a:t>Add </a:t>
            </a:r>
            <a:r>
              <a:rPr lang="en-US" dirty="0" err="1"/>
              <a:t>geom_sf_text</a:t>
            </a:r>
            <a:r>
              <a:rPr lang="en-US" dirty="0"/>
              <a:t> layer to plot</a:t>
            </a:r>
          </a:p>
          <a:p>
            <a:pPr lvl="1"/>
            <a:r>
              <a:rPr lang="en-US" dirty="0"/>
              <a:t> </a:t>
            </a:r>
            <a:r>
              <a:rPr lang="en-US" dirty="0" err="1"/>
              <a:t>plot_usmap</a:t>
            </a:r>
            <a:r>
              <a:rPr lang="en-US" dirty="0"/>
              <a:t>() +  </a:t>
            </a:r>
            <a:br>
              <a:rPr lang="en-US" dirty="0"/>
            </a:br>
            <a:r>
              <a:rPr lang="en-US" dirty="0"/>
              <a:t> </a:t>
            </a:r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geom_sf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(data=election2020, </a:t>
            </a:r>
            <a:b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       </a:t>
            </a:r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aes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(fill=winner)) </a:t>
            </a:r>
            <a:r>
              <a:rPr lang="en-US" dirty="0"/>
              <a:t>+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</a:t>
            </a:r>
            <a:r>
              <a:rPr lang="en-US" dirty="0" err="1"/>
              <a:t>scale_fill_manual</a:t>
            </a:r>
            <a:r>
              <a:rPr lang="en-US" dirty="0"/>
              <a:t>(values = c("blue", "red")) +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</a:t>
            </a:r>
            <a:r>
              <a:rPr lang="en-US" dirty="0" err="1">
                <a:solidFill>
                  <a:srgbClr val="FF0000"/>
                </a:solidFill>
              </a:rPr>
              <a:t>geom_sf_text</a:t>
            </a:r>
            <a:r>
              <a:rPr lang="en-US" dirty="0">
                <a:solidFill>
                  <a:srgbClr val="FF0000"/>
                </a:solidFill>
              </a:rPr>
              <a:t>(data=</a:t>
            </a:r>
            <a:r>
              <a:rPr lang="en-US" dirty="0" err="1">
                <a:solidFill>
                  <a:srgbClr val="FF0000"/>
                </a:solidFill>
              </a:rPr>
              <a:t>data_labels</a:t>
            </a:r>
            <a:r>
              <a:rPr lang="en-US" dirty="0">
                <a:solidFill>
                  <a:srgbClr val="FF0000"/>
                </a:solidFill>
              </a:rPr>
              <a:t>, 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                       </a:t>
            </a:r>
            <a:r>
              <a:rPr lang="en-US" dirty="0" err="1">
                <a:solidFill>
                  <a:srgbClr val="FF0000"/>
                </a:solidFill>
              </a:rPr>
              <a:t>aes</a:t>
            </a:r>
            <a:r>
              <a:rPr lang="en-US" dirty="0">
                <a:solidFill>
                  <a:srgbClr val="FF0000"/>
                </a:solidFill>
              </a:rPr>
              <a:t>(label = Electoral), color="white")</a:t>
            </a:r>
          </a:p>
        </p:txBody>
      </p:sp>
    </p:spTree>
    <p:extLst>
      <p:ext uri="{BB962C8B-B14F-4D97-AF65-F5344CB8AC3E}">
        <p14:creationId xmlns:p14="http://schemas.microsoft.com/office/powerpoint/2010/main" val="6620640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 – Youth Obesity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343396"/>
          </a:xfrm>
        </p:spPr>
        <p:txBody>
          <a:bodyPr>
            <a:normAutofit fontScale="92500" lnSpcReduction="10000"/>
          </a:bodyPr>
          <a:lstStyle/>
          <a:p>
            <a:pPr marL="306000" lvl="1"/>
            <a:r>
              <a:rPr lang="en-US" sz="2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obesity &lt;- </a:t>
            </a:r>
            <a:r>
              <a:rPr lang="en-US" sz="22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read_csv</a:t>
            </a:r>
            <a:r>
              <a:rPr lang="en-US" sz="2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("ObesityYouthRisk.csv", </a:t>
            </a:r>
            <a:r>
              <a:rPr lang="en-US" sz="22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col_names</a:t>
            </a:r>
            <a:r>
              <a:rPr lang="en-US" sz="2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= TRUE)</a:t>
            </a:r>
          </a:p>
          <a:p>
            <a:pPr lvl="1"/>
            <a:r>
              <a:rPr lang="en-US" dirty="0"/>
              <a:t>Wrangle obesity data</a:t>
            </a:r>
          </a:p>
          <a:p>
            <a:pPr lvl="2"/>
            <a:r>
              <a:rPr lang="en-US" dirty="0"/>
              <a:t>Create a new variable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b="1" i="1" dirty="0">
                <a:solidFill>
                  <a:schemeClr val="accent5">
                    <a:lumMod val="50000"/>
                  </a:schemeClr>
                </a:solidFill>
                <a:sym typeface="Wingdings" panose="05000000000000000000" pitchFamily="2" charset="2"/>
              </a:rPr>
              <a:t>obesity2015</a:t>
            </a:r>
            <a:endParaRPr lang="en-US" b="1" i="1" dirty="0">
              <a:solidFill>
                <a:schemeClr val="accent5">
                  <a:lumMod val="50000"/>
                </a:schemeClr>
              </a:solidFill>
            </a:endParaRPr>
          </a:p>
          <a:p>
            <a:pPr lvl="2"/>
            <a:r>
              <a:rPr lang="en-US" dirty="0"/>
              <a:t>Choose only</a:t>
            </a:r>
          </a:p>
          <a:p>
            <a:pPr lvl="3"/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“Obesity / Weight Status” </a:t>
            </a:r>
            <a:r>
              <a:rPr lang="en-US" dirty="0"/>
              <a:t>for </a:t>
            </a:r>
            <a:r>
              <a:rPr lang="en-US" b="1" i="1" dirty="0">
                <a:solidFill>
                  <a:srgbClr val="C00000"/>
                </a:solidFill>
              </a:rPr>
              <a:t>Class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watch spaces!!</a:t>
            </a:r>
          </a:p>
          <a:p>
            <a:pPr lvl="3"/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“OVR” </a:t>
            </a:r>
            <a:r>
              <a:rPr lang="en-US" dirty="0">
                <a:sym typeface="Wingdings" panose="05000000000000000000" pitchFamily="2" charset="2"/>
              </a:rPr>
              <a:t>for </a:t>
            </a:r>
            <a:r>
              <a:rPr lang="en-US" b="1" i="1" dirty="0">
                <a:solidFill>
                  <a:srgbClr val="C00000"/>
                </a:solidFill>
                <a:sym typeface="Wingdings" panose="05000000000000000000" pitchFamily="2" charset="2"/>
              </a:rPr>
              <a:t>StratificationCategoryId1</a:t>
            </a:r>
          </a:p>
          <a:p>
            <a:pPr lvl="3"/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“Percent of students in grades 9-12 who have obesity” </a:t>
            </a:r>
            <a:r>
              <a:rPr lang="en-US" dirty="0">
                <a:sym typeface="Wingdings" panose="05000000000000000000" pitchFamily="2" charset="2"/>
              </a:rPr>
              <a:t>for </a:t>
            </a:r>
            <a:r>
              <a:rPr lang="en-US" b="1" i="1" dirty="0">
                <a:solidFill>
                  <a:srgbClr val="C00000"/>
                </a:solidFill>
                <a:sym typeface="Wingdings" panose="05000000000000000000" pitchFamily="2" charset="2"/>
              </a:rPr>
              <a:t>Question</a:t>
            </a:r>
          </a:p>
          <a:p>
            <a:pPr lvl="3"/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2015</a:t>
            </a:r>
            <a:r>
              <a:rPr lang="en-US" dirty="0">
                <a:sym typeface="Wingdings" panose="05000000000000000000" pitchFamily="2" charset="2"/>
              </a:rPr>
              <a:t> for </a:t>
            </a:r>
            <a:r>
              <a:rPr lang="en-US" b="1" i="1" dirty="0" err="1">
                <a:solidFill>
                  <a:srgbClr val="C00000"/>
                </a:solidFill>
                <a:sym typeface="Wingdings" panose="05000000000000000000" pitchFamily="2" charset="2"/>
              </a:rPr>
              <a:t>YearStart</a:t>
            </a:r>
            <a:endParaRPr lang="en-US" b="1" i="1" dirty="0">
              <a:solidFill>
                <a:srgbClr val="C00000"/>
              </a:solidFill>
              <a:sym typeface="Wingdings" panose="05000000000000000000" pitchFamily="2" charset="2"/>
            </a:endParaRPr>
          </a:p>
          <a:p>
            <a:pPr lvl="2"/>
            <a:r>
              <a:rPr lang="en-US" dirty="0">
                <a:sym typeface="Wingdings" panose="05000000000000000000" pitchFamily="2" charset="2"/>
              </a:rPr>
              <a:t>Convert </a:t>
            </a:r>
            <a:r>
              <a:rPr lang="en-US" b="1" i="1" dirty="0" err="1">
                <a:solidFill>
                  <a:srgbClr val="C00000"/>
                </a:solidFill>
                <a:sym typeface="Wingdings" panose="05000000000000000000" pitchFamily="2" charset="2"/>
              </a:rPr>
              <a:t>LocationDesc</a:t>
            </a:r>
            <a:r>
              <a:rPr lang="en-US" dirty="0">
                <a:sym typeface="Wingdings" panose="05000000000000000000" pitchFamily="2" charset="2"/>
              </a:rPr>
              <a:t> to lowercase</a:t>
            </a:r>
            <a:endParaRPr lang="en-US" dirty="0"/>
          </a:p>
          <a:p>
            <a:pPr lvl="3"/>
            <a:r>
              <a:rPr lang="en-US" dirty="0" err="1"/>
              <a:t>LocationDesc</a:t>
            </a:r>
            <a:r>
              <a:rPr lang="en-US" dirty="0"/>
              <a:t> defines state name</a:t>
            </a:r>
          </a:p>
          <a:p>
            <a:pPr lvl="2"/>
            <a:r>
              <a:rPr lang="en-US" dirty="0"/>
              <a:t>List </a:t>
            </a:r>
            <a:r>
              <a:rPr lang="en-US" b="1" i="1" dirty="0" err="1">
                <a:solidFill>
                  <a:srgbClr val="C00000"/>
                </a:solidFill>
              </a:rPr>
              <a:t>LocationDesc</a:t>
            </a:r>
            <a:r>
              <a:rPr lang="en-US" dirty="0"/>
              <a:t> in ascending order</a:t>
            </a:r>
          </a:p>
          <a:p>
            <a:pPr lvl="1"/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8493369" y="2867854"/>
            <a:ext cx="2954215" cy="230358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/>
              <a:t>What states are NOT in the obesity dataset?</a:t>
            </a:r>
          </a:p>
        </p:txBody>
      </p:sp>
    </p:spTree>
    <p:extLst>
      <p:ext uri="{BB962C8B-B14F-4D97-AF65-F5344CB8AC3E}">
        <p14:creationId xmlns:p14="http://schemas.microsoft.com/office/powerpoint/2010/main" val="2984624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 </a:t>
            </a:r>
            <a:r>
              <a:rPr lang="en-US" cap="none" dirty="0" err="1"/>
              <a:t>con’t</a:t>
            </a:r>
            <a:endParaRPr lang="en-US" cap="non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180496"/>
            <a:ext cx="11869615" cy="1740873"/>
          </a:xfrm>
        </p:spPr>
        <p:txBody>
          <a:bodyPr/>
          <a:lstStyle/>
          <a:p>
            <a:r>
              <a:rPr lang="en-US" dirty="0"/>
              <a:t>Variables DO NOT match</a:t>
            </a:r>
          </a:p>
          <a:p>
            <a:pPr lvl="1"/>
            <a:r>
              <a:rPr lang="en-US" dirty="0"/>
              <a:t>Wrangle obesity2015 to match </a:t>
            </a:r>
            <a:r>
              <a:rPr lang="en-US" dirty="0" err="1"/>
              <a:t>us_map</a:t>
            </a:r>
            <a:r>
              <a:rPr lang="en-US" dirty="0"/>
              <a:t> data’s variable names</a:t>
            </a:r>
          </a:p>
          <a:p>
            <a:pPr lvl="2"/>
            <a:r>
              <a:rPr lang="en-US" dirty="0"/>
              <a:t>select from obesity2015 but name variables using </a:t>
            </a:r>
            <a:r>
              <a:rPr lang="en-US" dirty="0" err="1"/>
              <a:t>us_map</a:t>
            </a:r>
            <a:r>
              <a:rPr lang="en-US" dirty="0"/>
              <a:t> names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6748733"/>
              </p:ext>
            </p:extLst>
          </p:nvPr>
        </p:nvGraphicFramePr>
        <p:xfrm>
          <a:off x="2330938" y="3533205"/>
          <a:ext cx="8128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08289623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0505831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us_map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obesity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08741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region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LocationDesc</a:t>
                      </a:r>
                      <a:endParaRPr 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3105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Class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6009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StratificationCategoryId1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1528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Data_Value</a:t>
                      </a:r>
                      <a:endParaRPr 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16818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91747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 </a:t>
            </a:r>
            <a:r>
              <a:rPr lang="en-US" cap="none" dirty="0" err="1"/>
              <a:t>con’t</a:t>
            </a:r>
            <a:endParaRPr lang="en-US" cap="none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-58242" y="2336511"/>
            <a:ext cx="6418385" cy="3524539"/>
          </a:xfrm>
        </p:spPr>
        <p:txBody>
          <a:bodyPr>
            <a:normAutofit/>
          </a:bodyPr>
          <a:lstStyle/>
          <a:p>
            <a:r>
              <a:rPr lang="en-US" sz="2400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us_obesity</a:t>
            </a:r>
            <a:r>
              <a:rPr lang="en-US" sz="24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&lt;- </a:t>
            </a:r>
            <a:r>
              <a:rPr lang="en-US" sz="2400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left_join</a:t>
            </a:r>
            <a:r>
              <a:rPr lang="en-US" sz="24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</a:t>
            </a:r>
            <a:r>
              <a:rPr lang="en-US" sz="2400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us_map</a:t>
            </a:r>
            <a:r>
              <a:rPr lang="en-US" sz="24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, obesity2015, by = "region")</a:t>
            </a:r>
          </a:p>
          <a:p>
            <a:r>
              <a:rPr lang="en-US" sz="2400" dirty="0"/>
              <a:t>Plot obesity data on a choropleth map</a:t>
            </a:r>
          </a:p>
          <a:p>
            <a:pPr lvl="1"/>
            <a:r>
              <a:rPr lang="en-US" sz="2000" dirty="0"/>
              <a:t>Use </a:t>
            </a:r>
            <a:r>
              <a:rPr lang="en-US" sz="2000" dirty="0" err="1"/>
              <a:t>us_map</a:t>
            </a:r>
            <a:r>
              <a:rPr lang="en-US" sz="2000" dirty="0"/>
              <a:t>/election data as a guide</a:t>
            </a:r>
          </a:p>
          <a:p>
            <a:pPr lvl="1"/>
            <a:r>
              <a:rPr lang="en-US" sz="2000" dirty="0"/>
              <a:t>Replace </a:t>
            </a:r>
            <a:r>
              <a:rPr lang="en-US" sz="2000" dirty="0" err="1"/>
              <a:t>scale_fill_manual</a:t>
            </a:r>
            <a:r>
              <a:rPr lang="en-US" sz="2000" dirty="0"/>
              <a:t> </a:t>
            </a:r>
            <a:r>
              <a:rPr lang="en-US" sz="2000" dirty="0">
                <a:sym typeface="Wingdings" panose="05000000000000000000" pitchFamily="2" charset="2"/>
              </a:rPr>
              <a:t></a:t>
            </a:r>
            <a:br>
              <a:rPr lang="en-US" sz="2000" dirty="0">
                <a:sym typeface="Wingdings" panose="05000000000000000000" pitchFamily="2" charset="2"/>
              </a:rPr>
            </a:br>
            <a:r>
              <a:rPr lang="en-US" sz="2000" b="1" i="1" dirty="0" err="1">
                <a:solidFill>
                  <a:srgbClr val="C00000"/>
                </a:solidFill>
              </a:rPr>
              <a:t>scale_fill_brewer</a:t>
            </a:r>
            <a:r>
              <a:rPr lang="en-US" sz="2000" b="1" i="1" dirty="0">
                <a:solidFill>
                  <a:srgbClr val="C00000"/>
                </a:solidFill>
              </a:rPr>
              <a:t>(palette = “Greens”,</a:t>
            </a:r>
            <a:br>
              <a:rPr lang="en-US" sz="2000" b="1" i="1" dirty="0">
                <a:solidFill>
                  <a:srgbClr val="C00000"/>
                </a:solidFill>
              </a:rPr>
            </a:br>
            <a:r>
              <a:rPr lang="en-US" sz="2000" b="1" i="1" dirty="0">
                <a:solidFill>
                  <a:srgbClr val="C00000"/>
                </a:solidFill>
              </a:rPr>
              <a:t>                           trans = “reverse”)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835" y="2336511"/>
            <a:ext cx="5716368" cy="3146971"/>
          </a:xfrm>
        </p:spPr>
        <p:txBody>
          <a:bodyPr>
            <a:normAutofit/>
          </a:bodyPr>
          <a:lstStyle/>
          <a:p>
            <a:r>
              <a:rPr lang="en-US" sz="2400" dirty="0"/>
              <a:t>Let’s clean up the map</a:t>
            </a:r>
          </a:p>
          <a:p>
            <a:pPr lvl="1"/>
            <a:r>
              <a:rPr lang="en-US" sz="2200" dirty="0"/>
              <a:t> </a:t>
            </a:r>
            <a:r>
              <a:rPr lang="en-US" sz="22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guides(fill = </a:t>
            </a:r>
            <a:r>
              <a:rPr lang="en-US" sz="2200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guide_legend</a:t>
            </a:r>
            <a:r>
              <a:rPr lang="en-US" sz="22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</a:t>
            </a:r>
            <a:r>
              <a:rPr lang="en-US" sz="2200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nrow</a:t>
            </a:r>
            <a:r>
              <a:rPr lang="en-US" sz="22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= 1)) +</a:t>
            </a:r>
          </a:p>
          <a:p>
            <a:pPr lvl="1"/>
            <a:r>
              <a:rPr lang="en-US" sz="2200" b="1" i="1" dirty="0">
                <a:solidFill>
                  <a:srgbClr val="C00000"/>
                </a:solidFill>
              </a:rPr>
              <a:t>  labs(title = "Obesity in the US") +</a:t>
            </a:r>
          </a:p>
          <a:p>
            <a:pPr lvl="1"/>
            <a:r>
              <a:rPr lang="en-US" sz="22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</a:t>
            </a:r>
            <a:r>
              <a:rPr lang="en-US" sz="2200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theme_map</a:t>
            </a:r>
            <a:r>
              <a:rPr lang="en-US" sz="22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() +</a:t>
            </a:r>
          </a:p>
          <a:p>
            <a:pPr lvl="1"/>
            <a:r>
              <a:rPr lang="en-US" sz="2200" b="1" i="1" dirty="0">
                <a:solidFill>
                  <a:srgbClr val="C00000"/>
                </a:solidFill>
              </a:rPr>
              <a:t>  theme(</a:t>
            </a:r>
            <a:r>
              <a:rPr lang="en-US" sz="2200" b="1" i="1" dirty="0" err="1">
                <a:solidFill>
                  <a:srgbClr val="C00000"/>
                </a:solidFill>
              </a:rPr>
              <a:t>legend.position</a:t>
            </a:r>
            <a:r>
              <a:rPr lang="en-US" sz="2200" b="1" i="1" dirty="0">
                <a:solidFill>
                  <a:srgbClr val="C00000"/>
                </a:solidFill>
              </a:rPr>
              <a:t> = "bottom")</a:t>
            </a:r>
          </a:p>
        </p:txBody>
      </p:sp>
      <p:sp>
        <p:nvSpPr>
          <p:cNvPr id="5" name="Up Arrow Callout 4"/>
          <p:cNvSpPr/>
          <p:nvPr/>
        </p:nvSpPr>
        <p:spPr>
          <a:xfrm>
            <a:off x="896815" y="5702789"/>
            <a:ext cx="5064370" cy="996950"/>
          </a:xfrm>
          <a:prstGeom prst="upArrowCallout">
            <a:avLst>
              <a:gd name="adj1" fmla="val 25000"/>
              <a:gd name="adj2" fmla="val 25000"/>
              <a:gd name="adj3" fmla="val 25000"/>
              <a:gd name="adj4" fmla="val 7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Can use </a:t>
            </a:r>
            <a:r>
              <a:rPr lang="en-US" sz="2000" i="1" dirty="0"/>
              <a:t>trans=“reverse” or direction = -1</a:t>
            </a:r>
            <a:r>
              <a:rPr lang="en-US" sz="2000" dirty="0"/>
              <a:t> to reverse the order of the gradient - DISCRETE</a:t>
            </a:r>
          </a:p>
        </p:txBody>
      </p:sp>
    </p:spTree>
    <p:extLst>
      <p:ext uri="{BB962C8B-B14F-4D97-AF65-F5344CB8AC3E}">
        <p14:creationId xmlns:p14="http://schemas.microsoft.com/office/powerpoint/2010/main" val="3378852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 </a:t>
            </a:r>
            <a:r>
              <a:rPr lang="en-US" cap="none" dirty="0" err="1"/>
              <a:t>con’t</a:t>
            </a:r>
            <a:endParaRPr lang="en-US" cap="none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5054" y="2251563"/>
            <a:ext cx="8153400" cy="432435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75894" y="2866292"/>
            <a:ext cx="2357707" cy="11430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Why are certain states gray?</a:t>
            </a:r>
          </a:p>
        </p:txBody>
      </p:sp>
    </p:spTree>
    <p:extLst>
      <p:ext uri="{BB962C8B-B14F-4D97-AF65-F5344CB8AC3E}">
        <p14:creationId xmlns:p14="http://schemas.microsoft.com/office/powerpoint/2010/main" val="3025758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3 – Youth Obesity By Year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811223"/>
            <a:ext cx="11029615" cy="550398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Create a faceted plot by year</a:t>
            </a:r>
          </a:p>
          <a:p>
            <a:pPr lvl="1"/>
            <a:r>
              <a:rPr lang="en-US" dirty="0"/>
              <a:t>Wrangle obesity data</a:t>
            </a:r>
          </a:p>
          <a:p>
            <a:pPr lvl="2"/>
            <a:r>
              <a:rPr lang="en-US" sz="2400" dirty="0"/>
              <a:t>Create a new variable </a:t>
            </a:r>
            <a:r>
              <a:rPr lang="en-US" sz="2400" dirty="0">
                <a:sym typeface="Wingdings" panose="05000000000000000000" pitchFamily="2" charset="2"/>
              </a:rPr>
              <a:t> </a:t>
            </a:r>
            <a:r>
              <a:rPr lang="en-US" sz="2400" b="1" i="1" dirty="0" err="1">
                <a:solidFill>
                  <a:schemeClr val="accent5">
                    <a:lumMod val="50000"/>
                  </a:schemeClr>
                </a:solidFill>
                <a:sym typeface="Wingdings" panose="05000000000000000000" pitchFamily="2" charset="2"/>
              </a:rPr>
              <a:t>obesityYear</a:t>
            </a:r>
            <a:endParaRPr lang="en-US" sz="2400" b="1" i="1" dirty="0">
              <a:solidFill>
                <a:schemeClr val="accent5">
                  <a:lumMod val="50000"/>
                </a:schemeClr>
              </a:solidFill>
              <a:sym typeface="Wingdings" panose="05000000000000000000" pitchFamily="2" charset="2"/>
            </a:endParaRPr>
          </a:p>
          <a:p>
            <a:pPr lvl="2"/>
            <a:r>
              <a:rPr lang="en-US" sz="2400" dirty="0"/>
              <a:t>Choose only </a:t>
            </a:r>
          </a:p>
          <a:p>
            <a:pPr lvl="3"/>
            <a:r>
              <a:rPr lang="en-US" sz="22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“Obesity / Weight Status” </a:t>
            </a:r>
            <a:r>
              <a:rPr lang="en-US" sz="2200" dirty="0"/>
              <a:t>for </a:t>
            </a:r>
            <a:r>
              <a:rPr lang="en-US" sz="2200" b="1" i="1" dirty="0">
                <a:solidFill>
                  <a:srgbClr val="C00000"/>
                </a:solidFill>
              </a:rPr>
              <a:t>Class</a:t>
            </a:r>
            <a:r>
              <a:rPr lang="en-US" sz="2200" dirty="0"/>
              <a:t> </a:t>
            </a:r>
            <a:r>
              <a:rPr lang="en-US" sz="2200" dirty="0">
                <a:sym typeface="Wingdings" panose="05000000000000000000" pitchFamily="2" charset="2"/>
              </a:rPr>
              <a:t> watch spaces!!</a:t>
            </a:r>
          </a:p>
          <a:p>
            <a:pPr lvl="3"/>
            <a:r>
              <a:rPr lang="en-US" sz="2400" b="1" i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“OVR” </a:t>
            </a:r>
            <a:r>
              <a:rPr lang="en-US" sz="2400" dirty="0">
                <a:sym typeface="Wingdings" panose="05000000000000000000" pitchFamily="2" charset="2"/>
              </a:rPr>
              <a:t>for </a:t>
            </a:r>
            <a:r>
              <a:rPr lang="en-US" sz="2400" b="1" i="1" dirty="0">
                <a:solidFill>
                  <a:srgbClr val="C00000"/>
                </a:solidFill>
                <a:sym typeface="Wingdings" panose="05000000000000000000" pitchFamily="2" charset="2"/>
              </a:rPr>
              <a:t>StratificationCategoryId1</a:t>
            </a:r>
          </a:p>
          <a:p>
            <a:pPr lvl="3"/>
            <a:r>
              <a:rPr lang="en-US" sz="2200" b="1" i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“Percent of students in grades 9-12 who have obesity” </a:t>
            </a:r>
            <a:r>
              <a:rPr lang="en-US" sz="2200" dirty="0">
                <a:sym typeface="Wingdings" panose="05000000000000000000" pitchFamily="2" charset="2"/>
              </a:rPr>
              <a:t>for </a:t>
            </a:r>
            <a:r>
              <a:rPr lang="en-US" sz="2200" b="1" i="1" dirty="0">
                <a:solidFill>
                  <a:srgbClr val="C00000"/>
                </a:solidFill>
                <a:sym typeface="Wingdings" panose="05000000000000000000" pitchFamily="2" charset="2"/>
              </a:rPr>
              <a:t>Question</a:t>
            </a:r>
          </a:p>
          <a:p>
            <a:pPr lvl="2"/>
            <a:r>
              <a:rPr lang="en-US" sz="2400" dirty="0">
                <a:sym typeface="Wingdings" panose="05000000000000000000" pitchFamily="2" charset="2"/>
              </a:rPr>
              <a:t>Convert </a:t>
            </a:r>
            <a:r>
              <a:rPr lang="en-US" sz="2400" b="1" i="1" dirty="0" err="1">
                <a:solidFill>
                  <a:srgbClr val="C00000"/>
                </a:solidFill>
                <a:sym typeface="Wingdings" panose="05000000000000000000" pitchFamily="2" charset="2"/>
              </a:rPr>
              <a:t>LocationDesc</a:t>
            </a:r>
            <a:r>
              <a:rPr lang="en-US" sz="2400" dirty="0">
                <a:sym typeface="Wingdings" panose="05000000000000000000" pitchFamily="2" charset="2"/>
              </a:rPr>
              <a:t> to lowercase</a:t>
            </a:r>
            <a:endParaRPr lang="en-US" sz="2800" dirty="0"/>
          </a:p>
          <a:p>
            <a:pPr lvl="2"/>
            <a:r>
              <a:rPr lang="en-US" sz="2400" dirty="0"/>
              <a:t>List </a:t>
            </a:r>
            <a:r>
              <a:rPr lang="en-US" sz="2400" b="1" i="1" dirty="0" err="1">
                <a:solidFill>
                  <a:srgbClr val="C00000"/>
                </a:solidFill>
              </a:rPr>
              <a:t>LocationDesc</a:t>
            </a:r>
            <a:r>
              <a:rPr lang="en-US" sz="2400" dirty="0"/>
              <a:t> in ascending order</a:t>
            </a:r>
          </a:p>
          <a:p>
            <a:pPr lvl="2"/>
            <a:r>
              <a:rPr lang="en-US" sz="2400" dirty="0">
                <a:solidFill>
                  <a:schemeClr val="tx1"/>
                </a:solidFill>
                <a:sym typeface="Wingdings" panose="05000000000000000000" pitchFamily="2" charset="2"/>
              </a:rPr>
              <a:t>Select and rename </a:t>
            </a:r>
            <a:r>
              <a:rPr lang="en-US" sz="2400" b="1" i="1" dirty="0" err="1">
                <a:solidFill>
                  <a:schemeClr val="accent6">
                    <a:lumMod val="75000"/>
                  </a:schemeClr>
                </a:solidFill>
                <a:sym typeface="Wingdings" panose="05000000000000000000" pitchFamily="2" charset="2"/>
              </a:rPr>
              <a:t>obesityYear</a:t>
            </a:r>
            <a:r>
              <a:rPr lang="en-US" sz="2400" dirty="0">
                <a:solidFill>
                  <a:schemeClr val="tx1"/>
                </a:solidFill>
                <a:sym typeface="Wingdings" panose="05000000000000000000" pitchFamily="2" charset="2"/>
              </a:rPr>
              <a:t> variables 	 region (</a:t>
            </a:r>
            <a:r>
              <a:rPr lang="en-US" sz="2400" b="1" i="1" dirty="0" err="1">
                <a:solidFill>
                  <a:srgbClr val="C00000"/>
                </a:solidFill>
                <a:sym typeface="Wingdings" panose="05000000000000000000" pitchFamily="2" charset="2"/>
              </a:rPr>
              <a:t>LocationDesc</a:t>
            </a:r>
            <a:r>
              <a:rPr lang="en-US" sz="2400" dirty="0">
                <a:solidFill>
                  <a:schemeClr val="tx1"/>
                </a:solidFill>
                <a:sym typeface="Wingdings" panose="05000000000000000000" pitchFamily="2" charset="2"/>
              </a:rPr>
              <a:t>)</a:t>
            </a:r>
            <a:br>
              <a:rPr lang="en-US" sz="2400" dirty="0">
                <a:solidFill>
                  <a:schemeClr val="tx1"/>
                </a:solidFill>
                <a:sym typeface="Wingdings" panose="05000000000000000000" pitchFamily="2" charset="2"/>
              </a:rPr>
            </a:br>
            <a:r>
              <a:rPr lang="en-US" sz="2400" dirty="0">
                <a:solidFill>
                  <a:schemeClr val="tx1"/>
                </a:solidFill>
                <a:sym typeface="Wingdings" panose="05000000000000000000" pitchFamily="2" charset="2"/>
              </a:rPr>
              <a:t>												 class (</a:t>
            </a:r>
            <a:r>
              <a:rPr lang="en-US" sz="2400" b="1" i="1" dirty="0">
                <a:solidFill>
                  <a:srgbClr val="C00000"/>
                </a:solidFill>
                <a:sym typeface="Wingdings" panose="05000000000000000000" pitchFamily="2" charset="2"/>
              </a:rPr>
              <a:t>Class</a:t>
            </a:r>
            <a:r>
              <a:rPr lang="en-US" sz="2400" dirty="0">
                <a:solidFill>
                  <a:schemeClr val="tx1"/>
                </a:solidFill>
                <a:sym typeface="Wingdings" panose="05000000000000000000" pitchFamily="2" charset="2"/>
              </a:rPr>
              <a:t>)</a:t>
            </a:r>
            <a:br>
              <a:rPr lang="en-US" sz="2400" dirty="0">
                <a:solidFill>
                  <a:schemeClr val="tx1"/>
                </a:solidFill>
                <a:sym typeface="Wingdings" panose="05000000000000000000" pitchFamily="2" charset="2"/>
              </a:rPr>
            </a:br>
            <a:r>
              <a:rPr lang="en-US" sz="2400" dirty="0">
                <a:solidFill>
                  <a:schemeClr val="tx1"/>
                </a:solidFill>
                <a:sym typeface="Wingdings" panose="05000000000000000000" pitchFamily="2" charset="2"/>
              </a:rPr>
              <a:t>												 category (</a:t>
            </a:r>
            <a:r>
              <a:rPr lang="en-US" sz="2400" b="1" i="1" dirty="0">
                <a:solidFill>
                  <a:srgbClr val="C00000"/>
                </a:solidFill>
                <a:sym typeface="Wingdings" panose="05000000000000000000" pitchFamily="2" charset="2"/>
              </a:rPr>
              <a:t>StratificationCategoryId1</a:t>
            </a:r>
            <a:r>
              <a:rPr lang="en-US" sz="2400" dirty="0">
                <a:solidFill>
                  <a:schemeClr val="tx1"/>
                </a:solidFill>
                <a:sym typeface="Wingdings" panose="05000000000000000000" pitchFamily="2" charset="2"/>
              </a:rPr>
              <a:t>)</a:t>
            </a:r>
            <a:br>
              <a:rPr lang="en-US" sz="2400" dirty="0">
                <a:solidFill>
                  <a:schemeClr val="tx1"/>
                </a:solidFill>
                <a:sym typeface="Wingdings" panose="05000000000000000000" pitchFamily="2" charset="2"/>
              </a:rPr>
            </a:br>
            <a:r>
              <a:rPr lang="en-US" sz="2400" dirty="0">
                <a:solidFill>
                  <a:schemeClr val="tx1"/>
                </a:solidFill>
                <a:sym typeface="Wingdings" panose="05000000000000000000" pitchFamily="2" charset="2"/>
              </a:rPr>
              <a:t>												 data (</a:t>
            </a:r>
            <a:r>
              <a:rPr lang="en-US" sz="2400" b="1" i="1" dirty="0" err="1">
                <a:solidFill>
                  <a:srgbClr val="C00000"/>
                </a:solidFill>
                <a:sym typeface="Wingdings" panose="05000000000000000000" pitchFamily="2" charset="2"/>
              </a:rPr>
              <a:t>Data_Value</a:t>
            </a:r>
            <a:r>
              <a:rPr lang="en-US" sz="2400" dirty="0">
                <a:solidFill>
                  <a:schemeClr val="tx1"/>
                </a:solidFill>
                <a:sym typeface="Wingdings" panose="05000000000000000000" pitchFamily="2" charset="2"/>
              </a:rPr>
              <a:t>)</a:t>
            </a:r>
            <a:br>
              <a:rPr lang="en-US" sz="2400" dirty="0">
                <a:solidFill>
                  <a:schemeClr val="tx1"/>
                </a:solidFill>
                <a:sym typeface="Wingdings" panose="05000000000000000000" pitchFamily="2" charset="2"/>
              </a:rPr>
            </a:br>
            <a:r>
              <a:rPr lang="en-US" sz="2400" dirty="0">
                <a:solidFill>
                  <a:schemeClr val="tx1"/>
                </a:solidFill>
                <a:sym typeface="Wingdings" panose="05000000000000000000" pitchFamily="2" charset="2"/>
              </a:rPr>
              <a:t>												 year (</a:t>
            </a:r>
            <a:r>
              <a:rPr lang="en-US" sz="2400" b="1" i="1" dirty="0" err="1">
                <a:solidFill>
                  <a:srgbClr val="C00000"/>
                </a:solidFill>
                <a:sym typeface="Wingdings" panose="05000000000000000000" pitchFamily="2" charset="2"/>
              </a:rPr>
              <a:t>YearEnd</a:t>
            </a:r>
            <a:r>
              <a:rPr lang="en-US" sz="2400" dirty="0">
                <a:solidFill>
                  <a:schemeClr val="tx1"/>
                </a:solidFill>
                <a:sym typeface="Wingdings" panose="05000000000000000000" pitchFamily="2" charset="2"/>
              </a:rPr>
              <a:t>)</a:t>
            </a:r>
            <a:endParaRPr lang="en-US" sz="2400" b="1" i="1" dirty="0">
              <a:solidFill>
                <a:schemeClr val="accent5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4" name="Left Arrow Callout 3"/>
          <p:cNvSpPr/>
          <p:nvPr/>
        </p:nvSpPr>
        <p:spPr>
          <a:xfrm>
            <a:off x="6682153" y="2708031"/>
            <a:ext cx="5099539" cy="984738"/>
          </a:xfrm>
          <a:prstGeom prst="leftArrowCallout">
            <a:avLst>
              <a:gd name="adj1" fmla="val 25000"/>
              <a:gd name="adj2" fmla="val 23592"/>
              <a:gd name="adj3" fmla="val 55986"/>
              <a:gd name="adj4" fmla="val 7661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/>
              <a:t>same as obesity2015 EXCEPT DO NOT filter  </a:t>
            </a:r>
            <a:r>
              <a:rPr lang="en-US" sz="2400" dirty="0" err="1"/>
              <a:t>YearStart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77795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3 </a:t>
            </a:r>
            <a:r>
              <a:rPr lang="en-US" cap="none" dirty="0" err="1"/>
              <a:t>con’t</a:t>
            </a:r>
            <a:endParaRPr lang="en-US" cap="non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407" y="1715955"/>
            <a:ext cx="5608593" cy="501895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Add a layer to facet obesity by year</a:t>
            </a:r>
          </a:p>
          <a:p>
            <a:pPr lvl="1"/>
            <a:r>
              <a:rPr lang="en-US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facet_wrap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 ~ year)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Try changing the color scheme using gradient2</a:t>
            </a:r>
          </a:p>
          <a:p>
            <a:pPr lvl="1"/>
            <a:r>
              <a:rPr lang="en-US" b="1" i="1" dirty="0">
                <a:solidFill>
                  <a:srgbClr val="C00000"/>
                </a:solidFill>
              </a:rPr>
              <a:t> scale_fill_gradient2(low = "green",</a:t>
            </a:r>
          </a:p>
          <a:p>
            <a:pPr lvl="1"/>
            <a:r>
              <a:rPr lang="en-US" b="1" i="1" dirty="0">
                <a:solidFill>
                  <a:srgbClr val="C00000"/>
                </a:solidFill>
              </a:rPr>
              <a:t>                      mid = "gray",</a:t>
            </a:r>
          </a:p>
          <a:p>
            <a:pPr lvl="1"/>
            <a:r>
              <a:rPr lang="en-US" b="1" i="1" dirty="0">
                <a:solidFill>
                  <a:srgbClr val="C00000"/>
                </a:solidFill>
              </a:rPr>
              <a:t>                      high = "yellow",</a:t>
            </a:r>
          </a:p>
          <a:p>
            <a:pPr lvl="1"/>
            <a:r>
              <a:rPr lang="en-US" b="1" i="1" dirty="0">
                <a:solidFill>
                  <a:srgbClr val="C00000"/>
                </a:solidFill>
              </a:rPr>
              <a:t>                      </a:t>
            </a:r>
            <a:r>
              <a:rPr lang="en-US" b="1" i="1" dirty="0" err="1">
                <a:solidFill>
                  <a:srgbClr val="C00000"/>
                </a:solidFill>
              </a:rPr>
              <a:t>na.value</a:t>
            </a:r>
            <a:r>
              <a:rPr lang="en-US" b="1" i="1" dirty="0">
                <a:solidFill>
                  <a:srgbClr val="C00000"/>
                </a:solidFill>
              </a:rPr>
              <a:t> = "gray")</a:t>
            </a:r>
          </a:p>
        </p:txBody>
      </p:sp>
      <p:sp>
        <p:nvSpPr>
          <p:cNvPr id="4" name="Up Arrow Callout 3"/>
          <p:cNvSpPr/>
          <p:nvPr/>
        </p:nvSpPr>
        <p:spPr>
          <a:xfrm>
            <a:off x="1893725" y="2693567"/>
            <a:ext cx="2479431" cy="1230923"/>
          </a:xfrm>
          <a:prstGeom prst="up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~ required to select a variable from obesity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422925"/>
            <a:ext cx="5868315" cy="341516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1207" y="2299374"/>
            <a:ext cx="6203107" cy="3661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737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FIPS Codes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004651"/>
            <a:ext cx="11029615" cy="1635366"/>
          </a:xfrm>
        </p:spPr>
        <p:txBody>
          <a:bodyPr/>
          <a:lstStyle/>
          <a:p>
            <a:r>
              <a:rPr lang="en-US" dirty="0"/>
              <a:t>FIPS </a:t>
            </a:r>
            <a:r>
              <a:rPr lang="en-US" dirty="0">
                <a:sym typeface="Wingdings" panose="05000000000000000000" pitchFamily="2" charset="2"/>
              </a:rPr>
              <a:t> Federal Information Processing Standards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Unique code for states &amp; counties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County FIPS begins with state’s two-number FIPS</a:t>
            </a:r>
          </a:p>
          <a:p>
            <a:pPr lvl="1"/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0149474"/>
              </p:ext>
            </p:extLst>
          </p:nvPr>
        </p:nvGraphicFramePr>
        <p:xfrm>
          <a:off x="3579448" y="3657603"/>
          <a:ext cx="4775249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1105">
                  <a:extLst>
                    <a:ext uri="{9D8B030D-6E8A-4147-A177-3AD203B41FA5}">
                      <a16:colId xmlns:a16="http://schemas.microsoft.com/office/drawing/2014/main" val="1551815624"/>
                    </a:ext>
                  </a:extLst>
                </a:gridCol>
                <a:gridCol w="1225868">
                  <a:extLst>
                    <a:ext uri="{9D8B030D-6E8A-4147-A177-3AD203B41FA5}">
                      <a16:colId xmlns:a16="http://schemas.microsoft.com/office/drawing/2014/main" val="3541920849"/>
                    </a:ext>
                  </a:extLst>
                </a:gridCol>
                <a:gridCol w="2328276">
                  <a:extLst>
                    <a:ext uri="{9D8B030D-6E8A-4147-A177-3AD203B41FA5}">
                      <a16:colId xmlns:a16="http://schemas.microsoft.com/office/drawing/2014/main" val="36289957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State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County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FIPS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8971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Alabama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34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Autauga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/>
                        <a:t>01</a:t>
                      </a:r>
                      <a:r>
                        <a:rPr lang="en-US" sz="2200" dirty="0"/>
                        <a:t>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8032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Baldwin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/>
                        <a:t>01</a:t>
                      </a:r>
                      <a:r>
                        <a:rPr lang="en-US" sz="2200" dirty="0"/>
                        <a:t>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9878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Barbour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u="sng" dirty="0"/>
                        <a:t>01</a:t>
                      </a:r>
                      <a:r>
                        <a:rPr lang="en-US" sz="2200" dirty="0"/>
                        <a:t>005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62637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39655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County Data with </a:t>
            </a:r>
            <a:r>
              <a:rPr lang="en-US" dirty="0" err="1"/>
              <a:t>socviz</a:t>
            </a:r>
            <a:r>
              <a:rPr lang="en-US" dirty="0"/>
              <a:t> package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7447" y="2296248"/>
            <a:ext cx="10063361" cy="3577013"/>
          </a:xfrm>
        </p:spPr>
        <p:txBody>
          <a:bodyPr>
            <a:normAutofit/>
          </a:bodyPr>
          <a:lstStyle/>
          <a:p>
            <a:r>
              <a:rPr lang="en-US" b="1" i="1" dirty="0" err="1">
                <a:solidFill>
                  <a:srgbClr val="7030A0"/>
                </a:solidFill>
              </a:rPr>
              <a:t>socviz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provides county map data</a:t>
            </a:r>
          </a:p>
          <a:p>
            <a:pPr lvl="1"/>
            <a:r>
              <a:rPr lang="en-US" dirty="0" err="1">
                <a:sym typeface="Wingdings" panose="05000000000000000000" pitchFamily="2" charset="2"/>
              </a:rPr>
              <a:t>county_map</a:t>
            </a:r>
            <a:r>
              <a:rPr lang="en-US" dirty="0">
                <a:sym typeface="Wingdings" panose="05000000000000000000" pitchFamily="2" charset="2"/>
              </a:rPr>
              <a:t> &amp; </a:t>
            </a:r>
            <a:r>
              <a:rPr lang="en-US" dirty="0" err="1">
                <a:sym typeface="Wingdings" panose="05000000000000000000" pitchFamily="2" charset="2"/>
              </a:rPr>
              <a:t>county_data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View(</a:t>
            </a:r>
            <a:r>
              <a:rPr lang="en-US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county_data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) 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 we will be using </a:t>
            </a:r>
            <a:r>
              <a:rPr lang="en-US" i="1" dirty="0" err="1">
                <a:solidFill>
                  <a:srgbClr val="C00000"/>
                </a:solidFill>
                <a:sym typeface="Wingdings" panose="05000000000000000000" pitchFamily="2" charset="2"/>
              </a:rPr>
              <a:t>pop_dens</a:t>
            </a:r>
            <a:r>
              <a:rPr lang="en-US" i="1" dirty="0">
                <a:solidFill>
                  <a:srgbClr val="C00000"/>
                </a:solidFill>
                <a:sym typeface="Wingdings" panose="05000000000000000000" pitchFamily="2" charset="2"/>
              </a:rPr>
              <a:t> 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(population density)</a:t>
            </a:r>
          </a:p>
          <a:p>
            <a:pPr lvl="1"/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glimpse(</a:t>
            </a:r>
            <a:r>
              <a:rPr lang="en-US" b="1" i="1" dirty="0" err="1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county_data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) </a:t>
            </a:r>
            <a:endParaRPr lang="en-US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lvl="2"/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What is the data type of </a:t>
            </a:r>
            <a:r>
              <a:rPr lang="en-US" b="1" dirty="0" err="1">
                <a:solidFill>
                  <a:srgbClr val="C00000"/>
                </a:solidFill>
                <a:sym typeface="Wingdings" panose="05000000000000000000" pitchFamily="2" charset="2"/>
              </a:rPr>
              <a:t>pop_dens</a:t>
            </a:r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?</a:t>
            </a:r>
          </a:p>
          <a:p>
            <a:pPr lvl="2"/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Is this a DISCRETE or CONTINUOUS value?</a:t>
            </a:r>
            <a:endParaRPr lang="en-US" b="1" dirty="0">
              <a:solidFill>
                <a:srgbClr val="C00000"/>
              </a:solidFill>
            </a:endParaRPr>
          </a:p>
          <a:p>
            <a:pPr lvl="1"/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counties &lt;-  </a:t>
            </a:r>
            <a:r>
              <a:rPr lang="en-US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left_join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</a:t>
            </a:r>
            <a:r>
              <a:rPr lang="en-US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county_map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, </a:t>
            </a:r>
            <a:r>
              <a:rPr lang="en-US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county_data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, by = "id")</a:t>
            </a:r>
          </a:p>
        </p:txBody>
      </p:sp>
      <p:sp>
        <p:nvSpPr>
          <p:cNvPr id="4" name="Oval 3"/>
          <p:cNvSpPr/>
          <p:nvPr/>
        </p:nvSpPr>
        <p:spPr>
          <a:xfrm>
            <a:off x="8666923" y="5308600"/>
            <a:ext cx="1226378" cy="56466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Up Arrow Callout 4"/>
          <p:cNvSpPr/>
          <p:nvPr/>
        </p:nvSpPr>
        <p:spPr>
          <a:xfrm>
            <a:off x="8378412" y="5969000"/>
            <a:ext cx="1803400" cy="711200"/>
          </a:xfrm>
          <a:prstGeom prst="upArrowCallou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/>
              <a:t>id</a:t>
            </a:r>
            <a:r>
              <a:rPr lang="en-US" dirty="0"/>
              <a:t> is FIPS code</a:t>
            </a:r>
          </a:p>
        </p:txBody>
      </p:sp>
    </p:spTree>
    <p:extLst>
      <p:ext uri="{BB962C8B-B14F-4D97-AF65-F5344CB8AC3E}">
        <p14:creationId xmlns:p14="http://schemas.microsoft.com/office/powerpoint/2010/main" val="3492587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4 – Plot US County Data based on Population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916727"/>
            <a:ext cx="6311977" cy="4941273"/>
          </a:xfrm>
        </p:spPr>
        <p:txBody>
          <a:bodyPr>
            <a:normAutofit fontScale="77500" lnSpcReduction="20000"/>
          </a:bodyPr>
          <a:lstStyle/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counties %&gt;%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</a:t>
            </a:r>
            <a:r>
              <a:rPr lang="en-US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ggplot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(mapping = </a:t>
            </a:r>
            <a:r>
              <a:rPr lang="en-US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aes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(x = long,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                y = </a:t>
            </a:r>
            <a:r>
              <a:rPr lang="en-US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lat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,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                group = group,</a:t>
            </a:r>
          </a:p>
          <a:p>
            <a:r>
              <a:rPr lang="en-US" b="1" i="1" dirty="0">
                <a:solidFill>
                  <a:srgbClr val="C00000"/>
                </a:solidFill>
              </a:rPr>
              <a:t>                       fill = </a:t>
            </a:r>
            <a:r>
              <a:rPr lang="en-US" b="1" i="1" dirty="0" err="1">
                <a:solidFill>
                  <a:srgbClr val="C00000"/>
                </a:solidFill>
              </a:rPr>
              <a:t>pop_dens</a:t>
            </a:r>
            <a:r>
              <a:rPr lang="en-US" dirty="0"/>
              <a:t>))  +  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</a:t>
            </a:r>
            <a:r>
              <a:rPr lang="en-US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geom_polygon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(color = "gray", size = 0.5) +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</a:t>
            </a:r>
            <a:r>
              <a:rPr lang="en-US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coord_equal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() +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</a:t>
            </a:r>
            <a:r>
              <a:rPr lang="en-US" b="1" i="1" dirty="0" err="1">
                <a:solidFill>
                  <a:srgbClr val="C00000"/>
                </a:solidFill>
              </a:rPr>
              <a:t>scale_fill_brewer</a:t>
            </a:r>
            <a:r>
              <a:rPr lang="en-US" b="1" i="1" dirty="0">
                <a:solidFill>
                  <a:srgbClr val="C00000"/>
                </a:solidFill>
              </a:rPr>
              <a:t>(palette = "Blues") +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</a:t>
            </a:r>
            <a:r>
              <a:rPr lang="en-US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theme_map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() +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guides(fill = </a:t>
            </a:r>
            <a:r>
              <a:rPr lang="en-US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guide_legend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</a:t>
            </a:r>
            <a:r>
              <a:rPr lang="en-US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nrow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= 1)) +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theme(</a:t>
            </a:r>
            <a:r>
              <a:rPr lang="en-US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legend.position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= "bottom")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3266" y="2425944"/>
            <a:ext cx="5228183" cy="3957271"/>
          </a:xfrm>
          <a:prstGeom prst="rect">
            <a:avLst/>
          </a:prstGeom>
        </p:spPr>
      </p:pic>
      <p:sp>
        <p:nvSpPr>
          <p:cNvPr id="5" name="Down Arrow Callout 4"/>
          <p:cNvSpPr/>
          <p:nvPr/>
        </p:nvSpPr>
        <p:spPr>
          <a:xfrm>
            <a:off x="5310554" y="2425945"/>
            <a:ext cx="1002323" cy="1460256"/>
          </a:xfrm>
          <a:prstGeom prst="downArrowCallout">
            <a:avLst>
              <a:gd name="adj1" fmla="val 25000"/>
              <a:gd name="adj2" fmla="val 25000"/>
              <a:gd name="adj3" fmla="val 25000"/>
              <a:gd name="adj4" fmla="val 669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50% of actual size</a:t>
            </a:r>
          </a:p>
        </p:txBody>
      </p:sp>
    </p:spTree>
    <p:extLst>
      <p:ext uri="{BB962C8B-B14F-4D97-AF65-F5344CB8AC3E}">
        <p14:creationId xmlns:p14="http://schemas.microsoft.com/office/powerpoint/2010/main" val="540483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County Data with </a:t>
            </a:r>
            <a:r>
              <a:rPr lang="en-US" dirty="0" err="1"/>
              <a:t>usmap</a:t>
            </a:r>
            <a:r>
              <a:rPr lang="en-US" dirty="0"/>
              <a:t> package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7447" y="2296248"/>
            <a:ext cx="10063361" cy="4221430"/>
          </a:xfrm>
        </p:spPr>
        <p:txBody>
          <a:bodyPr>
            <a:normAutofit fontScale="70000" lnSpcReduction="20000"/>
          </a:bodyPr>
          <a:lstStyle/>
          <a:p>
            <a:r>
              <a:rPr lang="en-US" b="1" i="1" dirty="0" err="1">
                <a:solidFill>
                  <a:srgbClr val="7030A0"/>
                </a:solidFill>
              </a:rPr>
              <a:t>usmaps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also provides county map data</a:t>
            </a:r>
          </a:p>
          <a:p>
            <a:pPr lvl="1"/>
            <a:r>
              <a:rPr lang="en-US" sz="2600" b="1" i="1" dirty="0" err="1">
                <a:solidFill>
                  <a:srgbClr val="C00000"/>
                </a:solidFill>
                <a:sym typeface="Wingdings" panose="05000000000000000000" pitchFamily="2" charset="2"/>
              </a:rPr>
              <a:t>us_counties</a:t>
            </a:r>
            <a:r>
              <a:rPr lang="en-US" sz="2600" b="1" i="1" dirty="0">
                <a:solidFill>
                  <a:srgbClr val="C00000"/>
                </a:solidFill>
                <a:sym typeface="Wingdings" panose="05000000000000000000" pitchFamily="2" charset="2"/>
              </a:rPr>
              <a:t> </a:t>
            </a:r>
            <a:r>
              <a:rPr lang="en-US" sz="2600" b="1" i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&lt;- </a:t>
            </a:r>
            <a:r>
              <a:rPr lang="en-US" sz="2600" b="1" i="1" dirty="0" err="1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us_map</a:t>
            </a:r>
            <a:r>
              <a:rPr lang="en-US" sz="2600" b="1" i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("counties") %&gt;%</a:t>
            </a:r>
          </a:p>
          <a:p>
            <a:pPr lvl="1"/>
            <a:r>
              <a:rPr lang="en-US" sz="2600" b="1" i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  rename(id = </a:t>
            </a:r>
            <a:r>
              <a:rPr lang="en-US" sz="2600" b="1" i="1" dirty="0" err="1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fips</a:t>
            </a:r>
            <a:r>
              <a:rPr lang="en-US" sz="2600" b="1" i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)</a:t>
            </a:r>
          </a:p>
          <a:p>
            <a:pPr lvl="1"/>
            <a:endParaRPr lang="en-US" dirty="0">
              <a:sym typeface="Wingdings" panose="05000000000000000000" pitchFamily="2" charset="2"/>
            </a:endParaRPr>
          </a:p>
          <a:p>
            <a:pPr lvl="1"/>
            <a:r>
              <a:rPr lang="en-US" b="1" dirty="0" err="1">
                <a:solidFill>
                  <a:srgbClr val="C00000"/>
                </a:solidFill>
                <a:sym typeface="Wingdings" panose="05000000000000000000" pitchFamily="2" charset="2"/>
              </a:rPr>
              <a:t>us_counties_and_data</a:t>
            </a:r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 </a:t>
            </a:r>
            <a:r>
              <a:rPr lang="en-US" sz="2800" b="1" i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&lt;- merge(</a:t>
            </a:r>
            <a:r>
              <a:rPr lang="en-US" sz="2800" b="1" i="1" dirty="0" err="1">
                <a:solidFill>
                  <a:srgbClr val="C00000"/>
                </a:solidFill>
                <a:sym typeface="Wingdings" panose="05000000000000000000" pitchFamily="2" charset="2"/>
              </a:rPr>
              <a:t>us_counties</a:t>
            </a:r>
            <a:r>
              <a:rPr lang="en-US" sz="2800" b="1" i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, </a:t>
            </a:r>
            <a:r>
              <a:rPr lang="en-US" sz="2800" b="1" i="1" dirty="0" err="1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county_data</a:t>
            </a:r>
            <a:r>
              <a:rPr lang="en-US" sz="2800" b="1" i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, by="id")</a:t>
            </a:r>
          </a:p>
          <a:p>
            <a:pPr lvl="1"/>
            <a:endParaRPr lang="en-US" dirty="0">
              <a:sym typeface="Wingdings" panose="05000000000000000000" pitchFamily="2" charset="2"/>
            </a:endParaRPr>
          </a:p>
          <a:p>
            <a:pPr lvl="1"/>
            <a:r>
              <a:rPr lang="en-US" sz="2800" b="1" i="1" dirty="0" err="1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plot_usmap</a:t>
            </a:r>
            <a:r>
              <a:rPr lang="en-US" sz="2800" b="1" i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() +</a:t>
            </a:r>
          </a:p>
          <a:p>
            <a:pPr lvl="1"/>
            <a:r>
              <a:rPr lang="en-US" sz="2800" b="1" i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  </a:t>
            </a:r>
            <a:r>
              <a:rPr lang="en-US" sz="2800" b="1" i="1" dirty="0" err="1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geom_sf</a:t>
            </a:r>
            <a:r>
              <a:rPr lang="en-US" sz="2800" b="1" i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(data=</a:t>
            </a:r>
            <a:r>
              <a:rPr lang="en-US" b="1" dirty="0" err="1">
                <a:solidFill>
                  <a:srgbClr val="C00000"/>
                </a:solidFill>
                <a:sym typeface="Wingdings" panose="05000000000000000000" pitchFamily="2" charset="2"/>
              </a:rPr>
              <a:t>us_counties_and_data</a:t>
            </a:r>
            <a:r>
              <a:rPr lang="en-US" sz="2800" b="1" i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, </a:t>
            </a:r>
            <a:r>
              <a:rPr lang="en-US" sz="2800" b="1" i="1" dirty="0" err="1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aes</a:t>
            </a:r>
            <a:r>
              <a:rPr lang="en-US" sz="2800" b="1" i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(fill=</a:t>
            </a:r>
            <a:r>
              <a:rPr lang="en-US" sz="2800" b="1" i="1" dirty="0" err="1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pop_dens</a:t>
            </a:r>
            <a:r>
              <a:rPr lang="en-US" sz="2800" b="1" i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)) +</a:t>
            </a:r>
          </a:p>
          <a:p>
            <a:pPr lvl="1"/>
            <a:r>
              <a:rPr lang="en-US" sz="2800" b="1" i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  </a:t>
            </a:r>
            <a:r>
              <a:rPr lang="en-US" sz="2800" b="1" i="1" dirty="0" err="1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scale_fill_brewer</a:t>
            </a:r>
            <a:r>
              <a:rPr lang="en-US" sz="2800" b="1" i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(palette = "Blues") +</a:t>
            </a:r>
          </a:p>
          <a:p>
            <a:pPr lvl="1"/>
            <a:r>
              <a:rPr lang="en-US" sz="2800" b="1" i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  guides(fill = </a:t>
            </a:r>
            <a:r>
              <a:rPr lang="en-US" sz="2800" b="1" i="1" dirty="0" err="1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guide_legend</a:t>
            </a:r>
            <a:r>
              <a:rPr lang="en-US" sz="2800" b="1" i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(</a:t>
            </a:r>
            <a:r>
              <a:rPr lang="en-US" sz="2800" b="1" i="1" dirty="0" err="1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nrow</a:t>
            </a:r>
            <a:r>
              <a:rPr lang="en-US" sz="2800" b="1" i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 = 1)) +</a:t>
            </a:r>
          </a:p>
          <a:p>
            <a:pPr lvl="1"/>
            <a:r>
              <a:rPr lang="en-US" sz="2800" b="1" i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  theme(</a:t>
            </a:r>
            <a:r>
              <a:rPr lang="en-US" sz="2800" b="1" i="1" dirty="0" err="1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legend.position</a:t>
            </a:r>
            <a:r>
              <a:rPr lang="en-US" sz="2800" b="1" i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 = "bottom")</a:t>
            </a:r>
          </a:p>
        </p:txBody>
      </p:sp>
      <p:sp>
        <p:nvSpPr>
          <p:cNvPr id="4" name="Oval 3"/>
          <p:cNvSpPr/>
          <p:nvPr/>
        </p:nvSpPr>
        <p:spPr>
          <a:xfrm>
            <a:off x="8391916" y="3683661"/>
            <a:ext cx="1226378" cy="56466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Up Arrow Callout 4"/>
          <p:cNvSpPr/>
          <p:nvPr/>
        </p:nvSpPr>
        <p:spPr>
          <a:xfrm>
            <a:off x="8103405" y="4248322"/>
            <a:ext cx="1803400" cy="711200"/>
          </a:xfrm>
          <a:prstGeom prst="upArrowCallou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/>
              <a:t>id</a:t>
            </a:r>
            <a:r>
              <a:rPr lang="en-US" dirty="0"/>
              <a:t> is FIPS code</a:t>
            </a:r>
          </a:p>
        </p:txBody>
      </p:sp>
    </p:spTree>
    <p:extLst>
      <p:ext uri="{BB962C8B-B14F-4D97-AF65-F5344CB8AC3E}">
        <p14:creationId xmlns:p14="http://schemas.microsoft.com/office/powerpoint/2010/main" val="2501063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5 – Mississippi Population Density with </a:t>
            </a:r>
            <a:r>
              <a:rPr lang="en-US" dirty="0" err="1"/>
              <a:t>Socviz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5846" y="1715956"/>
            <a:ext cx="7420708" cy="5018952"/>
          </a:xfrm>
        </p:spPr>
        <p:txBody>
          <a:bodyPr>
            <a:normAutofit fontScale="77500" lnSpcReduction="20000"/>
          </a:bodyPr>
          <a:lstStyle/>
          <a:p>
            <a:r>
              <a:rPr lang="en-US" b="1" i="1" dirty="0" err="1">
                <a:solidFill>
                  <a:srgbClr val="C00000"/>
                </a:solidFill>
              </a:rPr>
              <a:t>ms</a:t>
            </a:r>
            <a:r>
              <a:rPr lang="en-US" b="1" i="1" dirty="0">
                <a:solidFill>
                  <a:srgbClr val="C00000"/>
                </a:solidFill>
              </a:rPr>
              <a:t> &lt;- </a:t>
            </a:r>
            <a:r>
              <a:rPr lang="en-US" b="1" i="1" dirty="0" err="1">
                <a:solidFill>
                  <a:srgbClr val="C00000"/>
                </a:solidFill>
              </a:rPr>
              <a:t>left_join</a:t>
            </a:r>
            <a:r>
              <a:rPr lang="en-US" b="1" i="1" dirty="0">
                <a:solidFill>
                  <a:srgbClr val="C00000"/>
                </a:solidFill>
              </a:rPr>
              <a:t>(</a:t>
            </a:r>
            <a:r>
              <a:rPr lang="en-US" b="1" i="1" dirty="0" err="1">
                <a:solidFill>
                  <a:srgbClr val="C00000"/>
                </a:solidFill>
              </a:rPr>
              <a:t>county_map</a:t>
            </a:r>
            <a:r>
              <a:rPr lang="en-US" b="1" i="1" dirty="0">
                <a:solidFill>
                  <a:srgbClr val="C00000"/>
                </a:solidFill>
              </a:rPr>
              <a:t>, </a:t>
            </a:r>
            <a:r>
              <a:rPr lang="en-US" b="1" i="1" dirty="0" err="1">
                <a:solidFill>
                  <a:srgbClr val="C00000"/>
                </a:solidFill>
              </a:rPr>
              <a:t>county_data</a:t>
            </a:r>
            <a:r>
              <a:rPr lang="en-US" b="1" i="1" dirty="0">
                <a:solidFill>
                  <a:srgbClr val="C00000"/>
                </a:solidFill>
              </a:rPr>
              <a:t>, by="id") %&gt;%</a:t>
            </a:r>
          </a:p>
          <a:p>
            <a:r>
              <a:rPr lang="en-US" b="1" i="1" dirty="0">
                <a:solidFill>
                  <a:srgbClr val="C00000"/>
                </a:solidFill>
              </a:rPr>
              <a:t>  filter(state == "MS")</a:t>
            </a:r>
          </a:p>
          <a:p>
            <a:r>
              <a:rPr lang="en-US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ms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%&gt;%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</a:t>
            </a:r>
            <a:r>
              <a:rPr lang="en-US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ggplot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(mapping = </a:t>
            </a:r>
            <a:r>
              <a:rPr lang="en-US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aes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(x = long,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                y = </a:t>
            </a:r>
            <a:r>
              <a:rPr lang="en-US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lat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,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                group = group,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                fill = </a:t>
            </a:r>
            <a:r>
              <a:rPr lang="en-US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pop_dens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)) +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</a:t>
            </a:r>
            <a:r>
              <a:rPr lang="en-US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geom_polygon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(color = "gray", size = 0.5) +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</a:t>
            </a:r>
            <a:r>
              <a:rPr lang="en-US" b="1" i="1" dirty="0" err="1">
                <a:solidFill>
                  <a:srgbClr val="C00000"/>
                </a:solidFill>
              </a:rPr>
              <a:t>scale_fill_brewer</a:t>
            </a:r>
            <a:r>
              <a:rPr lang="en-US" b="1" i="1" dirty="0">
                <a:solidFill>
                  <a:srgbClr val="C00000"/>
                </a:solidFill>
              </a:rPr>
              <a:t>(palette = "Set1",</a:t>
            </a:r>
            <a:br>
              <a:rPr lang="en-US" b="1" i="1" dirty="0">
                <a:solidFill>
                  <a:srgbClr val="C00000"/>
                </a:solidFill>
              </a:rPr>
            </a:br>
            <a:r>
              <a:rPr lang="en-US" b="1" i="1" dirty="0">
                <a:solidFill>
                  <a:srgbClr val="C00000"/>
                </a:solidFill>
              </a:rPr>
              <a:t>                              direction = -1) +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</a:t>
            </a:r>
            <a:r>
              <a:rPr lang="en-US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coord_equal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() +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</a:t>
            </a:r>
            <a:r>
              <a:rPr lang="en-US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theme_map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()</a:t>
            </a:r>
          </a:p>
        </p:txBody>
      </p:sp>
      <p:sp>
        <p:nvSpPr>
          <p:cNvPr id="4" name="Up Arrow Callout 3"/>
          <p:cNvSpPr/>
          <p:nvPr/>
        </p:nvSpPr>
        <p:spPr>
          <a:xfrm>
            <a:off x="2549769" y="5627077"/>
            <a:ext cx="3024553" cy="1107831"/>
          </a:xfrm>
          <a:prstGeom prst="upArrowCallout">
            <a:avLst>
              <a:gd name="adj1" fmla="val 25000"/>
              <a:gd name="adj2" fmla="val 35000"/>
              <a:gd name="adj3" fmla="val 25000"/>
              <a:gd name="adj4" fmla="val 569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Can use </a:t>
            </a:r>
            <a:r>
              <a:rPr lang="en-US" i="1" dirty="0"/>
              <a:t>direction</a:t>
            </a:r>
            <a:r>
              <a:rPr lang="en-US" dirty="0"/>
              <a:t> = -1 to reverse colors – DISCRETE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6554" y="2063073"/>
            <a:ext cx="3672699" cy="4324717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10219330" y="3823010"/>
            <a:ext cx="1226378" cy="831051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own Arrow Callout 7"/>
          <p:cNvSpPr/>
          <p:nvPr/>
        </p:nvSpPr>
        <p:spPr>
          <a:xfrm>
            <a:off x="10219330" y="2152532"/>
            <a:ext cx="1498600" cy="1581019"/>
          </a:xfrm>
          <a:prstGeom prst="downArrowCallout">
            <a:avLst>
              <a:gd name="adj1" fmla="val 16525"/>
              <a:gd name="adj2" fmla="val 17373"/>
              <a:gd name="adj3" fmla="val 26695"/>
              <a:gd name="adj4" fmla="val 649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Bins in legend because this is discrete data</a:t>
            </a:r>
          </a:p>
        </p:txBody>
      </p:sp>
    </p:spTree>
    <p:extLst>
      <p:ext uri="{BB962C8B-B14F-4D97-AF65-F5344CB8AC3E}">
        <p14:creationId xmlns:p14="http://schemas.microsoft.com/office/powerpoint/2010/main" val="2849327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6 – Mississippi Population Density </a:t>
            </a:r>
            <a:r>
              <a:rPr lang="en-US" dirty="0">
                <a:sym typeface="Wingdings" panose="05000000000000000000" pitchFamily="2" charset="2"/>
              </a:rPr>
              <a:t> Continuous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can data be wrangled to create a new column that is continuous INSTEAD of discrete </a:t>
            </a:r>
            <a:r>
              <a:rPr lang="en-US" dirty="0">
                <a:sym typeface="Wingdings" panose="05000000000000000000" pitchFamily="2" charset="2"/>
              </a:rPr>
              <a:t> think percentages?</a:t>
            </a:r>
            <a:endParaRPr lang="en-US" dirty="0"/>
          </a:p>
          <a:p>
            <a:r>
              <a:rPr lang="en-US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MScounties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&lt;- </a:t>
            </a:r>
            <a:r>
              <a:rPr lang="en-US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county_data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%&gt;%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filter(state == "MS") %&gt;%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mutate(</a:t>
            </a:r>
            <a:r>
              <a:rPr lang="en-US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pop_per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= pop/sum(pop))</a:t>
            </a:r>
          </a:p>
          <a:p>
            <a:endParaRPr lang="en-US" b="1" i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7910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/>
              <a:t>Example 6 </a:t>
            </a:r>
            <a:r>
              <a:rPr lang="en-US" cap="none" dirty="0" err="1"/>
              <a:t>con’t</a:t>
            </a:r>
            <a:r>
              <a:rPr lang="en-US" cap="none" dirty="0"/>
              <a:t> – Plot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969478"/>
            <a:ext cx="6786762" cy="4589584"/>
          </a:xfrm>
        </p:spPr>
        <p:txBody>
          <a:bodyPr>
            <a:noAutofit/>
          </a:bodyPr>
          <a:lstStyle/>
          <a:p>
            <a:r>
              <a:rPr lang="en-US" sz="2000" i="1" dirty="0" err="1">
                <a:solidFill>
                  <a:srgbClr val="C00000"/>
                </a:solidFill>
              </a:rPr>
              <a:t>MSpop</a:t>
            </a:r>
            <a:r>
              <a:rPr lang="en-US" sz="2000" i="1" dirty="0">
                <a:solidFill>
                  <a:srgbClr val="C00000"/>
                </a:solidFill>
              </a:rPr>
              <a:t> &lt;- </a:t>
            </a:r>
            <a:r>
              <a:rPr lang="en-US" sz="2000" i="1" dirty="0" err="1">
                <a:solidFill>
                  <a:srgbClr val="C00000"/>
                </a:solidFill>
              </a:rPr>
              <a:t>left_join</a:t>
            </a:r>
            <a:r>
              <a:rPr lang="en-US" sz="2000" i="1" dirty="0">
                <a:solidFill>
                  <a:srgbClr val="C00000"/>
                </a:solidFill>
              </a:rPr>
              <a:t>(</a:t>
            </a:r>
            <a:r>
              <a:rPr lang="en-US" sz="2000" i="1" dirty="0" err="1">
                <a:solidFill>
                  <a:srgbClr val="C00000"/>
                </a:solidFill>
              </a:rPr>
              <a:t>county_map</a:t>
            </a:r>
            <a:r>
              <a:rPr lang="en-US" sz="2000" i="1" dirty="0">
                <a:solidFill>
                  <a:srgbClr val="C00000"/>
                </a:solidFill>
              </a:rPr>
              <a:t>, </a:t>
            </a:r>
            <a:r>
              <a:rPr lang="en-US" sz="2000" i="1" dirty="0" err="1">
                <a:solidFill>
                  <a:srgbClr val="C00000"/>
                </a:solidFill>
              </a:rPr>
              <a:t>MScounties</a:t>
            </a:r>
            <a:r>
              <a:rPr lang="en-US" sz="2000" i="1" dirty="0">
                <a:solidFill>
                  <a:srgbClr val="C00000"/>
                </a:solidFill>
              </a:rPr>
              <a:t>, by = "id") %&gt;%</a:t>
            </a:r>
          </a:p>
          <a:p>
            <a:r>
              <a:rPr lang="en-US" sz="2000" i="1" dirty="0">
                <a:solidFill>
                  <a:srgbClr val="C00000"/>
                </a:solidFill>
              </a:rPr>
              <a:t>  filter(state == "MS")</a:t>
            </a:r>
          </a:p>
          <a:p>
            <a:r>
              <a:rPr lang="en-US" sz="2000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MSpop</a:t>
            </a:r>
            <a:r>
              <a:rPr lang="en-US" sz="20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%&gt;%</a:t>
            </a:r>
          </a:p>
          <a:p>
            <a:r>
              <a:rPr lang="en-US" sz="20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</a:t>
            </a:r>
            <a:r>
              <a:rPr lang="en-US" sz="2000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ggplot</a:t>
            </a:r>
            <a:r>
              <a:rPr lang="en-US" sz="20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(mapping = </a:t>
            </a:r>
            <a:r>
              <a:rPr lang="en-US" sz="2000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aes</a:t>
            </a:r>
            <a:r>
              <a:rPr lang="en-US" sz="20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(x = long,</a:t>
            </a:r>
          </a:p>
          <a:p>
            <a:r>
              <a:rPr lang="en-US" sz="20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                y = </a:t>
            </a:r>
            <a:r>
              <a:rPr lang="en-US" sz="2000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lat</a:t>
            </a:r>
            <a:r>
              <a:rPr lang="en-US" sz="20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,</a:t>
            </a:r>
          </a:p>
          <a:p>
            <a:r>
              <a:rPr lang="en-US" sz="20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                group = group,</a:t>
            </a:r>
          </a:p>
          <a:p>
            <a:r>
              <a:rPr lang="en-US" sz="20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                fill = </a:t>
            </a:r>
            <a:r>
              <a:rPr lang="en-US" sz="2000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pop_per</a:t>
            </a:r>
            <a:r>
              <a:rPr lang="en-US" sz="20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)) +</a:t>
            </a:r>
          </a:p>
          <a:p>
            <a:r>
              <a:rPr lang="en-US" sz="20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</a:t>
            </a:r>
            <a:r>
              <a:rPr lang="en-US" sz="2000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geom_polygon</a:t>
            </a:r>
            <a:r>
              <a:rPr lang="en-US" sz="20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(color = "gray", size = 0.5) +</a:t>
            </a:r>
          </a:p>
          <a:p>
            <a:r>
              <a:rPr lang="en-US" sz="20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</a:t>
            </a:r>
            <a:r>
              <a:rPr lang="en-US" sz="2000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scale_fill_distiller</a:t>
            </a:r>
            <a:r>
              <a:rPr lang="en-US" sz="20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(palette = "</a:t>
            </a:r>
            <a:r>
              <a:rPr lang="en-US" sz="2000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PuRd</a:t>
            </a:r>
            <a:r>
              <a:rPr lang="en-US" sz="20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", </a:t>
            </a:r>
          </a:p>
          <a:p>
            <a:r>
              <a:rPr lang="en-US" sz="20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                trans = "reverse") +</a:t>
            </a:r>
          </a:p>
          <a:p>
            <a:r>
              <a:rPr lang="en-US" sz="20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</a:t>
            </a:r>
            <a:r>
              <a:rPr lang="en-US" sz="2000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coord_equal</a:t>
            </a:r>
            <a:r>
              <a:rPr lang="en-US" sz="20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() +  </a:t>
            </a:r>
            <a:r>
              <a:rPr lang="en-US" sz="2000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theme_map</a:t>
            </a:r>
            <a:r>
              <a:rPr lang="en-US" sz="20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7954" y="1034506"/>
            <a:ext cx="3901908" cy="4594522"/>
          </a:xfrm>
          <a:prstGeom prst="rect">
            <a:avLst/>
          </a:prstGeom>
        </p:spPr>
      </p:pic>
      <p:sp>
        <p:nvSpPr>
          <p:cNvPr id="5" name="Left Arrow Callout 4"/>
          <p:cNvSpPr/>
          <p:nvPr/>
        </p:nvSpPr>
        <p:spPr>
          <a:xfrm>
            <a:off x="5275385" y="5292968"/>
            <a:ext cx="3077307" cy="1389185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6949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Only use trans=“reverse” NOT direction = -1  CONTINUOUS</a:t>
            </a:r>
          </a:p>
        </p:txBody>
      </p:sp>
      <p:sp>
        <p:nvSpPr>
          <p:cNvPr id="6" name="Oval 5"/>
          <p:cNvSpPr/>
          <p:nvPr/>
        </p:nvSpPr>
        <p:spPr>
          <a:xfrm>
            <a:off x="10345127" y="2858767"/>
            <a:ext cx="924735" cy="1126219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own Arrow Callout 6"/>
          <p:cNvSpPr/>
          <p:nvPr/>
        </p:nvSpPr>
        <p:spPr>
          <a:xfrm>
            <a:off x="10345127" y="1715956"/>
            <a:ext cx="1265681" cy="1024471"/>
          </a:xfrm>
          <a:prstGeom prst="downArrowCallout">
            <a:avLst>
              <a:gd name="adj1" fmla="val 16525"/>
              <a:gd name="adj2" fmla="val 17373"/>
              <a:gd name="adj3" fmla="val 26695"/>
              <a:gd name="adj4" fmla="val 649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Legend is continuous</a:t>
            </a:r>
          </a:p>
        </p:txBody>
      </p:sp>
    </p:spTree>
    <p:extLst>
      <p:ext uri="{BB962C8B-B14F-4D97-AF65-F5344CB8AC3E}">
        <p14:creationId xmlns:p14="http://schemas.microsoft.com/office/powerpoint/2010/main" val="320540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7 – Mercator Projection of Mississippi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916723"/>
            <a:ext cx="5422390" cy="4818185"/>
          </a:xfrm>
        </p:spPr>
        <p:txBody>
          <a:bodyPr>
            <a:noAutofit/>
          </a:bodyPr>
          <a:lstStyle/>
          <a:p>
            <a:r>
              <a:rPr lang="en-US" sz="2400" dirty="0"/>
              <a:t>Use </a:t>
            </a:r>
            <a:r>
              <a:rPr lang="en-US" sz="2400" dirty="0" err="1"/>
              <a:t>map_data</a:t>
            </a:r>
            <a:r>
              <a:rPr lang="en-US" sz="2400" dirty="0"/>
              <a:t> for MERCATOR</a:t>
            </a:r>
          </a:p>
          <a:p>
            <a:r>
              <a:rPr lang="en-US" sz="2400" b="1" i="1" dirty="0" err="1">
                <a:solidFill>
                  <a:srgbClr val="C00000"/>
                </a:solidFill>
              </a:rPr>
              <a:t>MScountiesALT</a:t>
            </a:r>
            <a:r>
              <a:rPr lang="en-US" sz="2400" b="1" i="1" dirty="0">
                <a:solidFill>
                  <a:srgbClr val="C00000"/>
                </a:solidFill>
              </a:rPr>
              <a:t> &lt;- </a:t>
            </a:r>
            <a:r>
              <a:rPr lang="en-US" sz="2400" b="1" i="1" dirty="0" err="1">
                <a:solidFill>
                  <a:srgbClr val="C00000"/>
                </a:solidFill>
              </a:rPr>
              <a:t>map_data</a:t>
            </a:r>
            <a:r>
              <a:rPr lang="en-US" sz="2400" b="1" i="1" dirty="0">
                <a:solidFill>
                  <a:srgbClr val="C00000"/>
                </a:solidFill>
              </a:rPr>
              <a:t>(map="county", region="</a:t>
            </a:r>
            <a:r>
              <a:rPr lang="en-US" sz="2400" b="1" i="1" dirty="0" err="1">
                <a:solidFill>
                  <a:srgbClr val="C00000"/>
                </a:solidFill>
              </a:rPr>
              <a:t>mississippi</a:t>
            </a:r>
            <a:r>
              <a:rPr lang="en-US" sz="2400" b="1" i="1" dirty="0">
                <a:solidFill>
                  <a:srgbClr val="C00000"/>
                </a:solidFill>
              </a:rPr>
              <a:t>")</a:t>
            </a:r>
          </a:p>
          <a:p>
            <a:endParaRPr lang="en-US" sz="2400" dirty="0"/>
          </a:p>
          <a:p>
            <a:r>
              <a:rPr lang="en-US" sz="2400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MScountiesALT</a:t>
            </a:r>
            <a:r>
              <a:rPr lang="en-US" sz="24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%&gt;% </a:t>
            </a:r>
          </a:p>
          <a:p>
            <a:r>
              <a:rPr lang="en-US" sz="24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</a:t>
            </a:r>
            <a:r>
              <a:rPr lang="en-US" sz="2400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ggplot</a:t>
            </a:r>
            <a:r>
              <a:rPr lang="en-US" sz="24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(mapping = </a:t>
            </a:r>
            <a:r>
              <a:rPr lang="en-US" sz="2400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aes</a:t>
            </a:r>
            <a:r>
              <a:rPr lang="en-US" sz="24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(x = long,</a:t>
            </a:r>
          </a:p>
          <a:p>
            <a:r>
              <a:rPr lang="en-US" sz="24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                y = </a:t>
            </a:r>
            <a:r>
              <a:rPr lang="en-US" sz="2400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lat</a:t>
            </a:r>
            <a:r>
              <a:rPr lang="en-US" sz="24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,</a:t>
            </a:r>
          </a:p>
          <a:p>
            <a:r>
              <a:rPr lang="en-US" sz="24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                group = group,</a:t>
            </a:r>
          </a:p>
          <a:p>
            <a:r>
              <a:rPr lang="en-US" sz="24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                fill=</a:t>
            </a:r>
            <a:r>
              <a:rPr lang="en-US" sz="2400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subregion</a:t>
            </a:r>
            <a:r>
              <a:rPr lang="en-US" sz="24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)) +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 </a:t>
            </a:r>
            <a:r>
              <a:rPr lang="en-US" sz="2400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geom_polygon</a:t>
            </a:r>
            <a:r>
              <a:rPr lang="en-US" sz="24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(color="black") +</a:t>
            </a:r>
          </a:p>
          <a:p>
            <a:r>
              <a:rPr lang="en-US" sz="2400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coord_quickmap</a:t>
            </a:r>
            <a:r>
              <a:rPr lang="en-US" sz="24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() +</a:t>
            </a:r>
          </a:p>
          <a:p>
            <a:r>
              <a:rPr lang="en-US" sz="24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guides(fill=FALSE) +</a:t>
            </a:r>
          </a:p>
          <a:p>
            <a:r>
              <a:rPr lang="en-US" sz="24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theme(</a:t>
            </a:r>
            <a:r>
              <a:rPr lang="en-US" sz="2400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axis.ticks</a:t>
            </a:r>
            <a:r>
              <a:rPr lang="en-US" sz="24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= </a:t>
            </a:r>
            <a:r>
              <a:rPr lang="en-US" sz="2400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element_blank</a:t>
            </a:r>
            <a:r>
              <a:rPr lang="en-US" sz="24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(),</a:t>
            </a:r>
          </a:p>
          <a:p>
            <a:r>
              <a:rPr lang="en-US" sz="24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 </a:t>
            </a:r>
            <a:r>
              <a:rPr lang="en-US" sz="2400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axis.text</a:t>
            </a:r>
            <a:r>
              <a:rPr lang="en-US" sz="24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= </a:t>
            </a:r>
            <a:r>
              <a:rPr lang="en-US" sz="2400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element_blank</a:t>
            </a:r>
            <a:r>
              <a:rPr lang="en-US" sz="24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(),</a:t>
            </a:r>
          </a:p>
          <a:p>
            <a:r>
              <a:rPr lang="en-US" sz="24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 </a:t>
            </a:r>
            <a:r>
              <a:rPr lang="en-US" sz="2400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axis.title</a:t>
            </a:r>
            <a:r>
              <a:rPr lang="en-US" sz="24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= </a:t>
            </a:r>
            <a:r>
              <a:rPr lang="en-US" sz="2400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element_blank</a:t>
            </a:r>
            <a:r>
              <a:rPr lang="en-US" sz="24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(),</a:t>
            </a:r>
          </a:p>
          <a:p>
            <a:r>
              <a:rPr lang="en-US" sz="24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 </a:t>
            </a:r>
            <a:r>
              <a:rPr lang="en-US" sz="2400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panel.background</a:t>
            </a:r>
            <a:r>
              <a:rPr lang="en-US" sz="24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= </a:t>
            </a:r>
            <a:br>
              <a:rPr lang="en-US" sz="24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en-US" sz="24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                   </a:t>
            </a:r>
            <a:r>
              <a:rPr lang="en-US" sz="2400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element_blank</a:t>
            </a:r>
            <a:r>
              <a:rPr lang="en-US" sz="24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())</a:t>
            </a:r>
          </a:p>
        </p:txBody>
      </p:sp>
      <p:sp>
        <p:nvSpPr>
          <p:cNvPr id="5" name="Left Arrow Callout 4"/>
          <p:cNvSpPr/>
          <p:nvPr/>
        </p:nvSpPr>
        <p:spPr>
          <a:xfrm>
            <a:off x="9706708" y="2475035"/>
            <a:ext cx="2321169" cy="931984"/>
          </a:xfrm>
          <a:prstGeom prst="left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Automatic aspect ratio for </a:t>
            </a:r>
            <a:r>
              <a:rPr lang="en-US" dirty="0" err="1"/>
              <a:t>map_data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1432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7 </a:t>
            </a:r>
            <a:r>
              <a:rPr lang="en-US" cap="none" dirty="0" err="1"/>
              <a:t>con’t</a:t>
            </a:r>
            <a:endParaRPr lang="en-US" cap="none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4528" y="1256568"/>
            <a:ext cx="3563366" cy="5109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527919"/>
      </p:ext>
    </p:extLst>
  </p:cSld>
  <p:clrMapOvr>
    <a:masterClrMapping/>
  </p:clrMapOvr>
</p:sld>
</file>

<file path=ppt/theme/theme1.xml><?xml version="1.0" encoding="utf-8"?>
<a:theme xmlns:a="http://schemas.openxmlformats.org/drawingml/2006/main" name="RTheme1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Theme1" id="{6F74742C-CA52-48C0-9269-F86BBCC36A7B}" vid="{131DD306-3EC2-4718-82F0-6A5603621A8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7898</TotalTime>
  <Words>2750</Words>
  <Application>Microsoft Office PowerPoint</Application>
  <PresentationFormat>Widescreen</PresentationFormat>
  <Paragraphs>323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Calibri</vt:lpstr>
      <vt:lpstr>Consolas</vt:lpstr>
      <vt:lpstr>Gill Sans MT</vt:lpstr>
      <vt:lpstr>Wingdings</vt:lpstr>
      <vt:lpstr>Wingdings 2</vt:lpstr>
      <vt:lpstr>RTheme1</vt:lpstr>
      <vt:lpstr>Geospatial Visualization</vt:lpstr>
      <vt:lpstr>Choropleth Maps</vt:lpstr>
      <vt:lpstr>R’s map_data function</vt:lpstr>
      <vt:lpstr>How R Builds Maps</vt:lpstr>
      <vt:lpstr>Example 1 – US Map</vt:lpstr>
      <vt:lpstr>Example 1 – con’t</vt:lpstr>
      <vt:lpstr>Map Projections</vt:lpstr>
      <vt:lpstr>Using Maps with Data</vt:lpstr>
      <vt:lpstr>Election Data</vt:lpstr>
      <vt:lpstr>Comparing Observational Units</vt:lpstr>
      <vt:lpstr>PowerPoint Presentation</vt:lpstr>
      <vt:lpstr>Election Data</vt:lpstr>
      <vt:lpstr>theme_map()</vt:lpstr>
      <vt:lpstr>Election Data with Alaska &amp; Hawaii</vt:lpstr>
      <vt:lpstr>Election Data using Shape Files function</vt:lpstr>
      <vt:lpstr>plot_usmap function</vt:lpstr>
      <vt:lpstr>State Labels</vt:lpstr>
      <vt:lpstr>Adding CenTroids To MAPS with Long &amp; LAT</vt:lpstr>
      <vt:lpstr>Adding Centroids</vt:lpstr>
      <vt:lpstr>Adding CenTroids To MAPS with Shape Files</vt:lpstr>
      <vt:lpstr>Adding Centroids</vt:lpstr>
      <vt:lpstr>Example 2 – Youth Obesity</vt:lpstr>
      <vt:lpstr>Example 2 con’t</vt:lpstr>
      <vt:lpstr>Example 2 con’t</vt:lpstr>
      <vt:lpstr>Example 2 con’t</vt:lpstr>
      <vt:lpstr>Example 3 – Youth Obesity By Year</vt:lpstr>
      <vt:lpstr>Example 3 con’t</vt:lpstr>
      <vt:lpstr>FIPS Codes</vt:lpstr>
      <vt:lpstr>County Data with socviz package</vt:lpstr>
      <vt:lpstr>Example 4 – Plot US County Data based on Population</vt:lpstr>
      <vt:lpstr>County Data with usmap package</vt:lpstr>
      <vt:lpstr>Example 5 – Mississippi Population Density with Socviz</vt:lpstr>
      <vt:lpstr>Example 6 – Mississippi Population Density  Continuous</vt:lpstr>
      <vt:lpstr>Example 6 con’t – Plot Data</vt:lpstr>
      <vt:lpstr>Example 7 – Mercator Projection of Mississippi</vt:lpstr>
      <vt:lpstr>Example 7 con’t</vt:lpstr>
    </vt:vector>
  </TitlesOfParts>
  <Company>University of Mississippi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Kristi Davidson</dc:creator>
  <cp:lastModifiedBy>Kristin Elizabeth Davidson</cp:lastModifiedBy>
  <cp:revision>122</cp:revision>
  <cp:lastPrinted>2019-08-23T21:16:45Z</cp:lastPrinted>
  <dcterms:created xsi:type="dcterms:W3CDTF">2019-08-01T20:03:31Z</dcterms:created>
  <dcterms:modified xsi:type="dcterms:W3CDTF">2025-10-19T17:40:52Z</dcterms:modified>
</cp:coreProperties>
</file>