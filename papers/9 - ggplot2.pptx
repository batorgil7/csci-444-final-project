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257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306" r:id="rId12"/>
    <p:sldId id="307" r:id="rId13"/>
    <p:sldId id="273" r:id="rId14"/>
    <p:sldId id="274" r:id="rId15"/>
    <p:sldId id="277" r:id="rId16"/>
    <p:sldId id="275" r:id="rId17"/>
    <p:sldId id="276" r:id="rId18"/>
    <p:sldId id="298" r:id="rId19"/>
    <p:sldId id="299" r:id="rId20"/>
    <p:sldId id="300" r:id="rId21"/>
    <p:sldId id="301" r:id="rId22"/>
    <p:sldId id="278" r:id="rId23"/>
    <p:sldId id="280" r:id="rId24"/>
    <p:sldId id="282" r:id="rId25"/>
    <p:sldId id="283" r:id="rId26"/>
    <p:sldId id="284" r:id="rId27"/>
    <p:sldId id="285" r:id="rId28"/>
    <p:sldId id="286" r:id="rId29"/>
    <p:sldId id="289" r:id="rId30"/>
    <p:sldId id="290" r:id="rId31"/>
    <p:sldId id="291" r:id="rId32"/>
    <p:sldId id="292" r:id="rId33"/>
    <p:sldId id="293" r:id="rId34"/>
    <p:sldId id="294" r:id="rId35"/>
    <p:sldId id="296" r:id="rId36"/>
    <p:sldId id="295" r:id="rId37"/>
    <p:sldId id="259" r:id="rId38"/>
    <p:sldId id="258" r:id="rId39"/>
    <p:sldId id="260" r:id="rId40"/>
    <p:sldId id="261" r:id="rId41"/>
    <p:sldId id="297" r:id="rId42"/>
    <p:sldId id="302" r:id="rId43"/>
    <p:sldId id="303" r:id="rId44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14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37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Unit 9:  R Programming - ggplot2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927D0-6832-4CD1-822B-E21585B6213F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F715E-E2D3-4F63-883F-53F33767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9933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Unit 9:  R Programming - ggplot2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6DD48-A258-4FA3-B817-A7C5A4D54E8E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13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892"/>
            <a:ext cx="548640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260AA-C184-4112-AEB1-4E6AE9EC7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4036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954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495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47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74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022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49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13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6121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616CA0-919D-4A49-9C8A-62FDFB3A518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7E5644-1E61-4311-A31E-84CB9C7AA8A9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53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136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56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81721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hyperlink" Target="https://www.sciencedirect.com/topics/earth-and-planetary-sciences/tritiu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hubspot.com/marketing/types-of-graphs-for-data-visualiza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ggplot2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CSCI 444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047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 of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91" y="2180496"/>
            <a:ext cx="5356614" cy="423800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Leland Wilkinson coined term</a:t>
            </a:r>
          </a:p>
          <a:p>
            <a:pPr lvl="1"/>
            <a:r>
              <a:rPr lang="en-US" i="1" dirty="0"/>
              <a:t>Separate </a:t>
            </a:r>
            <a:r>
              <a:rPr lang="en-US" b="1" i="1" dirty="0">
                <a:solidFill>
                  <a:srgbClr val="FF0000"/>
                </a:solidFill>
              </a:rPr>
              <a:t>what</a:t>
            </a:r>
            <a:r>
              <a:rPr lang="en-US" i="1" dirty="0"/>
              <a:t> is graphed from </a:t>
            </a:r>
            <a:r>
              <a:rPr lang="en-US" b="1" i="1" dirty="0">
                <a:solidFill>
                  <a:schemeClr val="accent2"/>
                </a:solidFill>
              </a:rPr>
              <a:t>how</a:t>
            </a:r>
            <a:r>
              <a:rPr lang="en-US" i="1" dirty="0"/>
              <a:t> it is graphed</a:t>
            </a:r>
          </a:p>
          <a:p>
            <a:r>
              <a:rPr lang="en-US" dirty="0"/>
              <a:t>Grammar of Graphics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Aesthetic mapping</a:t>
            </a:r>
          </a:p>
          <a:p>
            <a:pPr lvl="1"/>
            <a:r>
              <a:rPr lang="en-US" dirty="0"/>
              <a:t>Geometric object</a:t>
            </a:r>
          </a:p>
          <a:p>
            <a:pPr lvl="1"/>
            <a:r>
              <a:rPr lang="en-US" dirty="0"/>
              <a:t>Faceting</a:t>
            </a:r>
          </a:p>
          <a:p>
            <a:pPr lvl="1"/>
            <a:r>
              <a:rPr lang="en-US" dirty="0"/>
              <a:t>Statistical transformations</a:t>
            </a:r>
          </a:p>
          <a:p>
            <a:pPr lvl="1"/>
            <a:r>
              <a:rPr lang="en-US" dirty="0"/>
              <a:t>Scales</a:t>
            </a:r>
          </a:p>
          <a:p>
            <a:pPr lvl="1"/>
            <a:r>
              <a:rPr lang="en-US" dirty="0"/>
              <a:t>Coordinate system</a:t>
            </a:r>
          </a:p>
          <a:p>
            <a:pPr lvl="1"/>
            <a:r>
              <a:rPr lang="en-US" dirty="0"/>
              <a:t>Position adjustments</a:t>
            </a:r>
          </a:p>
        </p:txBody>
      </p:sp>
      <p:pic>
        <p:nvPicPr>
          <p:cNvPr id="1026" name="Picture 2" descr="Image result for grammar of graphic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0641" y="2180496"/>
            <a:ext cx="5805187" cy="43244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83291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1444" y="1717990"/>
            <a:ext cx="7469113" cy="1872375"/>
          </a:xfrm>
        </p:spPr>
        <p:txBody>
          <a:bodyPr>
            <a:normAutofit/>
          </a:bodyPr>
          <a:lstStyle/>
          <a:p>
            <a:r>
              <a:rPr lang="en-US" sz="3200" dirty="0" err="1"/>
              <a:t>dplyr</a:t>
            </a:r>
            <a:r>
              <a:rPr lang="en-US" sz="3200" dirty="0"/>
              <a:t>  </a:t>
            </a:r>
            <a:r>
              <a:rPr lang="en-US" sz="3200" dirty="0">
                <a:sym typeface="Wingdings" panose="05000000000000000000" pitchFamily="2" charset="2"/>
              </a:rPr>
              <a:t>  </a:t>
            </a:r>
            <a:r>
              <a:rPr lang="en-US" sz="3200" b="1" i="1" dirty="0">
                <a:solidFill>
                  <a:srgbClr val="C00000"/>
                </a:solidFill>
                <a:sym typeface="Wingdings" panose="05000000000000000000" pitchFamily="2" charset="2"/>
              </a:rPr>
              <a:t>%&gt;%</a:t>
            </a:r>
            <a:r>
              <a:rPr lang="en-US" sz="3200" dirty="0">
                <a:sym typeface="Wingdings" panose="05000000000000000000" pitchFamily="2" charset="2"/>
              </a:rPr>
              <a:t> transforms data</a:t>
            </a:r>
          </a:p>
          <a:p>
            <a:r>
              <a:rPr lang="en-US" sz="3200" dirty="0" err="1">
                <a:sym typeface="Wingdings" panose="05000000000000000000" pitchFamily="2" charset="2"/>
              </a:rPr>
              <a:t>ggplot</a:t>
            </a:r>
            <a:r>
              <a:rPr lang="en-US" sz="3200" dirty="0">
                <a:sym typeface="Wingdings" panose="05000000000000000000" pitchFamily="2" charset="2"/>
              </a:rPr>
              <a:t>     </a:t>
            </a:r>
            <a:r>
              <a:rPr lang="en-US" sz="3200" b="1" i="1" dirty="0">
                <a:solidFill>
                  <a:srgbClr val="C00000"/>
                </a:solidFill>
                <a:sym typeface="Wingdings" panose="05000000000000000000" pitchFamily="2" charset="2"/>
              </a:rPr>
              <a:t>+</a:t>
            </a:r>
            <a:r>
              <a:rPr lang="en-US" sz="3200" dirty="0">
                <a:sym typeface="Wingdings" panose="05000000000000000000" pitchFamily="2" charset="2"/>
              </a:rPr>
              <a:t> layers data visualization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096001" y="3450164"/>
            <a:ext cx="5422392" cy="3187817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Example – Baseball Team’s Wins</a:t>
            </a:r>
          </a:p>
          <a:p>
            <a:pPr lvl="1"/>
            <a:r>
              <a:rPr lang="en-US" sz="2400" dirty="0"/>
              <a:t>Data:  baseball wins</a:t>
            </a:r>
          </a:p>
          <a:p>
            <a:pPr lvl="1"/>
            <a:r>
              <a:rPr lang="en-US" sz="2400" dirty="0"/>
              <a:t>Geometry:  Point </a:t>
            </a:r>
            <a:r>
              <a:rPr lang="en-US" sz="2400" dirty="0">
                <a:sym typeface="Wingdings" panose="05000000000000000000" pitchFamily="2" charset="2"/>
              </a:rPr>
              <a:t>  </a:t>
            </a:r>
            <a:r>
              <a:rPr lang="en-US" sz="2400" dirty="0" err="1">
                <a:sym typeface="Wingdings" panose="05000000000000000000" pitchFamily="2" charset="2"/>
              </a:rPr>
              <a:t>geom_point</a:t>
            </a:r>
            <a:endParaRPr lang="en-US" sz="2400" dirty="0"/>
          </a:p>
          <a:p>
            <a:pPr lvl="1"/>
            <a:r>
              <a:rPr lang="en-US" sz="2400" dirty="0"/>
              <a:t>Mappings </a:t>
            </a:r>
            <a:r>
              <a:rPr lang="en-US" sz="2400" dirty="0">
                <a:sym typeface="Wingdings" panose="05000000000000000000" pitchFamily="2" charset="2"/>
              </a:rPr>
              <a:t>  Aesthetics</a:t>
            </a:r>
            <a:r>
              <a:rPr lang="en-US" sz="2400" dirty="0"/>
              <a:t>:  </a:t>
            </a:r>
          </a:p>
          <a:p>
            <a:pPr lvl="2"/>
            <a:r>
              <a:rPr lang="en-US" sz="2200" dirty="0"/>
              <a:t>x = year</a:t>
            </a:r>
            <a:br>
              <a:rPr lang="en-US" sz="2200" dirty="0"/>
            </a:br>
            <a:r>
              <a:rPr lang="en-US" sz="2200" dirty="0"/>
              <a:t>y = wins</a:t>
            </a:r>
          </a:p>
          <a:p>
            <a:pPr lvl="2"/>
            <a:r>
              <a:rPr lang="en-US" sz="2200" dirty="0"/>
              <a:t>color = Team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828251"/>
              </p:ext>
            </p:extLst>
          </p:nvPr>
        </p:nvGraphicFramePr>
        <p:xfrm>
          <a:off x="1009234" y="3450164"/>
          <a:ext cx="3831708" cy="31878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5935">
                  <a:extLst>
                    <a:ext uri="{9D8B030D-6E8A-4147-A177-3AD203B41FA5}">
                      <a16:colId xmlns:a16="http://schemas.microsoft.com/office/drawing/2014/main" val="223291050"/>
                    </a:ext>
                  </a:extLst>
                </a:gridCol>
                <a:gridCol w="2175773">
                  <a:extLst>
                    <a:ext uri="{9D8B030D-6E8A-4147-A177-3AD203B41FA5}">
                      <a16:colId xmlns:a16="http://schemas.microsoft.com/office/drawing/2014/main" val="2694532520"/>
                    </a:ext>
                  </a:extLst>
                </a:gridCol>
              </a:tblGrid>
              <a:tr h="58126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Aesthetic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Descripton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5765536"/>
                  </a:ext>
                </a:extLst>
              </a:tr>
              <a:tr h="3074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x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x-value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0137999"/>
                  </a:ext>
                </a:extLst>
              </a:tr>
              <a:tr h="28341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y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y-value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6854039"/>
                  </a:ext>
                </a:extLst>
              </a:tr>
              <a:tr h="28341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shape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Type of point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43752"/>
                  </a:ext>
                </a:extLst>
              </a:tr>
              <a:tr h="28341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color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Color of point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7305443"/>
                  </a:ext>
                </a:extLst>
              </a:tr>
              <a:tr h="28341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fill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Fill of point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6462512"/>
                  </a:ext>
                </a:extLst>
              </a:tr>
              <a:tr h="28341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size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Size of point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7882510"/>
                  </a:ext>
                </a:extLst>
              </a:tr>
              <a:tr h="28341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alpha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transparency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4609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89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Geometrical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02589"/>
            <a:ext cx="9387562" cy="4811975"/>
          </a:xfrm>
        </p:spPr>
        <p:txBody>
          <a:bodyPr>
            <a:normAutofit fontScale="55000" lnSpcReduction="20000"/>
          </a:bodyPr>
          <a:lstStyle/>
          <a:p>
            <a:pPr marL="306000" lvl="2" indent="-306000"/>
            <a:r>
              <a:rPr lang="en-US" sz="4000" dirty="0"/>
              <a:t>geometrical object </a:t>
            </a:r>
            <a:r>
              <a:rPr lang="en-US" sz="4000" dirty="0">
                <a:sym typeface="Wingdings" panose="05000000000000000000" pitchFamily="2" charset="2"/>
              </a:rPr>
              <a:t></a:t>
            </a:r>
            <a:r>
              <a:rPr lang="en-US" sz="4000" dirty="0"/>
              <a:t>  </a:t>
            </a:r>
            <a:r>
              <a:rPr lang="en-US" sz="4000" dirty="0" err="1"/>
              <a:t>geom</a:t>
            </a:r>
            <a:r>
              <a:rPr lang="en-US" sz="4000" dirty="0"/>
              <a:t>_&lt;</a:t>
            </a:r>
            <a:r>
              <a:rPr lang="en-US" sz="4000" i="1" dirty="0"/>
              <a:t>obj</a:t>
            </a:r>
            <a:r>
              <a:rPr lang="en-US" sz="4000" dirty="0"/>
              <a:t>&gt;(</a:t>
            </a:r>
            <a:r>
              <a:rPr lang="en-US" sz="4000" i="1" dirty="0">
                <a:solidFill>
                  <a:schemeClr val="accent3">
                    <a:lumMod val="75000"/>
                  </a:schemeClr>
                </a:solidFill>
              </a:rPr>
              <a:t>mapping = </a:t>
            </a:r>
            <a:r>
              <a:rPr lang="en-US" sz="4000" i="1" dirty="0" err="1">
                <a:solidFill>
                  <a:schemeClr val="accent3">
                    <a:lumMod val="75000"/>
                  </a:schemeClr>
                </a:solidFill>
              </a:rPr>
              <a:t>aes</a:t>
            </a:r>
            <a:r>
              <a:rPr lang="en-US" sz="4000" i="1" dirty="0">
                <a:solidFill>
                  <a:schemeClr val="accent3">
                    <a:lumMod val="75000"/>
                  </a:schemeClr>
                </a:solidFill>
              </a:rPr>
              <a:t>(&lt;MAPPINGS&gt;)</a:t>
            </a:r>
            <a:r>
              <a:rPr lang="en-US" sz="4000" dirty="0"/>
              <a:t>,</a:t>
            </a:r>
            <a:br>
              <a:rPr lang="en-US" sz="4000" dirty="0"/>
            </a:br>
            <a:r>
              <a:rPr lang="en-US" sz="4000" dirty="0"/>
              <a:t>                                                      </a:t>
            </a:r>
            <a:r>
              <a:rPr lang="en-US" sz="4000" i="1" dirty="0">
                <a:solidFill>
                  <a:srgbClr val="7030A0"/>
                </a:solidFill>
              </a:rPr>
              <a:t>stat = &lt;STATS&gt;,</a:t>
            </a:r>
            <a:br>
              <a:rPr lang="en-US" sz="4000" dirty="0"/>
            </a:br>
            <a:r>
              <a:rPr lang="en-US" sz="4000" dirty="0"/>
              <a:t>                                                      </a:t>
            </a:r>
            <a:r>
              <a:rPr lang="en-US" sz="4000" i="1" dirty="0">
                <a:solidFill>
                  <a:srgbClr val="C00000"/>
                </a:solidFill>
              </a:rPr>
              <a:t>position = &lt;POSITION&gt;</a:t>
            </a:r>
            <a:r>
              <a:rPr lang="en-US" sz="4000" i="1" dirty="0">
                <a:solidFill>
                  <a:schemeClr val="tx1"/>
                </a:solidFill>
              </a:rPr>
              <a:t>)</a:t>
            </a:r>
          </a:p>
          <a:p>
            <a:r>
              <a:rPr lang="en-US" sz="4000" dirty="0" err="1"/>
              <a:t>geom</a:t>
            </a:r>
            <a:r>
              <a:rPr lang="en-US" sz="4000" dirty="0"/>
              <a:t> defines plot</a:t>
            </a:r>
          </a:p>
          <a:p>
            <a:pPr lvl="1"/>
            <a:r>
              <a:rPr lang="en-US" sz="3600" dirty="0"/>
              <a:t>scatterplot</a:t>
            </a:r>
          </a:p>
          <a:p>
            <a:pPr lvl="1"/>
            <a:r>
              <a:rPr lang="en-US" sz="3600" dirty="0"/>
              <a:t>scatterplot with smooth</a:t>
            </a:r>
          </a:p>
          <a:p>
            <a:pPr lvl="1"/>
            <a:r>
              <a:rPr lang="en-US" sz="3600" dirty="0"/>
              <a:t>line chart</a:t>
            </a:r>
          </a:p>
          <a:p>
            <a:pPr lvl="1"/>
            <a:r>
              <a:rPr lang="en-US" sz="3600" dirty="0"/>
              <a:t>column chart</a:t>
            </a:r>
          </a:p>
          <a:p>
            <a:pPr lvl="1"/>
            <a:r>
              <a:rPr lang="en-US" sz="3600" dirty="0"/>
              <a:t>boxplot</a:t>
            </a:r>
          </a:p>
          <a:p>
            <a:pPr lvl="1"/>
            <a:r>
              <a:rPr lang="en-US" sz="3600" dirty="0"/>
              <a:t>bar chart</a:t>
            </a:r>
          </a:p>
          <a:p>
            <a:pPr lvl="1"/>
            <a:r>
              <a:rPr lang="en-US" sz="3600" dirty="0"/>
              <a:t>histogram</a:t>
            </a:r>
          </a:p>
          <a:p>
            <a:pPr lvl="1"/>
            <a:r>
              <a:rPr lang="en-US" sz="3600" dirty="0"/>
              <a:t>And more …</a:t>
            </a:r>
          </a:p>
        </p:txBody>
      </p:sp>
      <p:pic>
        <p:nvPicPr>
          <p:cNvPr id="4" name="Picture 6" descr="Image result for data visualization choroplet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1480" y="1970435"/>
            <a:ext cx="3220301" cy="2154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Image result for statistic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735" y="3405760"/>
            <a:ext cx="3747758" cy="162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mage result for column chart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798213" y="4217775"/>
            <a:ext cx="2936319" cy="221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histogram chart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6"/>
          <a:stretch/>
        </p:blipFill>
        <p:spPr bwMode="auto">
          <a:xfrm>
            <a:off x="2787145" y="3783114"/>
            <a:ext cx="4210052" cy="317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llout: Right Arrow 5">
            <a:extLst>
              <a:ext uri="{FF2B5EF4-FFF2-40B4-BE49-F238E27FC236}">
                <a16:creationId xmlns:a16="http://schemas.microsoft.com/office/drawing/2014/main" id="{3E339268-843A-4711-8979-793900E9EAB0}"/>
              </a:ext>
            </a:extLst>
          </p:cNvPr>
          <p:cNvSpPr/>
          <p:nvPr/>
        </p:nvSpPr>
        <p:spPr>
          <a:xfrm>
            <a:off x="1819916" y="2484303"/>
            <a:ext cx="3220301" cy="374573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96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statistical </a:t>
            </a:r>
            <a:r>
              <a:rPr lang="en-US" dirty="0" err="1"/>
              <a:t>tranformation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8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21" y="2264399"/>
            <a:ext cx="4129549" cy="40589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John Tukey</a:t>
            </a:r>
          </a:p>
          <a:p>
            <a:pPr lvl="1"/>
            <a:r>
              <a:rPr lang="en-US" i="1" dirty="0">
                <a:solidFill>
                  <a:srgbClr val="7030A0"/>
                </a:solidFill>
              </a:rPr>
              <a:t>The greatest value of a picture is when it forces us to notice what we never expected to see.</a:t>
            </a:r>
          </a:p>
          <a:p>
            <a:r>
              <a:rPr lang="en-US" dirty="0"/>
              <a:t>Mapping</a:t>
            </a:r>
          </a:p>
          <a:p>
            <a:pPr lvl="1"/>
            <a:r>
              <a:rPr lang="en-US" dirty="0"/>
              <a:t>Defines how data maps to visual properties</a:t>
            </a:r>
          </a:p>
          <a:p>
            <a:pPr lvl="1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dirty="0"/>
              <a:t>thetics function</a:t>
            </a:r>
          </a:p>
          <a:p>
            <a:pPr lvl="1"/>
            <a:endParaRPr lang="en-US" dirty="0"/>
          </a:p>
        </p:txBody>
      </p:sp>
      <p:pic>
        <p:nvPicPr>
          <p:cNvPr id="4098" name="Picture 2" descr="https://ars.els-cdn.com/content/image/3-s2.0-B9780123744739001648-gr2.jpg?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577" y="2417205"/>
            <a:ext cx="5699152" cy="3441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878" y="2180496"/>
            <a:ext cx="5705475" cy="37528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819" y="6154682"/>
            <a:ext cx="51930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https://www.sciencedirect.com/topics/earth-and-planetary-sciences/tritium</a:t>
            </a:r>
            <a:endParaRPr lang="en-US" dirty="0"/>
          </a:p>
        </p:txBody>
      </p:sp>
      <p:sp>
        <p:nvSpPr>
          <p:cNvPr id="6" name="Up Arrow Callout 5"/>
          <p:cNvSpPr/>
          <p:nvPr/>
        </p:nvSpPr>
        <p:spPr>
          <a:xfrm>
            <a:off x="5438343" y="5896474"/>
            <a:ext cx="3640355" cy="853729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Mid-1960s H-Bomb testing</a:t>
            </a:r>
          </a:p>
          <a:p>
            <a:pPr algn="ctr"/>
            <a:r>
              <a:rPr lang="en-US" baseline="30000" dirty="0"/>
              <a:t>3</a:t>
            </a:r>
            <a:r>
              <a:rPr lang="en-US" dirty="0"/>
              <a:t>H produced as </a:t>
            </a:r>
            <a:r>
              <a:rPr lang="en-US"/>
              <a:t>fission by-product</a:t>
            </a:r>
            <a:endParaRPr lang="en-US" dirty="0"/>
          </a:p>
        </p:txBody>
      </p:sp>
      <p:pic>
        <p:nvPicPr>
          <p:cNvPr id="1026" name="Picture 2" descr="Image result for john tuke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061" y="1942410"/>
            <a:ext cx="1766354" cy="2151741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99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037061"/>
            <a:ext cx="5138289" cy="4543033"/>
          </a:xfrm>
        </p:spPr>
        <p:txBody>
          <a:bodyPr/>
          <a:lstStyle/>
          <a:p>
            <a:r>
              <a:rPr lang="en-US" dirty="0"/>
              <a:t>Statistical Transformation</a:t>
            </a:r>
          </a:p>
          <a:p>
            <a:pPr lvl="1"/>
            <a:r>
              <a:rPr lang="en-US" dirty="0"/>
              <a:t>Uses variables to plot</a:t>
            </a:r>
          </a:p>
          <a:p>
            <a:r>
              <a:rPr lang="en-US" dirty="0"/>
              <a:t>Position</a:t>
            </a:r>
          </a:p>
          <a:p>
            <a:pPr lvl="1"/>
            <a:r>
              <a:rPr lang="en-US" dirty="0"/>
              <a:t>Depends on </a:t>
            </a:r>
            <a:r>
              <a:rPr lang="en-US" dirty="0" err="1"/>
              <a:t>geom_object</a:t>
            </a:r>
            <a:endParaRPr lang="en-US" dirty="0"/>
          </a:p>
          <a:p>
            <a:pPr lvl="2"/>
            <a:r>
              <a:rPr lang="en-US" dirty="0"/>
              <a:t>bar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chemeClr val="accent2"/>
                </a:solidFill>
                <a:sym typeface="Wingdings" panose="05000000000000000000" pitchFamily="2" charset="2"/>
              </a:rPr>
              <a:t>dodge</a:t>
            </a:r>
            <a:r>
              <a:rPr lang="en-US" dirty="0">
                <a:sym typeface="Wingdings" panose="05000000000000000000" pitchFamily="2" charset="2"/>
              </a:rPr>
              <a:t> displays side-by-side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 </a:t>
            </a:r>
            <a:r>
              <a:rPr lang="en-US" b="1" dirty="0">
                <a:solidFill>
                  <a:schemeClr val="accent2"/>
                </a:solidFill>
                <a:sym typeface="Wingdings" panose="05000000000000000000" pitchFamily="2" charset="2"/>
              </a:rPr>
              <a:t>fill </a:t>
            </a:r>
            <a:r>
              <a:rPr lang="en-US" dirty="0">
                <a:sym typeface="Wingdings" panose="05000000000000000000" pitchFamily="2" charset="2"/>
              </a:rPr>
              <a:t>displays stacked bar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with bars same size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 </a:t>
            </a:r>
            <a:r>
              <a:rPr lang="en-US" b="1" dirty="0">
                <a:solidFill>
                  <a:schemeClr val="accent2"/>
                </a:solidFill>
                <a:sym typeface="Wingdings" panose="05000000000000000000" pitchFamily="2" charset="2"/>
              </a:rPr>
              <a:t>stack</a:t>
            </a:r>
            <a:r>
              <a:rPr lang="en-US" dirty="0">
                <a:sym typeface="Wingdings" panose="05000000000000000000" pitchFamily="2" charset="2"/>
              </a:rPr>
              <a:t> displays a stacked bar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point  </a:t>
            </a:r>
            <a:r>
              <a:rPr lang="en-US" b="1" dirty="0">
                <a:solidFill>
                  <a:schemeClr val="accent2"/>
                </a:solidFill>
                <a:sym typeface="Wingdings" panose="05000000000000000000" pitchFamily="2" charset="2"/>
              </a:rPr>
              <a:t>jitter</a:t>
            </a:r>
            <a:r>
              <a:rPr lang="en-US" dirty="0">
                <a:sym typeface="Wingdings" panose="05000000000000000000" pitchFamily="2" charset="2"/>
              </a:rPr>
              <a:t> displays random “noise” in point placement</a:t>
            </a:r>
            <a:endParaRPr lang="en-US" dirty="0"/>
          </a:p>
        </p:txBody>
      </p:sp>
      <p:pic>
        <p:nvPicPr>
          <p:cNvPr id="5122" name="Picture 2" descr="Image result for stacked bar char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791" y="1891553"/>
            <a:ext cx="6128017" cy="285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mage result for stacked bar ch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320" y="4682565"/>
            <a:ext cx="4661648" cy="2175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471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Coord</a:t>
            </a:r>
            <a:r>
              <a:rPr lang="en-US" dirty="0"/>
              <a:t>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5855467" cy="4453386"/>
          </a:xfrm>
        </p:spPr>
        <p:txBody>
          <a:bodyPr>
            <a:normAutofit/>
          </a:bodyPr>
          <a:lstStyle/>
          <a:p>
            <a:r>
              <a:rPr lang="en-US" dirty="0" err="1"/>
              <a:t>coord</a:t>
            </a:r>
            <a:r>
              <a:rPr lang="en-US" dirty="0"/>
              <a:t>_  </a:t>
            </a:r>
          </a:p>
          <a:p>
            <a:pPr lvl="1"/>
            <a:r>
              <a:rPr lang="en-US" dirty="0"/>
              <a:t>Defines coordinate system/attributes</a:t>
            </a:r>
          </a:p>
          <a:p>
            <a:pPr lvl="1"/>
            <a:r>
              <a:rPr lang="en-US" dirty="0" err="1"/>
              <a:t>coord_polar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polar coordinates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Cartesian coordinates default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coord_flip</a:t>
            </a:r>
            <a:r>
              <a:rPr lang="en-US" dirty="0">
                <a:sym typeface="Wingdings" panose="05000000000000000000" pitchFamily="2" charset="2"/>
              </a:rPr>
              <a:t>  flips axes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coord_quickmap</a:t>
            </a:r>
            <a:r>
              <a:rPr lang="en-US" dirty="0">
                <a:sym typeface="Wingdings" panose="05000000000000000000" pitchFamily="2" charset="2"/>
              </a:rPr>
              <a:t>()  geospatial </a:t>
            </a:r>
            <a:r>
              <a:rPr lang="en-US" dirty="0" err="1">
                <a:sym typeface="Wingdings" panose="05000000000000000000" pitchFamily="2" charset="2"/>
              </a:rPr>
              <a:t>viz</a:t>
            </a:r>
            <a:endParaRPr lang="en-US" dirty="0">
              <a:sym typeface="Wingdings" panose="05000000000000000000" pitchFamily="2" charset="2"/>
            </a:endParaRPr>
          </a:p>
          <a:p>
            <a:pPr marL="594000" lvl="2" indent="0">
              <a:buNone/>
            </a:pPr>
            <a:r>
              <a:rPr lang="en-US" sz="2400" dirty="0" err="1">
                <a:sym typeface="Wingdings" panose="05000000000000000000" pitchFamily="2" charset="2"/>
              </a:rPr>
              <a:t>coord_map</a:t>
            </a:r>
            <a:r>
              <a:rPr lang="en-US" sz="2400" dirty="0">
                <a:sym typeface="Wingdings" panose="05000000000000000000" pitchFamily="2" charset="2"/>
              </a:rPr>
              <a:t>()</a:t>
            </a:r>
          </a:p>
          <a:p>
            <a:pPr marL="594000" lvl="2" indent="0">
              <a:buNone/>
            </a:pPr>
            <a:r>
              <a:rPr lang="en-US" sz="2400" dirty="0" err="1">
                <a:sym typeface="Wingdings" panose="05000000000000000000" pitchFamily="2" charset="2"/>
              </a:rPr>
              <a:t>coord_map</a:t>
            </a:r>
            <a:r>
              <a:rPr lang="en-US" sz="2400" dirty="0">
                <a:sym typeface="Wingdings" panose="05000000000000000000" pitchFamily="2" charset="2"/>
              </a:rPr>
              <a:t>(projection = “</a:t>
            </a:r>
            <a:r>
              <a:rPr lang="en-US" sz="2400" dirty="0" err="1">
                <a:sym typeface="Wingdings" panose="05000000000000000000" pitchFamily="2" charset="2"/>
              </a:rPr>
              <a:t>albers</a:t>
            </a:r>
            <a:r>
              <a:rPr lang="en-US" sz="2400" dirty="0">
                <a:sym typeface="Wingdings" panose="05000000000000000000" pitchFamily="2" charset="2"/>
              </a:rPr>
              <a:t>”)</a:t>
            </a:r>
            <a:endParaRPr lang="en-US" sz="2400" dirty="0"/>
          </a:p>
        </p:txBody>
      </p:sp>
      <p:pic>
        <p:nvPicPr>
          <p:cNvPr id="6146" name="Picture 2" descr="Image result for stacked bar ch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83" y="2180495"/>
            <a:ext cx="4953073" cy="297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Image result for data visualization choroplet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1020" y="4703976"/>
            <a:ext cx="3220301" cy="2154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69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Facet_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5"/>
            <a:ext cx="5245865" cy="3678303"/>
          </a:xfrm>
        </p:spPr>
        <p:txBody>
          <a:bodyPr/>
          <a:lstStyle/>
          <a:p>
            <a:r>
              <a:rPr lang="en-US" dirty="0"/>
              <a:t>facet_</a:t>
            </a:r>
          </a:p>
          <a:p>
            <a:pPr lvl="1"/>
            <a:r>
              <a:rPr lang="en-US" dirty="0"/>
              <a:t>Divides plot into subplots based on DISCRETE variables</a:t>
            </a:r>
          </a:p>
          <a:p>
            <a:r>
              <a:rPr lang="en-US" dirty="0" err="1"/>
              <a:t>facet_wrap</a:t>
            </a:r>
            <a:r>
              <a:rPr lang="en-US" dirty="0"/>
              <a:t>() </a:t>
            </a:r>
            <a:r>
              <a:rPr lang="en-US" dirty="0">
                <a:sym typeface="Wingdings" panose="05000000000000000000" pitchFamily="2" charset="2"/>
              </a:rPr>
              <a:t> rectangular layout</a:t>
            </a:r>
          </a:p>
          <a:p>
            <a:r>
              <a:rPr lang="en-US" dirty="0" err="1">
                <a:sym typeface="Wingdings" panose="05000000000000000000" pitchFamily="2" charset="2"/>
              </a:rPr>
              <a:t>facet_grid</a:t>
            </a:r>
            <a:r>
              <a:rPr lang="en-US" dirty="0">
                <a:sym typeface="Wingdings" panose="05000000000000000000" pitchFamily="2" charset="2"/>
              </a:rPr>
              <a:t>()  grid of rows and columns</a:t>
            </a:r>
            <a:endParaRPr lang="en-US" dirty="0"/>
          </a:p>
        </p:txBody>
      </p:sp>
      <p:pic>
        <p:nvPicPr>
          <p:cNvPr id="7170" name="Picture 2" descr="Image result for facet ch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285" y="1666892"/>
            <a:ext cx="6587715" cy="470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74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605" y="2228003"/>
            <a:ext cx="4869348" cy="4083150"/>
          </a:xfrm>
        </p:spPr>
        <p:txBody>
          <a:bodyPr>
            <a:noAutofit/>
          </a:bodyPr>
          <a:lstStyle/>
          <a:p>
            <a:r>
              <a:rPr lang="en-US" sz="2800" dirty="0"/>
              <a:t>scale_</a:t>
            </a:r>
          </a:p>
          <a:p>
            <a:pPr lvl="1"/>
            <a:r>
              <a:rPr lang="en-US" sz="2400" dirty="0"/>
              <a:t>Defines attributes for scales</a:t>
            </a:r>
          </a:p>
          <a:p>
            <a:r>
              <a:rPr lang="en-US" sz="2800" dirty="0"/>
              <a:t>Specify discrete or continuous</a:t>
            </a:r>
          </a:p>
          <a:p>
            <a:pPr lvl="1"/>
            <a:r>
              <a:rPr lang="en-US" sz="2400" dirty="0" err="1"/>
              <a:t>scale_color</a:t>
            </a:r>
            <a:r>
              <a:rPr lang="en-US" sz="2400" dirty="0"/>
              <a:t>_</a:t>
            </a:r>
          </a:p>
          <a:p>
            <a:pPr lvl="1"/>
            <a:r>
              <a:rPr lang="en-US" sz="2400" dirty="0" err="1"/>
              <a:t>scale_size</a:t>
            </a:r>
            <a:r>
              <a:rPr lang="en-US" sz="2400" dirty="0"/>
              <a:t>_</a:t>
            </a:r>
          </a:p>
          <a:p>
            <a:pPr lvl="1"/>
            <a:r>
              <a:rPr lang="en-US" sz="2400" dirty="0" err="1"/>
              <a:t>scale_x</a:t>
            </a:r>
            <a:r>
              <a:rPr lang="en-US" sz="2400" dirty="0"/>
              <a:t>_</a:t>
            </a:r>
          </a:p>
          <a:p>
            <a:pPr lvl="1"/>
            <a:r>
              <a:rPr lang="en-US" sz="2400" dirty="0" err="1"/>
              <a:t>scale_y</a:t>
            </a:r>
            <a:r>
              <a:rPr lang="en-US" sz="2400" dirty="0"/>
              <a:t>_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1954" y="2228003"/>
            <a:ext cx="7100046" cy="4593163"/>
          </a:xfrm>
        </p:spPr>
        <p:txBody>
          <a:bodyPr>
            <a:normAutofit/>
          </a:bodyPr>
          <a:lstStyle/>
          <a:p>
            <a:r>
              <a:rPr lang="en-US" sz="2800" dirty="0"/>
              <a:t>Discrete</a:t>
            </a:r>
          </a:p>
          <a:p>
            <a:pPr lvl="1"/>
            <a:r>
              <a:rPr lang="en-US" sz="2600" dirty="0" err="1"/>
              <a:t>scale_fill</a:t>
            </a:r>
            <a:r>
              <a:rPr lang="en-US" sz="2600" dirty="0"/>
              <a:t>/</a:t>
            </a:r>
            <a:r>
              <a:rPr lang="en-US" sz="2600" dirty="0" err="1"/>
              <a:t>color_brewer</a:t>
            </a:r>
            <a:r>
              <a:rPr lang="en-US" sz="2600" dirty="0"/>
              <a:t>(palette= “name”)</a:t>
            </a:r>
          </a:p>
          <a:p>
            <a:r>
              <a:rPr lang="en-US" sz="2800" dirty="0"/>
              <a:t>Continuous</a:t>
            </a:r>
          </a:p>
          <a:p>
            <a:pPr lvl="1"/>
            <a:r>
              <a:rPr lang="en-US" sz="2600" dirty="0" err="1"/>
              <a:t>scale_fill</a:t>
            </a:r>
            <a:r>
              <a:rPr lang="en-US" sz="2600" dirty="0"/>
              <a:t>/</a:t>
            </a:r>
            <a:r>
              <a:rPr lang="en-US" sz="2600" dirty="0" err="1"/>
              <a:t>color_distiller</a:t>
            </a:r>
            <a:r>
              <a:rPr lang="en-US" sz="2600" dirty="0"/>
              <a:t>(palette=“name”)</a:t>
            </a:r>
          </a:p>
          <a:p>
            <a:pPr lvl="1"/>
            <a:r>
              <a:rPr lang="en-US" sz="2600" dirty="0" err="1"/>
              <a:t>scale_fill_gradient</a:t>
            </a:r>
            <a:r>
              <a:rPr lang="en-US" sz="2600" dirty="0"/>
              <a:t>(low=“color1”,</a:t>
            </a:r>
            <a:br>
              <a:rPr lang="en-US" sz="2600" dirty="0"/>
            </a:br>
            <a:r>
              <a:rPr lang="en-US" sz="2600" dirty="0"/>
              <a:t>                           high=“color2”)</a:t>
            </a:r>
          </a:p>
          <a:p>
            <a:pPr lvl="1"/>
            <a:r>
              <a:rPr lang="en-US" sz="2800" dirty="0"/>
              <a:t>scale_fill_gradient2 </a:t>
            </a:r>
            <a:r>
              <a:rPr lang="en-US" sz="2800" dirty="0">
                <a:sym typeface="Wingdings" panose="05000000000000000000" pitchFamily="2" charset="2"/>
              </a:rPr>
              <a:t> specify</a:t>
            </a:r>
            <a:r>
              <a:rPr lang="en-US" sz="2800" dirty="0"/>
              <a:t> middle color</a:t>
            </a:r>
          </a:p>
          <a:p>
            <a:pPr lvl="1"/>
            <a:r>
              <a:rPr lang="en-US" sz="2600" dirty="0" err="1"/>
              <a:t>scale_shape</a:t>
            </a:r>
            <a:r>
              <a:rPr lang="en-US" sz="2600" dirty="0"/>
              <a:t>_  &amp; </a:t>
            </a:r>
            <a:r>
              <a:rPr lang="en-US" sz="2600" dirty="0" err="1"/>
              <a:t>scale_size</a:t>
            </a:r>
            <a:r>
              <a:rPr lang="en-US" sz="2600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282457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Labels &amp;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457042"/>
            <a:ext cx="5422390" cy="3633047"/>
          </a:xfrm>
        </p:spPr>
        <p:txBody>
          <a:bodyPr>
            <a:normAutofit/>
          </a:bodyPr>
          <a:lstStyle/>
          <a:p>
            <a:r>
              <a:rPr lang="en-US" sz="2800" dirty="0"/>
              <a:t>labs </a:t>
            </a:r>
            <a:r>
              <a:rPr lang="en-US" sz="2800" dirty="0">
                <a:sym typeface="Wingdings" panose="05000000000000000000" pitchFamily="2" charset="2"/>
              </a:rPr>
              <a:t> defines labels</a:t>
            </a:r>
          </a:p>
          <a:p>
            <a:pPr lvl="1"/>
            <a:r>
              <a:rPr lang="en-US" sz="2400" dirty="0">
                <a:sym typeface="Wingdings" panose="05000000000000000000" pitchFamily="2" charset="2"/>
              </a:rPr>
              <a:t>x =</a:t>
            </a:r>
          </a:p>
          <a:p>
            <a:pPr lvl="1"/>
            <a:r>
              <a:rPr lang="en-US" dirty="0"/>
              <a:t>y</a:t>
            </a:r>
            <a:r>
              <a:rPr lang="en-US" sz="2400" dirty="0"/>
              <a:t> =</a:t>
            </a:r>
          </a:p>
          <a:p>
            <a:pPr lvl="1"/>
            <a:r>
              <a:rPr lang="en-US" sz="2400" dirty="0"/>
              <a:t>title =</a:t>
            </a:r>
          </a:p>
          <a:p>
            <a:pPr lvl="1"/>
            <a:r>
              <a:rPr lang="en-US" sz="2400" dirty="0"/>
              <a:t>subtitle =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1553" y="1457053"/>
            <a:ext cx="5909256" cy="2003338"/>
          </a:xfrm>
        </p:spPr>
        <p:txBody>
          <a:bodyPr>
            <a:normAutofit/>
          </a:bodyPr>
          <a:lstStyle/>
          <a:p>
            <a:r>
              <a:rPr lang="en-US" sz="2800" dirty="0"/>
              <a:t>theme_  </a:t>
            </a:r>
            <a:r>
              <a:rPr lang="en-US" sz="2800" dirty="0">
                <a:sym typeface="Wingdings" panose="05000000000000000000" pitchFamily="2" charset="2"/>
              </a:rPr>
              <a:t> defines color theme</a:t>
            </a:r>
            <a:br>
              <a:rPr lang="en-US" sz="2800" dirty="0">
                <a:sym typeface="Wingdings" panose="05000000000000000000" pitchFamily="2" charset="2"/>
              </a:rPr>
            </a:br>
            <a:r>
              <a:rPr lang="en-US" sz="2800" dirty="0">
                <a:sym typeface="Wingdings" panose="05000000000000000000" pitchFamily="2" charset="2"/>
              </a:rPr>
              <a:t>               defines legend position</a:t>
            </a:r>
            <a:endParaRPr lang="en-US" sz="2800" dirty="0"/>
          </a:p>
        </p:txBody>
      </p:sp>
      <p:pic>
        <p:nvPicPr>
          <p:cNvPr id="8194" name="Picture 2" descr="Image result for ggplot them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991" y="2999164"/>
            <a:ext cx="6615147" cy="385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1313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Color Brewer As A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339" y="1780309"/>
            <a:ext cx="5811078" cy="3633047"/>
          </a:xfrm>
        </p:spPr>
        <p:txBody>
          <a:bodyPr/>
          <a:lstStyle/>
          <a:p>
            <a:r>
              <a:rPr lang="en-US" dirty="0"/>
              <a:t>Discrete/Categorical – histogram, bar chart &amp; column chart (sometimes)</a:t>
            </a:r>
          </a:p>
          <a:p>
            <a:pPr lvl="1"/>
            <a:r>
              <a:rPr lang="en-US" dirty="0" err="1"/>
              <a:t>scale_color_brewer</a:t>
            </a:r>
            <a:r>
              <a:rPr lang="en-US" dirty="0"/>
              <a:t>(palette = “name”)</a:t>
            </a:r>
          </a:p>
          <a:p>
            <a:pPr lvl="1"/>
            <a:r>
              <a:rPr lang="en-US" dirty="0" err="1"/>
              <a:t>scale_fill_brewer</a:t>
            </a:r>
            <a:r>
              <a:rPr lang="en-US" dirty="0"/>
              <a:t>(palette = “name”)</a:t>
            </a:r>
          </a:p>
          <a:p>
            <a:pPr lvl="1"/>
            <a:r>
              <a:rPr lang="en-US" dirty="0"/>
              <a:t>direction = -1 reverses color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1959068"/>
            <a:ext cx="5602530" cy="3633047"/>
          </a:xfrm>
        </p:spPr>
        <p:txBody>
          <a:bodyPr/>
          <a:lstStyle/>
          <a:p>
            <a:r>
              <a:rPr lang="en-US" dirty="0"/>
              <a:t>Continuous – scatterplot, line, &amp; column chart (sometimes)</a:t>
            </a:r>
          </a:p>
          <a:p>
            <a:pPr lvl="1"/>
            <a:r>
              <a:rPr lang="en-US" dirty="0" err="1"/>
              <a:t>scale_color_distiller</a:t>
            </a:r>
            <a:r>
              <a:rPr lang="en-US" dirty="0"/>
              <a:t>(palette = “name”)</a:t>
            </a:r>
          </a:p>
          <a:p>
            <a:pPr lvl="1"/>
            <a:r>
              <a:rPr lang="en-US" dirty="0" err="1"/>
              <a:t>scale_fill_distiller</a:t>
            </a:r>
            <a:r>
              <a:rPr lang="en-US" dirty="0"/>
              <a:t>(palette = “name”)</a:t>
            </a:r>
          </a:p>
          <a:p>
            <a:pPr lvl="1"/>
            <a:r>
              <a:rPr lang="en-US" dirty="0"/>
              <a:t>NOTE:  direction = -1 </a:t>
            </a:r>
            <a:r>
              <a:rPr lang="en-US" dirty="0">
                <a:sym typeface="Wingdings" panose="05000000000000000000" pitchFamily="2" charset="2"/>
              </a:rPr>
              <a:t> DOES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               NOTHING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transform = “reverse” reverses color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6" y="5670550"/>
            <a:ext cx="10497050" cy="75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1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Color Brewer as a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012" y="1929484"/>
            <a:ext cx="12192000" cy="4471316"/>
          </a:xfrm>
        </p:spPr>
        <p:txBody>
          <a:bodyPr>
            <a:noAutofit/>
          </a:bodyPr>
          <a:lstStyle/>
          <a:p>
            <a:r>
              <a:rPr lang="en-US" dirty="0"/>
              <a:t>May also use gradient or gradient2 functions</a:t>
            </a:r>
          </a:p>
          <a:p>
            <a:pPr lvl="1"/>
            <a:r>
              <a:rPr lang="en-US" dirty="0"/>
              <a:t>gradient color is low to high and passes through white</a:t>
            </a:r>
            <a:br>
              <a:rPr lang="en-US" dirty="0"/>
            </a:br>
            <a:r>
              <a:rPr lang="en-US" b="1" i="1" dirty="0" err="1">
                <a:solidFill>
                  <a:schemeClr val="accent2"/>
                </a:solidFill>
              </a:rPr>
              <a:t>scale_fill_gradient</a:t>
            </a:r>
            <a:r>
              <a:rPr lang="en-US" b="1" i="1" dirty="0">
                <a:solidFill>
                  <a:schemeClr val="accent2"/>
                </a:solidFill>
              </a:rPr>
              <a:t>(low=“blue”,  high=“red”, </a:t>
            </a:r>
            <a:r>
              <a:rPr lang="en-US" b="1" i="1" dirty="0" err="1">
                <a:solidFill>
                  <a:schemeClr val="accent2"/>
                </a:solidFill>
              </a:rPr>
              <a:t>na.value</a:t>
            </a:r>
            <a:r>
              <a:rPr lang="en-US" b="1" i="1" dirty="0">
                <a:solidFill>
                  <a:schemeClr val="accent2"/>
                </a:solidFill>
              </a:rPr>
              <a:t> = “yellow”)</a:t>
            </a:r>
          </a:p>
          <a:p>
            <a:pPr lvl="1"/>
            <a:r>
              <a:rPr lang="en-US" dirty="0"/>
              <a:t>gradient2 color is low to high, passing through a middle color defined in the function</a:t>
            </a:r>
            <a:br>
              <a:rPr lang="en-US" dirty="0"/>
            </a:br>
            <a:r>
              <a:rPr lang="en-US" b="1" i="1" dirty="0">
                <a:solidFill>
                  <a:schemeClr val="accent2"/>
                </a:solidFill>
              </a:rPr>
              <a:t>scale_fill_gradient2(low=“green”,  mid = “gray”,  high=“yellow”,  </a:t>
            </a:r>
            <a:r>
              <a:rPr lang="en-US" b="1" i="1" dirty="0" err="1">
                <a:solidFill>
                  <a:schemeClr val="accent2"/>
                </a:solidFill>
              </a:rPr>
              <a:t>na.value</a:t>
            </a:r>
            <a:r>
              <a:rPr lang="en-US" b="1" i="1" dirty="0">
                <a:solidFill>
                  <a:schemeClr val="accent2"/>
                </a:solidFill>
              </a:rPr>
              <a:t> =“white”)</a:t>
            </a:r>
          </a:p>
          <a:p>
            <a:pPr lvl="1"/>
            <a:endParaRPr lang="en-US" dirty="0"/>
          </a:p>
          <a:p>
            <a:r>
              <a:rPr lang="en-US" dirty="0"/>
              <a:t>May also manually set colors</a:t>
            </a:r>
          </a:p>
          <a:p>
            <a:pPr lvl="1"/>
            <a:r>
              <a:rPr lang="en-US" b="1" i="1" dirty="0" err="1">
                <a:solidFill>
                  <a:schemeClr val="accent2"/>
                </a:solidFill>
              </a:rPr>
              <a:t>myColors</a:t>
            </a:r>
            <a:r>
              <a:rPr lang="en-US" b="1" i="1" dirty="0">
                <a:solidFill>
                  <a:schemeClr val="accent2"/>
                </a:solidFill>
              </a:rPr>
              <a:t> &lt;- palette(</a:t>
            </a:r>
            <a:r>
              <a:rPr lang="en-US" b="1" i="1" dirty="0" err="1">
                <a:solidFill>
                  <a:schemeClr val="accent2"/>
                </a:solidFill>
              </a:rPr>
              <a:t>brewer.pal</a:t>
            </a:r>
            <a:r>
              <a:rPr lang="en-US" b="1" i="1" dirty="0">
                <a:solidFill>
                  <a:schemeClr val="accent2"/>
                </a:solidFill>
              </a:rPr>
              <a:t>(6, “Blues”))</a:t>
            </a:r>
          </a:p>
          <a:p>
            <a:pPr lvl="1"/>
            <a:r>
              <a:rPr lang="en-US" b="1" i="1" dirty="0" err="1">
                <a:solidFill>
                  <a:schemeClr val="accent2"/>
                </a:solidFill>
              </a:rPr>
              <a:t>scale_color_manual</a:t>
            </a:r>
            <a:r>
              <a:rPr lang="en-US" b="1" i="1" dirty="0">
                <a:solidFill>
                  <a:schemeClr val="accent2"/>
                </a:solidFill>
              </a:rPr>
              <a:t>(values = </a:t>
            </a:r>
            <a:r>
              <a:rPr lang="en-US" b="1" i="1" dirty="0" err="1">
                <a:solidFill>
                  <a:schemeClr val="accent2"/>
                </a:solidFill>
              </a:rPr>
              <a:t>myColors</a:t>
            </a:r>
            <a:r>
              <a:rPr lang="en-US" b="1" i="1" dirty="0">
                <a:solidFill>
                  <a:schemeClr val="accent2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40587-36E5-4704-8BDC-BDE8B7EB6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479" y="4459579"/>
            <a:ext cx="3511326" cy="19412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3029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5622384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TWO CONTINUOUS values</a:t>
            </a:r>
          </a:p>
          <a:p>
            <a:r>
              <a:rPr lang="en-US" dirty="0" err="1"/>
              <a:t>geom_point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plots (x, y) values</a:t>
            </a:r>
          </a:p>
          <a:p>
            <a:pPr lvl="1"/>
            <a:r>
              <a:rPr lang="en-US" dirty="0"/>
              <a:t>Minimum:  define x &amp; y</a:t>
            </a:r>
          </a:p>
          <a:p>
            <a:r>
              <a:rPr lang="en-US" dirty="0"/>
              <a:t>Aesthetics</a:t>
            </a:r>
          </a:p>
          <a:p>
            <a:pPr lvl="1"/>
            <a:r>
              <a:rPr lang="en-US" dirty="0"/>
              <a:t>x, y</a:t>
            </a:r>
          </a:p>
          <a:p>
            <a:pPr lvl="1"/>
            <a:r>
              <a:rPr lang="en-US" dirty="0"/>
              <a:t>color, fill</a:t>
            </a:r>
          </a:p>
          <a:p>
            <a:pPr lvl="1"/>
            <a:r>
              <a:rPr lang="en-US" dirty="0"/>
              <a:t>alpha, shape, size, stroke</a:t>
            </a:r>
          </a:p>
        </p:txBody>
      </p:sp>
      <p:pic>
        <p:nvPicPr>
          <p:cNvPr id="11266" name="Picture 2" descr="Image result for scatter plot 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270" y="2180496"/>
            <a:ext cx="6131859" cy="4087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051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954306"/>
            <a:ext cx="5422390" cy="4903694"/>
          </a:xfrm>
        </p:spPr>
        <p:txBody>
          <a:bodyPr>
            <a:noAutofit/>
          </a:bodyPr>
          <a:lstStyle/>
          <a:p>
            <a:pPr lvl="1"/>
            <a:r>
              <a:rPr lang="en-US" sz="2200" dirty="0"/>
              <a:t>Download college.csv file and mutate</a:t>
            </a:r>
          </a:p>
          <a:p>
            <a:pPr lvl="1"/>
            <a:r>
              <a:rPr lang="en-US" sz="2200" dirty="0"/>
              <a:t>Convert FIVE variables to factors </a:t>
            </a:r>
          </a:p>
          <a:p>
            <a:pPr lvl="2"/>
            <a:r>
              <a:rPr lang="en-US" sz="2200" dirty="0"/>
              <a:t>state</a:t>
            </a:r>
          </a:p>
          <a:p>
            <a:pPr lvl="2"/>
            <a:r>
              <a:rPr lang="en-US" sz="2200" dirty="0"/>
              <a:t>region</a:t>
            </a:r>
          </a:p>
          <a:p>
            <a:pPr lvl="2"/>
            <a:r>
              <a:rPr lang="en-US" sz="2200" dirty="0" err="1"/>
              <a:t>highest_degree</a:t>
            </a:r>
            <a:endParaRPr lang="en-US" sz="2200" dirty="0"/>
          </a:p>
          <a:p>
            <a:pPr lvl="2"/>
            <a:r>
              <a:rPr lang="en-US" sz="2200" dirty="0"/>
              <a:t>control</a:t>
            </a:r>
          </a:p>
          <a:p>
            <a:pPr lvl="2"/>
            <a:r>
              <a:rPr lang="en-US" sz="2200" dirty="0"/>
              <a:t>Gender</a:t>
            </a:r>
          </a:p>
          <a:p>
            <a:pPr lvl="1"/>
            <a:r>
              <a:rPr lang="en-US" sz="2200" dirty="0"/>
              <a:t>Convert ONE variable to numeric</a:t>
            </a:r>
          </a:p>
          <a:p>
            <a:pPr lvl="2"/>
            <a:r>
              <a:rPr lang="en-US" sz="2200" dirty="0" err="1"/>
              <a:t>loan_default_rate</a:t>
            </a:r>
            <a:endParaRPr lang="en-US" sz="2200" dirty="0"/>
          </a:p>
          <a:p>
            <a:pPr lvl="1"/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3318" y="1969002"/>
            <a:ext cx="6669741" cy="4826245"/>
          </a:xfrm>
        </p:spPr>
        <p:txBody>
          <a:bodyPr>
            <a:noAutofit/>
          </a:bodyPr>
          <a:lstStyle/>
          <a:p>
            <a:r>
              <a:rPr lang="en-US" sz="22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college &lt;-  </a:t>
            </a:r>
            <a:r>
              <a:rPr lang="en-US" sz="22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read_csv</a:t>
            </a:r>
            <a:r>
              <a:rPr lang="en-US" sz="22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("college.csv", </a:t>
            </a:r>
            <a:r>
              <a:rPr lang="en-US" sz="22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col_names</a:t>
            </a:r>
            <a:r>
              <a:rPr lang="en-US" sz="22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TRUE)</a:t>
            </a:r>
          </a:p>
          <a:p>
            <a:endParaRPr lang="en-US" sz="2200" dirty="0"/>
          </a:p>
          <a:p>
            <a:r>
              <a:rPr lang="en-US" sz="2200" b="1" i="1" dirty="0">
                <a:solidFill>
                  <a:srgbClr val="C00000"/>
                </a:solidFill>
              </a:rPr>
              <a:t>college &lt;- college %&gt;%</a:t>
            </a:r>
          </a:p>
          <a:p>
            <a:r>
              <a:rPr lang="en-US" sz="2200" b="1" i="1" dirty="0">
                <a:solidFill>
                  <a:srgbClr val="C00000"/>
                </a:solidFill>
              </a:rPr>
              <a:t>  mutate(state = </a:t>
            </a:r>
            <a:r>
              <a:rPr lang="en-US" sz="2200" b="1" i="1" dirty="0" err="1">
                <a:solidFill>
                  <a:srgbClr val="C00000"/>
                </a:solidFill>
              </a:rPr>
              <a:t>as.factor</a:t>
            </a:r>
            <a:r>
              <a:rPr lang="en-US" sz="2200" b="1" i="1" dirty="0">
                <a:solidFill>
                  <a:srgbClr val="C00000"/>
                </a:solidFill>
              </a:rPr>
              <a:t>(state),</a:t>
            </a:r>
          </a:p>
          <a:p>
            <a:r>
              <a:rPr lang="en-US" sz="2200" b="1" i="1" dirty="0">
                <a:solidFill>
                  <a:srgbClr val="C00000"/>
                </a:solidFill>
              </a:rPr>
              <a:t>         region = </a:t>
            </a:r>
            <a:r>
              <a:rPr lang="en-US" sz="2200" b="1" i="1" dirty="0" err="1">
                <a:solidFill>
                  <a:srgbClr val="C00000"/>
                </a:solidFill>
              </a:rPr>
              <a:t>as.factor</a:t>
            </a:r>
            <a:r>
              <a:rPr lang="en-US" sz="2200" b="1" i="1" dirty="0">
                <a:solidFill>
                  <a:srgbClr val="C00000"/>
                </a:solidFill>
              </a:rPr>
              <a:t>(region),</a:t>
            </a:r>
          </a:p>
          <a:p>
            <a:r>
              <a:rPr lang="en-US" sz="2200" b="1" i="1" dirty="0">
                <a:solidFill>
                  <a:srgbClr val="C00000"/>
                </a:solidFill>
              </a:rPr>
              <a:t>         </a:t>
            </a:r>
            <a:r>
              <a:rPr lang="en-US" sz="2200" b="1" i="1" dirty="0" err="1">
                <a:solidFill>
                  <a:srgbClr val="C00000"/>
                </a:solidFill>
              </a:rPr>
              <a:t>highest_degree</a:t>
            </a:r>
            <a:r>
              <a:rPr lang="en-US" sz="2200" b="1" i="1" dirty="0">
                <a:solidFill>
                  <a:srgbClr val="C00000"/>
                </a:solidFill>
              </a:rPr>
              <a:t> = </a:t>
            </a:r>
            <a:r>
              <a:rPr lang="en-US" sz="2200" b="1" i="1" dirty="0" err="1">
                <a:solidFill>
                  <a:srgbClr val="C00000"/>
                </a:solidFill>
              </a:rPr>
              <a:t>as.factor</a:t>
            </a:r>
            <a:r>
              <a:rPr lang="en-US" sz="2200" b="1" i="1" dirty="0">
                <a:solidFill>
                  <a:srgbClr val="C00000"/>
                </a:solidFill>
              </a:rPr>
              <a:t>(</a:t>
            </a:r>
            <a:r>
              <a:rPr lang="en-US" sz="2200" b="1" i="1" dirty="0" err="1">
                <a:solidFill>
                  <a:srgbClr val="C00000"/>
                </a:solidFill>
              </a:rPr>
              <a:t>highest_degree</a:t>
            </a:r>
            <a:r>
              <a:rPr lang="en-US" sz="2200" b="1" i="1" dirty="0">
                <a:solidFill>
                  <a:srgbClr val="C00000"/>
                </a:solidFill>
              </a:rPr>
              <a:t>),</a:t>
            </a:r>
          </a:p>
          <a:p>
            <a:r>
              <a:rPr lang="en-US" sz="2200" b="1" i="1" dirty="0">
                <a:solidFill>
                  <a:srgbClr val="C00000"/>
                </a:solidFill>
              </a:rPr>
              <a:t>         control = </a:t>
            </a:r>
            <a:r>
              <a:rPr lang="en-US" sz="2200" b="1" i="1" dirty="0" err="1">
                <a:solidFill>
                  <a:srgbClr val="C00000"/>
                </a:solidFill>
              </a:rPr>
              <a:t>as.factor</a:t>
            </a:r>
            <a:r>
              <a:rPr lang="en-US" sz="2200" b="1" i="1" dirty="0">
                <a:solidFill>
                  <a:srgbClr val="C00000"/>
                </a:solidFill>
              </a:rPr>
              <a:t>(control),</a:t>
            </a:r>
          </a:p>
          <a:p>
            <a:r>
              <a:rPr lang="en-US" sz="2200" b="1" i="1" dirty="0">
                <a:solidFill>
                  <a:srgbClr val="C00000"/>
                </a:solidFill>
              </a:rPr>
              <a:t>         gender = </a:t>
            </a:r>
            <a:r>
              <a:rPr lang="en-US" sz="2200" b="1" i="1" dirty="0" err="1">
                <a:solidFill>
                  <a:srgbClr val="C00000"/>
                </a:solidFill>
              </a:rPr>
              <a:t>as.factor</a:t>
            </a:r>
            <a:r>
              <a:rPr lang="en-US" sz="2200" b="1" i="1" dirty="0">
                <a:solidFill>
                  <a:srgbClr val="C00000"/>
                </a:solidFill>
              </a:rPr>
              <a:t>(gender),</a:t>
            </a:r>
          </a:p>
          <a:p>
            <a:r>
              <a:rPr lang="en-US" sz="2200" b="1" i="1" dirty="0">
                <a:solidFill>
                  <a:srgbClr val="C00000"/>
                </a:solidFill>
              </a:rPr>
              <a:t>         </a:t>
            </a:r>
            <a:r>
              <a:rPr lang="en-US" sz="2200" b="1" i="1" dirty="0" err="1">
                <a:solidFill>
                  <a:srgbClr val="C00000"/>
                </a:solidFill>
              </a:rPr>
              <a:t>loan_default_rate</a:t>
            </a:r>
            <a:r>
              <a:rPr lang="en-US" sz="2200" b="1" i="1" dirty="0">
                <a:solidFill>
                  <a:srgbClr val="C00000"/>
                </a:solidFill>
              </a:rPr>
              <a:t> = </a:t>
            </a:r>
            <a:r>
              <a:rPr lang="en-US" sz="2200" b="1" i="1" dirty="0" err="1">
                <a:solidFill>
                  <a:srgbClr val="C00000"/>
                </a:solidFill>
              </a:rPr>
              <a:t>as.numeric</a:t>
            </a:r>
            <a:r>
              <a:rPr lang="en-US" sz="2200" b="1" i="1" dirty="0">
                <a:solidFill>
                  <a:srgbClr val="C00000"/>
                </a:solidFill>
              </a:rPr>
              <a:t>(</a:t>
            </a:r>
            <a:r>
              <a:rPr lang="en-US" sz="2200" b="1" i="1" dirty="0" err="1">
                <a:solidFill>
                  <a:srgbClr val="C00000"/>
                </a:solidFill>
              </a:rPr>
              <a:t>loan_default_rate</a:t>
            </a:r>
            <a:r>
              <a:rPr lang="en-US" sz="2200" b="1" i="1" dirty="0">
                <a:solidFill>
                  <a:srgbClr val="C00000"/>
                </a:solidFill>
              </a:rPr>
              <a:t>)) %&gt;%</a:t>
            </a:r>
          </a:p>
          <a:p>
            <a:r>
              <a:rPr lang="en-US" sz="2200" b="1" i="1" dirty="0">
                <a:solidFill>
                  <a:srgbClr val="C00000"/>
                </a:solidFill>
              </a:rPr>
              <a:t>  </a:t>
            </a:r>
            <a:r>
              <a:rPr lang="en-US" sz="2200" b="1" i="1" dirty="0" err="1">
                <a:solidFill>
                  <a:srgbClr val="C00000"/>
                </a:solidFill>
              </a:rPr>
              <a:t>na.omit</a:t>
            </a:r>
            <a:endParaRPr lang="en-US" sz="22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438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 Example – </a:t>
            </a:r>
            <a:r>
              <a:rPr lang="en-US" cap="none" dirty="0" err="1"/>
              <a:t>con’t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1715956"/>
            <a:ext cx="6949161" cy="504100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Use aesthetics</a:t>
            </a:r>
          </a:p>
          <a:p>
            <a:r>
              <a:rPr lang="en-US" dirty="0"/>
              <a:t>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college %&gt;%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geom_point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(x=tuition,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y=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sat_avg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color = tuition,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alpha = 0.25)) +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scale_color_distiller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(palette="Dark2")</a:t>
            </a:r>
          </a:p>
          <a:p>
            <a:endParaRPr lang="en-US" dirty="0"/>
          </a:p>
          <a:p>
            <a:r>
              <a:rPr lang="en-US" dirty="0"/>
              <a:t>What happens when the size aesthetic is used?</a:t>
            </a:r>
          </a:p>
          <a:p>
            <a:pPr lvl="1"/>
            <a:r>
              <a:rPr lang="en-US" dirty="0"/>
              <a:t>Size by tuition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52" y="1110822"/>
            <a:ext cx="4080456" cy="5646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5F86EA-7D9A-4DA9-AA58-0D1B449B7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716" y="2124622"/>
            <a:ext cx="5828284" cy="432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81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 Example – </a:t>
            </a:r>
            <a:r>
              <a:rPr lang="en-US" cap="none" dirty="0" err="1"/>
              <a:t>con’t</a:t>
            </a:r>
            <a:endParaRPr lang="en-US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6411279" cy="3678303"/>
          </a:xfrm>
        </p:spPr>
        <p:txBody>
          <a:bodyPr/>
          <a:lstStyle/>
          <a:p>
            <a:r>
              <a:rPr lang="en-US" dirty="0"/>
              <a:t>college %&gt;%</a:t>
            </a:r>
          </a:p>
          <a:p>
            <a:r>
              <a:rPr lang="en-US" dirty="0"/>
              <a:t>  </a:t>
            </a:r>
            <a:r>
              <a:rPr lang="en-US" dirty="0" err="1"/>
              <a:t>ggplot</a:t>
            </a:r>
            <a:r>
              <a:rPr lang="en-US" dirty="0"/>
              <a:t>(mapping = </a:t>
            </a:r>
            <a:r>
              <a:rPr lang="en-US" dirty="0" err="1"/>
              <a:t>aes</a:t>
            </a:r>
            <a:r>
              <a:rPr lang="en-US" dirty="0"/>
              <a:t>(x = undergrads,</a:t>
            </a:r>
          </a:p>
          <a:p>
            <a:r>
              <a:rPr lang="en-US" dirty="0"/>
              <a:t>                       y = </a:t>
            </a:r>
            <a:r>
              <a:rPr lang="en-US" dirty="0" err="1"/>
              <a:t>sat_avg</a:t>
            </a:r>
            <a:r>
              <a:rPr lang="en-US" dirty="0"/>
              <a:t>)) +</a:t>
            </a:r>
          </a:p>
          <a:p>
            <a:r>
              <a:rPr lang="en-US" dirty="0"/>
              <a:t>  </a:t>
            </a:r>
            <a:r>
              <a:rPr lang="en-US" dirty="0" err="1"/>
              <a:t>geom_smooth</a:t>
            </a:r>
            <a:r>
              <a:rPr lang="en-US" dirty="0"/>
              <a:t>(se = FALSE) +</a:t>
            </a:r>
          </a:p>
          <a:p>
            <a:r>
              <a:rPr lang="en-US" dirty="0"/>
              <a:t>  </a:t>
            </a:r>
            <a:r>
              <a:rPr lang="en-US" dirty="0" err="1"/>
              <a:t>geom_point</a:t>
            </a:r>
            <a:r>
              <a:rPr lang="en-US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624" y="1242312"/>
            <a:ext cx="3949847" cy="548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159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 Example – </a:t>
            </a:r>
            <a:r>
              <a:rPr lang="en-US" cap="none" dirty="0" err="1"/>
              <a:t>con’t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1824878"/>
            <a:ext cx="6518854" cy="48448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 </a:t>
            </a:r>
            <a:r>
              <a:rPr lang="en-US" dirty="0">
                <a:sym typeface="Wingdings" panose="05000000000000000000" pitchFamily="2" charset="2"/>
              </a:rPr>
              <a:t> standard error</a:t>
            </a:r>
          </a:p>
          <a:p>
            <a:pPr lvl="1"/>
            <a:r>
              <a:rPr lang="en-US" dirty="0"/>
              <a:t>The </a:t>
            </a:r>
            <a:r>
              <a:rPr lang="en-US" b="1" dirty="0"/>
              <a:t>standard error</a:t>
            </a:r>
            <a:r>
              <a:rPr lang="en-US" dirty="0"/>
              <a:t> is the approximate </a:t>
            </a:r>
            <a:r>
              <a:rPr lang="en-US" b="1" dirty="0"/>
              <a:t>standard deviation</a:t>
            </a:r>
            <a:r>
              <a:rPr lang="en-US" dirty="0"/>
              <a:t> of a statistical sample population. </a:t>
            </a:r>
          </a:p>
          <a:p>
            <a:pPr lvl="1"/>
            <a:r>
              <a:rPr lang="en-US" dirty="0"/>
              <a:t>The </a:t>
            </a:r>
            <a:r>
              <a:rPr lang="en-US" b="1" dirty="0"/>
              <a:t>standard error</a:t>
            </a:r>
            <a:r>
              <a:rPr lang="en-US" dirty="0"/>
              <a:t> is a statistical term that measures the accuracy with which a sample represents a population. </a:t>
            </a:r>
          </a:p>
          <a:p>
            <a:pPr lvl="1"/>
            <a:r>
              <a:rPr lang="en-US" dirty="0"/>
              <a:t>In statistics, a sample mean deviates from the actual mean of a population; this </a:t>
            </a:r>
            <a:r>
              <a:rPr lang="en-US" b="1" dirty="0"/>
              <a:t>deviation</a:t>
            </a:r>
            <a:r>
              <a:rPr lang="en-US" dirty="0"/>
              <a:t> is the </a:t>
            </a:r>
            <a:r>
              <a:rPr lang="en-US" b="1" dirty="0"/>
              <a:t>standard error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Common methods in r</a:t>
            </a:r>
          </a:p>
          <a:p>
            <a:pPr lvl="2"/>
            <a:r>
              <a:rPr lang="en-US" dirty="0"/>
              <a:t>method = "lm" </a:t>
            </a:r>
            <a:r>
              <a:rPr lang="en-US" dirty="0">
                <a:sym typeface="Wingdings" panose="05000000000000000000" pitchFamily="2" charset="2"/>
              </a:rPr>
              <a:t>  linear model (regression line)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method = "loess"  </a:t>
            </a:r>
            <a:r>
              <a:rPr lang="en-US" sz="2100" b="1" u="sng" dirty="0">
                <a:solidFill>
                  <a:srgbClr val="C00000"/>
                </a:solidFill>
                <a:sym typeface="Wingdings" panose="05000000000000000000" pitchFamily="2" charset="2"/>
              </a:rPr>
              <a:t>l</a:t>
            </a:r>
            <a:r>
              <a:rPr lang="en-US" b="1" u="sng" dirty="0">
                <a:solidFill>
                  <a:srgbClr val="C00000"/>
                </a:solidFill>
                <a:sym typeface="Wingdings" panose="05000000000000000000" pitchFamily="2" charset="2"/>
              </a:rPr>
              <a:t>o</a:t>
            </a:r>
            <a:r>
              <a:rPr lang="en-US" dirty="0">
                <a:sym typeface="Wingdings" panose="05000000000000000000" pitchFamily="2" charset="2"/>
              </a:rPr>
              <a:t>cal </a:t>
            </a:r>
            <a:r>
              <a:rPr lang="en-US" b="1" u="sng" dirty="0">
                <a:solidFill>
                  <a:srgbClr val="C00000"/>
                </a:solidFill>
                <a:sym typeface="Wingdings" panose="05000000000000000000" pitchFamily="2" charset="2"/>
              </a:rPr>
              <a:t>e</a:t>
            </a:r>
            <a:r>
              <a:rPr lang="en-US" dirty="0">
                <a:sym typeface="Wingdings" panose="05000000000000000000" pitchFamily="2" charset="2"/>
              </a:rPr>
              <a:t>stimated </a:t>
            </a:r>
            <a:r>
              <a:rPr lang="en-US" sz="2100" b="1" u="sng" dirty="0">
                <a:solidFill>
                  <a:srgbClr val="C00000"/>
                </a:solidFill>
                <a:sym typeface="Wingdings" panose="05000000000000000000" pitchFamily="2" charset="2"/>
              </a:rPr>
              <a:t>s</a:t>
            </a:r>
            <a:r>
              <a:rPr lang="en-US" dirty="0">
                <a:sym typeface="Wingdings" panose="05000000000000000000" pitchFamily="2" charset="2"/>
              </a:rPr>
              <a:t>catterplot </a:t>
            </a:r>
            <a:r>
              <a:rPr lang="en-US" sz="2100" b="1" u="sng" dirty="0">
                <a:solidFill>
                  <a:srgbClr val="C00000"/>
                </a:solidFill>
                <a:sym typeface="Wingdings" panose="05000000000000000000" pitchFamily="2" charset="2"/>
              </a:rPr>
              <a:t>s</a:t>
            </a:r>
            <a:r>
              <a:rPr lang="en-US" dirty="0">
                <a:sym typeface="Wingdings" panose="05000000000000000000" pitchFamily="2" charset="2"/>
              </a:rPr>
              <a:t>moothing (aka </a:t>
            </a:r>
            <a:r>
              <a:rPr lang="en-US" b="1" i="1" dirty="0">
                <a:solidFill>
                  <a:srgbClr val="C00000"/>
                </a:solidFill>
                <a:sym typeface="Wingdings" panose="05000000000000000000" pitchFamily="2" charset="2"/>
              </a:rPr>
              <a:t>local regression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047" y="1374096"/>
            <a:ext cx="3820185" cy="529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456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Beautifying Your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7738055" cy="3678303"/>
          </a:xfrm>
        </p:spPr>
        <p:txBody>
          <a:bodyPr/>
          <a:lstStyle/>
          <a:p>
            <a:r>
              <a:rPr lang="en-US" dirty="0"/>
              <a:t>theme layer modifies plot display</a:t>
            </a:r>
          </a:p>
          <a:p>
            <a:pPr lvl="1"/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plot.background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rectangle of plot area – plot on top of this</a:t>
            </a:r>
          </a:p>
          <a:p>
            <a:pPr lvl="1"/>
            <a:r>
              <a:rPr lang="en-US" dirty="0" err="1">
                <a:solidFill>
                  <a:srgbClr val="7030A0"/>
                </a:solidFill>
              </a:rPr>
              <a:t>panel.background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chart area – rectangle</a:t>
            </a:r>
          </a:p>
          <a:p>
            <a:pPr lvl="1"/>
            <a:r>
              <a:rPr lang="en-US" dirty="0" err="1">
                <a:solidFill>
                  <a:srgbClr val="002060"/>
                </a:solidFill>
              </a:rPr>
              <a:t>panel.grid.major</a:t>
            </a:r>
            <a:r>
              <a:rPr lang="en-US" dirty="0"/>
              <a:t> &amp; </a:t>
            </a:r>
            <a:r>
              <a:rPr lang="en-US" dirty="0" err="1">
                <a:solidFill>
                  <a:srgbClr val="002060"/>
                </a:solidFill>
              </a:rPr>
              <a:t>panel.grid.minor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grid lines</a:t>
            </a:r>
          </a:p>
          <a:p>
            <a:pPr lvl="1"/>
            <a:r>
              <a:rPr lang="en-US" dirty="0" err="1">
                <a:solidFill>
                  <a:srgbClr val="F014C1"/>
                </a:solidFill>
              </a:rPr>
              <a:t>axis.text</a:t>
            </a:r>
            <a:r>
              <a:rPr lang="en-US" dirty="0">
                <a:solidFill>
                  <a:srgbClr val="F014C1"/>
                </a:solidFill>
              </a:rPr>
              <a:t>, </a:t>
            </a:r>
            <a:r>
              <a:rPr lang="en-US" dirty="0" err="1">
                <a:solidFill>
                  <a:srgbClr val="F014C1"/>
                </a:solidFill>
              </a:rPr>
              <a:t>axis.title</a:t>
            </a:r>
            <a:r>
              <a:rPr lang="en-US" dirty="0">
                <a:solidFill>
                  <a:srgbClr val="F014C1"/>
                </a:solidFill>
              </a:rPr>
              <a:t>, </a:t>
            </a:r>
            <a:r>
              <a:rPr lang="en-US" dirty="0" err="1">
                <a:solidFill>
                  <a:srgbClr val="F014C1"/>
                </a:solidFill>
              </a:rPr>
              <a:t>axis.ticks</a:t>
            </a:r>
            <a:r>
              <a:rPr lang="en-US" dirty="0">
                <a:solidFill>
                  <a:srgbClr val="F014C1"/>
                </a:solidFill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tick mark attributes</a:t>
            </a:r>
          </a:p>
          <a:p>
            <a:r>
              <a:rPr lang="en-US" dirty="0"/>
              <a:t>To remove element </a:t>
            </a:r>
            <a:r>
              <a:rPr lang="en-US" dirty="0">
                <a:sym typeface="Wingdings" panose="05000000000000000000" pitchFamily="2" charset="2"/>
              </a:rPr>
              <a:t> assign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element_blank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()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5362" name="Picture 2" descr="Image result for parts of a ch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327" y="2180496"/>
            <a:ext cx="32956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164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012" y="1715956"/>
            <a:ext cx="6615953" cy="5142044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college %&gt;%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geom_point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(x=tuition,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y=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sat_avg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color = tuition,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alpha = 0.25)) +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scale_color_distiller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(palette="Dark2") +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theme(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panel.background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element_rect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(fill = "beige"),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panel.grid.major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element_line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(color = "gray"),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plot.title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element_text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hjust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0.5)) +                     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labs(title = "SAT Scores v. Tuition") +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ylab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("SAT scores")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867" y="1567008"/>
            <a:ext cx="4962463" cy="4941368"/>
          </a:xfrm>
          <a:prstGeom prst="rect">
            <a:avLst/>
          </a:prstGeom>
        </p:spPr>
      </p:pic>
      <p:sp>
        <p:nvSpPr>
          <p:cNvPr id="6" name="Up Arrow Callout 5"/>
          <p:cNvSpPr/>
          <p:nvPr/>
        </p:nvSpPr>
        <p:spPr>
          <a:xfrm>
            <a:off x="4305051" y="5952564"/>
            <a:ext cx="1613647" cy="735106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Centers title</a:t>
            </a:r>
          </a:p>
        </p:txBody>
      </p:sp>
    </p:spTree>
    <p:extLst>
      <p:ext uri="{BB962C8B-B14F-4D97-AF65-F5344CB8AC3E}">
        <p14:creationId xmlns:p14="http://schemas.microsoft.com/office/powerpoint/2010/main" val="267456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&amp; Horizontal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5478949" cy="367830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geom_hline</a:t>
            </a:r>
            <a:r>
              <a:rPr lang="en-US" dirty="0"/>
              <a:t>(</a:t>
            </a:r>
            <a:r>
              <a:rPr lang="en-US" dirty="0" err="1"/>
              <a:t>yintercept</a:t>
            </a:r>
            <a:r>
              <a:rPr lang="en-US" dirty="0"/>
              <a:t> = </a:t>
            </a:r>
            <a:r>
              <a:rPr lang="en-US" dirty="0" err="1"/>
              <a:t>num</a:t>
            </a:r>
            <a:r>
              <a:rPr lang="en-US" dirty="0"/>
              <a:t>)</a:t>
            </a:r>
          </a:p>
          <a:p>
            <a:r>
              <a:rPr lang="en-US" dirty="0" err="1"/>
              <a:t>geom_vline</a:t>
            </a:r>
            <a:r>
              <a:rPr lang="en-US" dirty="0"/>
              <a:t>(</a:t>
            </a:r>
            <a:r>
              <a:rPr lang="en-US" dirty="0" err="1"/>
              <a:t>xintercept</a:t>
            </a:r>
            <a:r>
              <a:rPr lang="en-US" dirty="0"/>
              <a:t> = </a:t>
            </a:r>
            <a:r>
              <a:rPr lang="en-US" dirty="0" err="1"/>
              <a:t>num</a:t>
            </a:r>
            <a:r>
              <a:rPr lang="en-US" dirty="0"/>
              <a:t>)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>
                <a:solidFill>
                  <a:srgbClr val="C00000"/>
                </a:solidFill>
              </a:rPr>
              <a:t>geom_hline</a:t>
            </a:r>
            <a:r>
              <a:rPr lang="en-US" i="1" dirty="0">
                <a:solidFill>
                  <a:srgbClr val="C00000"/>
                </a:solidFill>
              </a:rPr>
              <a:t>(</a:t>
            </a:r>
            <a:r>
              <a:rPr lang="en-US" i="1" dirty="0" err="1">
                <a:solidFill>
                  <a:srgbClr val="C00000"/>
                </a:solidFill>
              </a:rPr>
              <a:t>yintercept</a:t>
            </a:r>
            <a:r>
              <a:rPr lang="en-US" i="1" dirty="0">
                <a:solidFill>
                  <a:srgbClr val="C00000"/>
                </a:solidFill>
              </a:rPr>
              <a:t>=mean(</a:t>
            </a:r>
            <a:r>
              <a:rPr lang="en-US" i="1" dirty="0" err="1">
                <a:solidFill>
                  <a:srgbClr val="C00000"/>
                </a:solidFill>
              </a:rPr>
              <a:t>college$sat_avg</a:t>
            </a:r>
            <a:r>
              <a:rPr lang="en-US" i="1" dirty="0">
                <a:solidFill>
                  <a:srgbClr val="C00000"/>
                </a:solidFill>
              </a:rPr>
              <a:t>), color="red") +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geom_vline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xintercept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=mean(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college$tuition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), color="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darkgreen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")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300" y="1209056"/>
            <a:ext cx="5246508" cy="522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4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80" y="1715956"/>
            <a:ext cx="6411279" cy="4911424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geom_text</a:t>
            </a:r>
            <a:r>
              <a:rPr lang="en-US" dirty="0"/>
              <a:t>(mapping = </a:t>
            </a:r>
            <a:r>
              <a:rPr lang="en-US" dirty="0" err="1"/>
              <a:t>aes</a:t>
            </a:r>
            <a:r>
              <a:rPr lang="en-US" dirty="0"/>
              <a:t>(x=  ,y =    , label  =    )</a:t>
            </a:r>
          </a:p>
          <a:p>
            <a:r>
              <a:rPr lang="en-US" dirty="0" err="1"/>
              <a:t>nudge_x</a:t>
            </a:r>
            <a:r>
              <a:rPr lang="en-US" dirty="0"/>
              <a:t> &amp; </a:t>
            </a:r>
            <a:r>
              <a:rPr lang="en-US" dirty="0" err="1"/>
              <a:t>nudge_y</a:t>
            </a:r>
            <a:r>
              <a:rPr lang="en-US" dirty="0"/>
              <a:t>  slightly moves text</a:t>
            </a:r>
          </a:p>
          <a:p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maxSchool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&lt;- college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filter(tuition == max(tuition))</a:t>
            </a:r>
          </a:p>
          <a:p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minSchool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&lt;- college %&gt;%</a:t>
            </a:r>
          </a:p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 filter(tuition == min(tuition))</a:t>
            </a:r>
          </a:p>
          <a:p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i="1" dirty="0" err="1">
                <a:solidFill>
                  <a:srgbClr val="C00000"/>
                </a:solidFill>
              </a:rPr>
              <a:t>geom_text</a:t>
            </a:r>
            <a:r>
              <a:rPr lang="en-US" i="1" dirty="0">
                <a:solidFill>
                  <a:srgbClr val="C00000"/>
                </a:solidFill>
              </a:rPr>
              <a:t>(mapping=</a:t>
            </a:r>
            <a:r>
              <a:rPr lang="en-US" i="1" dirty="0" err="1">
                <a:solidFill>
                  <a:srgbClr val="C00000"/>
                </a:solidFill>
              </a:rPr>
              <a:t>aes</a:t>
            </a:r>
            <a:r>
              <a:rPr lang="en-US" i="1" dirty="0">
                <a:solidFill>
                  <a:srgbClr val="C00000"/>
                </a:solidFill>
              </a:rPr>
              <a:t>(x=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maxSchool</a:t>
            </a:r>
            <a:r>
              <a:rPr lang="en-US" i="1" dirty="0" err="1">
                <a:solidFill>
                  <a:srgbClr val="C00000"/>
                </a:solidFill>
              </a:rPr>
              <a:t>$tuition</a:t>
            </a:r>
            <a:r>
              <a:rPr lang="en-US" i="1" dirty="0">
                <a:solidFill>
                  <a:srgbClr val="C00000"/>
                </a:solidFill>
              </a:rPr>
              <a:t>, y=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maxSchool</a:t>
            </a:r>
            <a:r>
              <a:rPr lang="en-US" i="1" dirty="0" err="1">
                <a:solidFill>
                  <a:srgbClr val="C00000"/>
                </a:solidFill>
              </a:rPr>
              <a:t>$sat_avg</a:t>
            </a:r>
            <a:r>
              <a:rPr lang="en-US" i="1" dirty="0">
                <a:solidFill>
                  <a:srgbClr val="C00000"/>
                </a:solidFill>
              </a:rPr>
              <a:t>, label=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maxSchool</a:t>
            </a:r>
            <a:r>
              <a:rPr lang="en-US" i="1" dirty="0" err="1">
                <a:solidFill>
                  <a:srgbClr val="C00000"/>
                </a:solidFill>
              </a:rPr>
              <a:t>$name</a:t>
            </a:r>
            <a:r>
              <a:rPr lang="en-US" i="1" dirty="0">
                <a:solidFill>
                  <a:srgbClr val="C00000"/>
                </a:solidFill>
              </a:rPr>
              <a:t>), </a:t>
            </a:r>
            <a:r>
              <a:rPr lang="en-US" i="1" dirty="0" err="1">
                <a:solidFill>
                  <a:srgbClr val="C00000"/>
                </a:solidFill>
              </a:rPr>
              <a:t>nudge_x</a:t>
            </a:r>
            <a:r>
              <a:rPr lang="en-US" i="1" dirty="0">
                <a:solidFill>
                  <a:srgbClr val="C00000"/>
                </a:solidFill>
              </a:rPr>
              <a:t>=-5) +</a:t>
            </a:r>
          </a:p>
          <a:p>
            <a:r>
              <a:rPr lang="en-US" i="1" dirty="0">
                <a:solidFill>
                  <a:srgbClr val="C00000"/>
                </a:solidFill>
              </a:rPr>
              <a:t>  </a:t>
            </a:r>
            <a:r>
              <a:rPr lang="en-US" i="1" dirty="0" err="1">
                <a:solidFill>
                  <a:srgbClr val="C00000"/>
                </a:solidFill>
              </a:rPr>
              <a:t>geom_text</a:t>
            </a:r>
            <a:r>
              <a:rPr lang="en-US" i="1" dirty="0">
                <a:solidFill>
                  <a:srgbClr val="C00000"/>
                </a:solidFill>
              </a:rPr>
              <a:t>(mapping=</a:t>
            </a:r>
            <a:r>
              <a:rPr lang="en-US" i="1" dirty="0" err="1">
                <a:solidFill>
                  <a:srgbClr val="C00000"/>
                </a:solidFill>
              </a:rPr>
              <a:t>aes</a:t>
            </a:r>
            <a:r>
              <a:rPr lang="en-US" i="1" dirty="0">
                <a:solidFill>
                  <a:srgbClr val="C00000"/>
                </a:solidFill>
              </a:rPr>
              <a:t>(x=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minSchool</a:t>
            </a:r>
            <a:r>
              <a:rPr lang="en-US" i="1" dirty="0" err="1">
                <a:solidFill>
                  <a:srgbClr val="C00000"/>
                </a:solidFill>
              </a:rPr>
              <a:t>$tuition</a:t>
            </a:r>
            <a:r>
              <a:rPr lang="en-US" i="1" dirty="0">
                <a:solidFill>
                  <a:srgbClr val="C00000"/>
                </a:solidFill>
              </a:rPr>
              <a:t>, y=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minSchool</a:t>
            </a:r>
            <a:r>
              <a:rPr lang="en-US" i="1" dirty="0" err="1">
                <a:solidFill>
                  <a:srgbClr val="C00000"/>
                </a:solidFill>
              </a:rPr>
              <a:t>$sat_avg</a:t>
            </a:r>
            <a:r>
              <a:rPr lang="en-US" i="1" dirty="0">
                <a:solidFill>
                  <a:srgbClr val="C00000"/>
                </a:solidFill>
              </a:rPr>
              <a:t>, label=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minSchool</a:t>
            </a:r>
            <a:r>
              <a:rPr lang="en-US" i="1" dirty="0" err="1">
                <a:solidFill>
                  <a:srgbClr val="C00000"/>
                </a:solidFill>
              </a:rPr>
              <a:t>$name</a:t>
            </a:r>
            <a:r>
              <a:rPr lang="en-US" i="1" dirty="0">
                <a:solidFill>
                  <a:srgbClr val="C00000"/>
                </a:solidFill>
              </a:rPr>
              <a:t>), </a:t>
            </a:r>
            <a:br>
              <a:rPr lang="en-US" i="1" dirty="0">
                <a:solidFill>
                  <a:srgbClr val="C00000"/>
                </a:solidFill>
              </a:rPr>
            </a:br>
            <a:r>
              <a:rPr lang="en-US" i="1" dirty="0" err="1">
                <a:solidFill>
                  <a:srgbClr val="C00000"/>
                </a:solidFill>
              </a:rPr>
              <a:t>nudge_x</a:t>
            </a:r>
            <a:r>
              <a:rPr lang="en-US" i="1" dirty="0">
                <a:solidFill>
                  <a:srgbClr val="C00000"/>
                </a:solidFill>
              </a:rPr>
              <a:t> = 4)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530" y="1209056"/>
            <a:ext cx="5418324" cy="541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44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6805726" cy="3678303"/>
          </a:xfrm>
        </p:spPr>
        <p:txBody>
          <a:bodyPr/>
          <a:lstStyle/>
          <a:p>
            <a:r>
              <a:rPr lang="en-US" dirty="0"/>
              <a:t>Continuous (time-series)</a:t>
            </a:r>
          </a:p>
          <a:p>
            <a:pPr lvl="1"/>
            <a:r>
              <a:rPr lang="en-US" dirty="0" err="1"/>
              <a:t>geom_line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connects point to a line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group_by</a:t>
            </a:r>
            <a:r>
              <a:rPr lang="en-US" dirty="0">
                <a:sym typeface="Wingdings" panose="05000000000000000000" pitchFamily="2" charset="2"/>
              </a:rPr>
              <a:t>    plots a line for each group</a:t>
            </a:r>
          </a:p>
          <a:p>
            <a:r>
              <a:rPr lang="en-US" dirty="0">
                <a:sym typeface="Wingdings" panose="05000000000000000000" pitchFamily="2" charset="2"/>
              </a:rPr>
              <a:t>College example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Add line layer – What does the graph look like?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920" y="1284873"/>
            <a:ext cx="4041852" cy="557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4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Chart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464" y="1929484"/>
            <a:ext cx="7648408" cy="4677504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organdata</a:t>
            </a:r>
            <a:r>
              <a:rPr lang="en-US" dirty="0"/>
              <a:t> dataset in </a:t>
            </a:r>
            <a:r>
              <a:rPr lang="en-US" dirty="0" err="1"/>
              <a:t>socviz</a:t>
            </a:r>
            <a:r>
              <a:rPr lang="en-US" dirty="0"/>
              <a:t> package</a:t>
            </a:r>
          </a:p>
          <a:p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organdata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 = year, y = donors)) +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geom_line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(group = country, color = country))</a:t>
            </a:r>
          </a:p>
          <a:p>
            <a:r>
              <a:rPr lang="en-US" b="1" i="1" dirty="0" err="1">
                <a:solidFill>
                  <a:srgbClr val="C00000"/>
                </a:solidFill>
              </a:rPr>
              <a:t>organdata</a:t>
            </a:r>
            <a:r>
              <a:rPr lang="en-US" b="1" i="1" dirty="0">
                <a:solidFill>
                  <a:srgbClr val="C00000"/>
                </a:solidFill>
              </a:rPr>
              <a:t> %&gt;%</a:t>
            </a:r>
          </a:p>
          <a:p>
            <a:r>
              <a:rPr lang="en-US" b="1" i="1" dirty="0">
                <a:solidFill>
                  <a:srgbClr val="C00000"/>
                </a:solidFill>
              </a:rPr>
              <a:t>  </a:t>
            </a:r>
            <a:r>
              <a:rPr lang="en-US" b="1" i="1" dirty="0" err="1">
                <a:solidFill>
                  <a:srgbClr val="C00000"/>
                </a:solidFill>
              </a:rPr>
              <a:t>group_by</a:t>
            </a:r>
            <a:r>
              <a:rPr lang="en-US" b="1" i="1" dirty="0">
                <a:solidFill>
                  <a:srgbClr val="C00000"/>
                </a:solidFill>
              </a:rPr>
              <a:t>(country) %&gt;%</a:t>
            </a:r>
          </a:p>
          <a:p>
            <a:r>
              <a:rPr lang="en-US" b="1" i="1" dirty="0">
                <a:solidFill>
                  <a:srgbClr val="C00000"/>
                </a:solidFill>
              </a:rPr>
              <a:t>  </a:t>
            </a:r>
            <a:r>
              <a:rPr lang="en-US" b="1" i="1" dirty="0" err="1">
                <a:solidFill>
                  <a:srgbClr val="C00000"/>
                </a:solidFill>
              </a:rPr>
              <a:t>ggplot</a:t>
            </a:r>
            <a:r>
              <a:rPr lang="en-US" b="1" i="1" dirty="0">
                <a:solidFill>
                  <a:srgbClr val="C00000"/>
                </a:solidFill>
              </a:rPr>
              <a:t>(mapping = </a:t>
            </a:r>
            <a:r>
              <a:rPr lang="en-US" b="1" i="1" dirty="0" err="1">
                <a:solidFill>
                  <a:srgbClr val="C00000"/>
                </a:solidFill>
              </a:rPr>
              <a:t>aes</a:t>
            </a:r>
            <a:r>
              <a:rPr lang="en-US" b="1" i="1" dirty="0">
                <a:solidFill>
                  <a:srgbClr val="C00000"/>
                </a:solidFill>
              </a:rPr>
              <a:t>(x = year, y = donors)) +</a:t>
            </a:r>
          </a:p>
          <a:p>
            <a:r>
              <a:rPr lang="en-US" b="1" i="1" dirty="0">
                <a:solidFill>
                  <a:srgbClr val="C00000"/>
                </a:solidFill>
              </a:rPr>
              <a:t>  </a:t>
            </a:r>
            <a:r>
              <a:rPr lang="en-US" b="1" i="1" dirty="0" err="1">
                <a:solidFill>
                  <a:srgbClr val="C00000"/>
                </a:solidFill>
              </a:rPr>
              <a:t>geom_line</a:t>
            </a:r>
            <a:r>
              <a:rPr lang="en-US" b="1" i="1" dirty="0">
                <a:solidFill>
                  <a:srgbClr val="C00000"/>
                </a:solidFill>
              </a:rPr>
              <a:t>(mapping = </a:t>
            </a:r>
            <a:r>
              <a:rPr lang="en-US" b="1" i="1" dirty="0" err="1">
                <a:solidFill>
                  <a:srgbClr val="C00000"/>
                </a:solidFill>
              </a:rPr>
              <a:t>aes</a:t>
            </a:r>
            <a:r>
              <a:rPr lang="en-US" b="1" i="1" dirty="0">
                <a:solidFill>
                  <a:srgbClr val="C00000"/>
                </a:solidFill>
              </a:rPr>
              <a:t>(color = country))</a:t>
            </a:r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3783106" y="3299013"/>
            <a:ext cx="3657600" cy="745450"/>
          </a:xfrm>
          <a:prstGeom prst="round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81191" y="4668542"/>
            <a:ext cx="4588685" cy="602705"/>
          </a:xfrm>
          <a:prstGeom prst="roundRect">
            <a:avLst/>
          </a:prstGeom>
          <a:solidFill>
            <a:srgbClr val="C00000">
              <a:alpha val="1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722" y="1304196"/>
            <a:ext cx="3835086" cy="534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5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109" y="1715956"/>
            <a:ext cx="6285773" cy="514204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ONE DISCRETE/CATEGORICAL (x) &amp; ONE CONTINUOUS (y)</a:t>
            </a:r>
          </a:p>
          <a:p>
            <a:r>
              <a:rPr lang="en-US" dirty="0" err="1"/>
              <a:t>geom_col</a:t>
            </a:r>
            <a:endParaRPr lang="en-US" dirty="0"/>
          </a:p>
          <a:p>
            <a:r>
              <a:rPr lang="en-US" dirty="0" err="1"/>
              <a:t>geom_col</a:t>
            </a:r>
            <a:r>
              <a:rPr lang="en-US" dirty="0"/>
              <a:t>() + </a:t>
            </a:r>
            <a:r>
              <a:rPr lang="en-US" dirty="0" err="1"/>
              <a:t>coord_flip</a:t>
            </a:r>
            <a:r>
              <a:rPr lang="en-US" dirty="0"/>
              <a:t>() </a:t>
            </a:r>
            <a:r>
              <a:rPr lang="en-US" dirty="0">
                <a:sym typeface="Wingdings" panose="05000000000000000000" pitchFamily="2" charset="2"/>
              </a:rPr>
              <a:t> best for Bar Charts</a:t>
            </a:r>
          </a:p>
          <a:p>
            <a:r>
              <a:rPr lang="en-US" dirty="0"/>
              <a:t>Aesthetics</a:t>
            </a:r>
          </a:p>
          <a:p>
            <a:pPr lvl="1"/>
            <a:r>
              <a:rPr lang="en-US" dirty="0"/>
              <a:t>x, y, alpha, color, fill, group, </a:t>
            </a:r>
            <a:r>
              <a:rPr lang="en-US" dirty="0" err="1"/>
              <a:t>linetype</a:t>
            </a:r>
            <a:r>
              <a:rPr lang="en-US" dirty="0"/>
              <a:t>, size</a:t>
            </a:r>
          </a:p>
          <a:p>
            <a:pPr lvl="1"/>
            <a:r>
              <a:rPr lang="en-US" dirty="0"/>
              <a:t>fill </a:t>
            </a:r>
            <a:r>
              <a:rPr lang="en-US" dirty="0">
                <a:sym typeface="Wingdings" panose="05000000000000000000" pitchFamily="2" charset="2"/>
              </a:rPr>
              <a:t> colors in columns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guides(fill = “none”)  does not print legend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facet_wrap</a:t>
            </a:r>
            <a:r>
              <a:rPr lang="en-US" dirty="0">
                <a:sym typeface="Wingdings" panose="05000000000000000000" pitchFamily="2" charset="2"/>
              </a:rPr>
              <a:t>(~</a:t>
            </a:r>
            <a:r>
              <a:rPr lang="en-US" dirty="0" err="1">
                <a:sym typeface="Wingdings" panose="05000000000000000000" pitchFamily="2" charset="2"/>
              </a:rPr>
              <a:t>var</a:t>
            </a:r>
            <a:r>
              <a:rPr lang="en-US" dirty="0">
                <a:sym typeface="Wingdings" panose="05000000000000000000" pitchFamily="2" charset="2"/>
              </a:rPr>
              <a:t>)  displays each </a:t>
            </a:r>
            <a:r>
              <a:rPr lang="en-US" dirty="0" err="1">
                <a:sym typeface="Wingdings" panose="05000000000000000000" pitchFamily="2" charset="2"/>
              </a:rPr>
              <a:t>var</a:t>
            </a:r>
            <a:r>
              <a:rPr lang="en-US" dirty="0">
                <a:sym typeface="Wingdings" panose="05000000000000000000" pitchFamily="2" charset="2"/>
              </a:rPr>
              <a:t> as its own chart</a:t>
            </a:r>
            <a:endParaRPr lang="en-US" dirty="0"/>
          </a:p>
        </p:txBody>
      </p:sp>
      <p:pic>
        <p:nvPicPr>
          <p:cNvPr id="13314" name="Picture 2" descr="Image result for column chart in 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064" y="2493592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236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Charts – 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0660" y="2066638"/>
            <a:ext cx="5676682" cy="4629997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crimes &lt;-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read_csv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("crimes.csv",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col_names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TRUE)</a:t>
            </a:r>
          </a:p>
          <a:p>
            <a:endParaRPr lang="en-US" dirty="0"/>
          </a:p>
          <a:p>
            <a:r>
              <a:rPr lang="en-US" i="1" dirty="0">
                <a:solidFill>
                  <a:srgbClr val="C00000"/>
                </a:solidFill>
              </a:rPr>
              <a:t>crimes2016 &lt;- crimes %&gt;%</a:t>
            </a:r>
          </a:p>
          <a:p>
            <a:r>
              <a:rPr lang="en-US" i="1" dirty="0">
                <a:solidFill>
                  <a:srgbClr val="C00000"/>
                </a:solidFill>
              </a:rPr>
              <a:t>  filter(YEAR == 2016) %&gt;%</a:t>
            </a:r>
          </a:p>
          <a:p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i="1" dirty="0" err="1">
                <a:solidFill>
                  <a:srgbClr val="C00000"/>
                </a:solidFill>
              </a:rPr>
              <a:t>group_by</a:t>
            </a:r>
            <a:r>
              <a:rPr lang="en-US" i="1" dirty="0">
                <a:solidFill>
                  <a:srgbClr val="C00000"/>
                </a:solidFill>
              </a:rPr>
              <a:t>(OFFENSE_CODE_GROUP</a:t>
            </a:r>
            <a:r>
              <a:rPr lang="en-US" sz="2200" i="1" dirty="0">
                <a:solidFill>
                  <a:srgbClr val="C00000"/>
                </a:solidFill>
              </a:rPr>
              <a:t>)%&gt;%</a:t>
            </a:r>
          </a:p>
          <a:p>
            <a:r>
              <a:rPr lang="en-US" i="1" dirty="0">
                <a:solidFill>
                  <a:srgbClr val="C00000"/>
                </a:solidFill>
              </a:rPr>
              <a:t>  count() %&gt;%</a:t>
            </a:r>
          </a:p>
          <a:p>
            <a:r>
              <a:rPr lang="en-US" i="1" dirty="0">
                <a:solidFill>
                  <a:srgbClr val="C00000"/>
                </a:solidFill>
              </a:rPr>
              <a:t>  arrange(</a:t>
            </a:r>
            <a:r>
              <a:rPr lang="en-US" i="1" dirty="0" err="1">
                <a:solidFill>
                  <a:srgbClr val="C00000"/>
                </a:solidFill>
              </a:rPr>
              <a:t>desc</a:t>
            </a:r>
            <a:r>
              <a:rPr lang="en-US" i="1" dirty="0">
                <a:solidFill>
                  <a:srgbClr val="C00000"/>
                </a:solidFill>
              </a:rPr>
              <a:t>(n))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342" y="2293741"/>
            <a:ext cx="5593467" cy="3633047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crimes2016 %&gt;%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4">
                    <a:lumMod val="75000"/>
                  </a:schemeClr>
                </a:solidFill>
              </a:rPr>
              <a:t>geom_col</a:t>
            </a:r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(mapping = </a:t>
            </a:r>
            <a:r>
              <a:rPr lang="en-US" i="1" dirty="0" err="1">
                <a:solidFill>
                  <a:schemeClr val="accent4">
                    <a:lumMod val="75000"/>
                  </a:schemeClr>
                </a:solidFill>
              </a:rPr>
              <a:t>aes</a:t>
            </a:r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(reorder(x =    OFFENSE_CODE_GROUP, n),</a:t>
            </a:r>
          </a:p>
          <a:p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           y = n,</a:t>
            </a:r>
          </a:p>
          <a:p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         fill =OFFENSE_CODE_GROUP))+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labs(title = "Crimes in 2016")</a:t>
            </a:r>
          </a:p>
        </p:txBody>
      </p:sp>
      <p:sp>
        <p:nvSpPr>
          <p:cNvPr id="5" name="Left Arrow Callout 4"/>
          <p:cNvSpPr/>
          <p:nvPr/>
        </p:nvSpPr>
        <p:spPr>
          <a:xfrm>
            <a:off x="3101788" y="5203234"/>
            <a:ext cx="2689412" cy="60247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52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Counts crimes </a:t>
            </a:r>
            <a:r>
              <a:rPr lang="en-US" dirty="0">
                <a:sym typeface="Wingdings" panose="05000000000000000000" pitchFamily="2" charset="2"/>
              </a:rPr>
              <a:t>&amp; creates a column </a:t>
            </a:r>
            <a:r>
              <a:rPr lang="en-US" b="1" i="1" dirty="0">
                <a:sym typeface="Wingdings" panose="05000000000000000000" pitchFamily="2" charset="2"/>
              </a:rPr>
              <a:t>n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50194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Charts</a:t>
            </a:r>
            <a:br>
              <a:rPr lang="en-US" dirty="0"/>
            </a:br>
            <a:r>
              <a:rPr lang="en-US" dirty="0"/>
              <a:t>Example 1 – </a:t>
            </a:r>
            <a:r>
              <a:rPr lang="en-US" cap="none" dirty="0" err="1"/>
              <a:t>con’t</a:t>
            </a:r>
            <a:endParaRPr lang="en-US" cap="non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C45C45-BD29-4BA1-9C27-AE5F9751E2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64"/>
          <a:stretch/>
        </p:blipFill>
        <p:spPr>
          <a:xfrm>
            <a:off x="3736957" y="970244"/>
            <a:ext cx="7643806" cy="563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78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Charts –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5685" y="2228003"/>
            <a:ext cx="5867898" cy="3633047"/>
          </a:xfrm>
        </p:spPr>
        <p:txBody>
          <a:bodyPr>
            <a:normAutofit fontScale="85000" lnSpcReduction="20000"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Reorder x</a:t>
            </a:r>
            <a:r>
              <a:rPr lang="en-US" sz="3800" dirty="0"/>
              <a:t> to list descending</a:t>
            </a:r>
          </a:p>
          <a:p>
            <a:pPr lvl="1"/>
            <a:r>
              <a:rPr lang="en-US" sz="3800" dirty="0"/>
              <a:t>NOTE x WILL BECOME y once coordinates are flipped</a:t>
            </a:r>
          </a:p>
          <a:p>
            <a:r>
              <a:rPr lang="en-US" sz="3800" dirty="0">
                <a:solidFill>
                  <a:srgbClr val="7030A0"/>
                </a:solidFill>
              </a:rPr>
              <a:t>Flip coordinates</a:t>
            </a:r>
          </a:p>
          <a:p>
            <a:r>
              <a:rPr lang="en-US" sz="3800" dirty="0">
                <a:solidFill>
                  <a:schemeClr val="accent5">
                    <a:lumMod val="50000"/>
                  </a:schemeClr>
                </a:solidFill>
              </a:rPr>
              <a:t>Remove legend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4423809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crimes2016 %&gt;%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geom_col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 = </a:t>
            </a:r>
            <a:r>
              <a:rPr lang="en-US" i="1" dirty="0">
                <a:solidFill>
                  <a:srgbClr val="C00000"/>
                </a:solidFill>
              </a:rPr>
              <a:t>reorder(OFFENSE_CODE_GROUP, n, na.rm = TRUE),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y = n,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fill = OFFENSE_CODE_GROUP))+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labs(title = "Crimes in 2016") +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rgbClr val="7030A0"/>
                </a:solidFill>
              </a:rPr>
              <a:t>coord_flip</a:t>
            </a:r>
            <a:r>
              <a:rPr lang="en-US" b="1" i="1" dirty="0">
                <a:solidFill>
                  <a:srgbClr val="7030A0"/>
                </a:solidFill>
              </a:rPr>
              <a:t>() 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guides(fill = </a:t>
            </a:r>
            <a:r>
              <a:rPr lang="en-US" b="1" i="1">
                <a:solidFill>
                  <a:schemeClr val="accent5">
                    <a:lumMod val="50000"/>
                  </a:schemeClr>
                </a:solidFill>
              </a:rPr>
              <a:t>“none”)</a:t>
            </a:r>
            <a:endParaRPr lang="en-US" b="1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235200" y="2878667"/>
            <a:ext cx="4182533" cy="762000"/>
          </a:xfrm>
          <a:prstGeom prst="straightConnector1">
            <a:avLst/>
          </a:prstGeom>
          <a:ln w="158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239589" y="4439907"/>
            <a:ext cx="3396342" cy="1421143"/>
          </a:xfrm>
          <a:prstGeom prst="straightConnector1">
            <a:avLst/>
          </a:prstGeom>
          <a:ln w="15875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508069" y="5185954"/>
            <a:ext cx="4127862" cy="1185109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49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Charts</a:t>
            </a:r>
            <a:br>
              <a:rPr lang="en-US" dirty="0"/>
            </a:br>
            <a:r>
              <a:rPr lang="en-US" dirty="0"/>
              <a:t>Example 2 – </a:t>
            </a:r>
            <a:r>
              <a:rPr lang="en-US" cap="none" dirty="0" err="1"/>
              <a:t>con’t</a:t>
            </a:r>
            <a:endParaRPr lang="en-US" cap="non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312" y="1622538"/>
            <a:ext cx="7404368" cy="477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53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294" y="1954306"/>
            <a:ext cx="5916705" cy="4903694"/>
          </a:xfrm>
        </p:spPr>
        <p:txBody>
          <a:bodyPr>
            <a:normAutofit/>
          </a:bodyPr>
          <a:lstStyle/>
          <a:p>
            <a:r>
              <a:rPr lang="en-US" dirty="0"/>
              <a:t>ONE DISCRETE/CATEGORICAL (x) </a:t>
            </a:r>
            <a:br>
              <a:rPr lang="en-US" dirty="0"/>
            </a:br>
            <a:r>
              <a:rPr lang="en-US" dirty="0"/>
              <a:t>&amp; ONE CONTINUOUS (y)</a:t>
            </a:r>
          </a:p>
          <a:p>
            <a:pPr lvl="1"/>
            <a:r>
              <a:rPr lang="en-US" dirty="0"/>
              <a:t>Easily shows outliers</a:t>
            </a:r>
          </a:p>
          <a:p>
            <a:r>
              <a:rPr lang="en-US" dirty="0" err="1"/>
              <a:t>geom_boxplot</a:t>
            </a:r>
            <a:endParaRPr lang="en-US" dirty="0"/>
          </a:p>
          <a:p>
            <a:r>
              <a:rPr lang="en-US" dirty="0"/>
              <a:t>Aesthetics</a:t>
            </a:r>
          </a:p>
          <a:p>
            <a:pPr lvl="1"/>
            <a:r>
              <a:rPr lang="en-US" dirty="0"/>
              <a:t>Same as Column Charts +</a:t>
            </a:r>
          </a:p>
          <a:p>
            <a:pPr lvl="1"/>
            <a:r>
              <a:rPr lang="en-US" dirty="0"/>
              <a:t>Lower, middle, upper, </a:t>
            </a:r>
            <a:r>
              <a:rPr lang="en-US" dirty="0" err="1"/>
              <a:t>ymax</a:t>
            </a:r>
            <a:r>
              <a:rPr lang="en-US" dirty="0"/>
              <a:t>, </a:t>
            </a:r>
            <a:r>
              <a:rPr lang="en-US" dirty="0" err="1"/>
              <a:t>ymin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shape, weight</a:t>
            </a:r>
          </a:p>
          <a:p>
            <a:r>
              <a:rPr lang="en-US" dirty="0"/>
              <a:t>Use </a:t>
            </a:r>
            <a:r>
              <a:rPr lang="en-US" dirty="0" err="1"/>
              <a:t>coord_flip</a:t>
            </a:r>
            <a:r>
              <a:rPr lang="en-US" dirty="0"/>
              <a:t> to modify plot</a:t>
            </a:r>
          </a:p>
        </p:txBody>
      </p:sp>
      <p:pic>
        <p:nvPicPr>
          <p:cNvPr id="4" name="Picture 3" descr="Image result for boxplot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306" y="2865567"/>
            <a:ext cx="6902823" cy="3481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9085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 – 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7146384" cy="3678303"/>
          </a:xfrm>
        </p:spPr>
        <p:txBody>
          <a:bodyPr/>
          <a:lstStyle/>
          <a:p>
            <a:pPr lvl="1"/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organdata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pPr lvl="1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</a:t>
            </a:r>
          </a:p>
          <a:p>
            <a:pPr lvl="1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geom_boxplot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 = country,</a:t>
            </a:r>
          </a:p>
          <a:p>
            <a:pPr lvl="1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  y = donors,</a:t>
            </a:r>
          </a:p>
          <a:p>
            <a:pPr lvl="1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  fill= country))</a:t>
            </a:r>
            <a:b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949" y="1057836"/>
            <a:ext cx="3998859" cy="559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16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 –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07702" y="1900517"/>
            <a:ext cx="8347655" cy="5477435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crimeTypesByYear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&lt;- crimes %&gt;%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select(YEAR, OFFENSE_CODE_GROUP) %&gt;%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group_by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(YEAR, OFFENSE_CODE_GROUP) %&gt;%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count() %&gt;%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ungroup() 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crimeTypesByYear</a:t>
            </a:r>
            <a:r>
              <a:rPr lang="en-US" dirty="0">
                <a:solidFill>
                  <a:srgbClr val="C00000"/>
                </a:solidFill>
              </a:rPr>
              <a:t> %&gt;%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  </a:t>
            </a:r>
            <a:r>
              <a:rPr lang="en-US" dirty="0" err="1">
                <a:solidFill>
                  <a:srgbClr val="C00000"/>
                </a:solidFill>
              </a:rPr>
              <a:t>ggplot</a:t>
            </a:r>
            <a:r>
              <a:rPr lang="en-US" dirty="0">
                <a:solidFill>
                  <a:srgbClr val="C00000"/>
                </a:solidFill>
              </a:rPr>
              <a:t>() +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  </a:t>
            </a:r>
            <a:r>
              <a:rPr lang="en-US" dirty="0" err="1">
                <a:solidFill>
                  <a:srgbClr val="C00000"/>
                </a:solidFill>
              </a:rPr>
              <a:t>geom_boxplot</a:t>
            </a:r>
            <a:r>
              <a:rPr lang="en-US" dirty="0">
                <a:solidFill>
                  <a:srgbClr val="C00000"/>
                </a:solidFill>
              </a:rPr>
              <a:t>(mapping = </a:t>
            </a:r>
            <a:r>
              <a:rPr lang="en-US" dirty="0" err="1">
                <a:solidFill>
                  <a:srgbClr val="C00000"/>
                </a:solidFill>
              </a:rPr>
              <a:t>aes</a:t>
            </a:r>
            <a:r>
              <a:rPr lang="en-US" dirty="0">
                <a:solidFill>
                  <a:srgbClr val="C00000"/>
                </a:solidFill>
              </a:rPr>
              <a:t>(x = reorder(OFFENSE_CODE_GROUP, n),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                             y = n,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                             fill = OFFENSE_CODE_GROUP)) +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  guides(fill = "none") +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  </a:t>
            </a:r>
            <a:r>
              <a:rPr lang="en-US" dirty="0" err="1">
                <a:solidFill>
                  <a:srgbClr val="C00000"/>
                </a:solidFill>
              </a:rPr>
              <a:t>coord_flip</a:t>
            </a:r>
            <a:r>
              <a:rPr lang="en-US" dirty="0">
                <a:solidFill>
                  <a:srgbClr val="C00000"/>
                </a:solidFill>
              </a:rPr>
              <a:t>()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744" y="1004046"/>
            <a:ext cx="4101064" cy="562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8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5765820" cy="3678303"/>
          </a:xfrm>
        </p:spPr>
        <p:txBody>
          <a:bodyPr/>
          <a:lstStyle/>
          <a:p>
            <a:r>
              <a:rPr lang="en-US" dirty="0"/>
              <a:t>ONE DISCRETE/CATEGORICAL</a:t>
            </a:r>
          </a:p>
          <a:p>
            <a:r>
              <a:rPr lang="en-US" dirty="0" err="1"/>
              <a:t>geom_bar</a:t>
            </a:r>
            <a:endParaRPr lang="en-US" dirty="0"/>
          </a:p>
          <a:p>
            <a:r>
              <a:rPr lang="en-US" dirty="0"/>
              <a:t>Aesthetics</a:t>
            </a:r>
          </a:p>
          <a:p>
            <a:pPr lvl="1"/>
            <a:r>
              <a:rPr lang="en-US" dirty="0"/>
              <a:t>Same as Column Chart </a:t>
            </a:r>
          </a:p>
          <a:p>
            <a:pPr lvl="1"/>
            <a:r>
              <a:rPr lang="en-US" dirty="0"/>
              <a:t>EXCEPT </a:t>
            </a:r>
            <a:r>
              <a:rPr lang="en-US" dirty="0">
                <a:sym typeface="Wingdings" panose="05000000000000000000" pitchFamily="2" charset="2"/>
              </a:rPr>
              <a:t> no y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 weight instead of bins</a:t>
            </a:r>
            <a:endParaRPr lang="en-US" dirty="0"/>
          </a:p>
        </p:txBody>
      </p:sp>
      <p:pic>
        <p:nvPicPr>
          <p:cNvPr id="14338" name="Picture 2" descr="Image result for bar chart in 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80496"/>
            <a:ext cx="2881129" cy="288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Image result for bar chart in 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524" y="3389998"/>
            <a:ext cx="2863296" cy="286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2814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Charts – 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104" y="1787674"/>
            <a:ext cx="5622384" cy="4903694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crimes %&gt;%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geom_bar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(x=OFFENSE_CODE_GROUP),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bins = 4,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fill = "blue",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color = "black") +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theme(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panel.background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element_blank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())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994" y="1147034"/>
            <a:ext cx="4071425" cy="5710966"/>
          </a:xfrm>
          <a:prstGeom prst="rect">
            <a:avLst/>
          </a:prstGeom>
        </p:spPr>
      </p:pic>
      <p:sp>
        <p:nvSpPr>
          <p:cNvPr id="6" name="Up Arrow Callout 5"/>
          <p:cNvSpPr/>
          <p:nvPr/>
        </p:nvSpPr>
        <p:spPr>
          <a:xfrm>
            <a:off x="3260582" y="5773273"/>
            <a:ext cx="2259106" cy="959224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Removes gray (default) background</a:t>
            </a:r>
          </a:p>
        </p:txBody>
      </p:sp>
    </p:spTree>
    <p:extLst>
      <p:ext uri="{BB962C8B-B14F-4D97-AF65-F5344CB8AC3E}">
        <p14:creationId xmlns:p14="http://schemas.microsoft.com/office/powerpoint/2010/main" val="170153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Charts –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7881489" cy="4677504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crimes %&gt;%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filter(OFFENSE_CODE_GROUP == c("Larceny", "Vandalism", "Medical Assistance", "Fraud")) %&gt;%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mutate(YEAR =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as.integer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(YEAR)) %&gt;%</a:t>
            </a:r>
          </a:p>
          <a:p>
            <a:pPr lvl="1"/>
            <a:r>
              <a:rPr lang="en-US" i="1" dirty="0"/>
              <a:t>  </a:t>
            </a:r>
            <a:r>
              <a:rPr lang="en-US" dirty="0" err="1">
                <a:solidFill>
                  <a:srgbClr val="C00000"/>
                </a:solidFill>
              </a:rPr>
              <a:t>ggplot</a:t>
            </a:r>
            <a:r>
              <a:rPr lang="en-US" dirty="0">
                <a:solidFill>
                  <a:srgbClr val="C00000"/>
                </a:solidFill>
              </a:rPr>
              <a:t>() +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  </a:t>
            </a:r>
            <a:r>
              <a:rPr lang="en-US" dirty="0" err="1">
                <a:solidFill>
                  <a:srgbClr val="C00000"/>
                </a:solidFill>
              </a:rPr>
              <a:t>geom_bar</a:t>
            </a:r>
            <a:r>
              <a:rPr lang="en-US" dirty="0">
                <a:solidFill>
                  <a:srgbClr val="C00000"/>
                </a:solidFill>
              </a:rPr>
              <a:t>(mapping = </a:t>
            </a:r>
            <a:r>
              <a:rPr lang="en-US" dirty="0" err="1">
                <a:solidFill>
                  <a:srgbClr val="C00000"/>
                </a:solidFill>
              </a:rPr>
              <a:t>aes</a:t>
            </a:r>
            <a:r>
              <a:rPr lang="en-US" dirty="0">
                <a:solidFill>
                  <a:srgbClr val="C00000"/>
                </a:solidFill>
              </a:rPr>
              <a:t>(x=YEAR, fill = OFFENSE_CODE_GROUP)) +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  </a:t>
            </a:r>
            <a:r>
              <a:rPr lang="en-US" dirty="0" err="1">
                <a:solidFill>
                  <a:srgbClr val="C00000"/>
                </a:solidFill>
              </a:rPr>
              <a:t>facet_wrap</a:t>
            </a:r>
            <a:r>
              <a:rPr lang="en-US" dirty="0">
                <a:solidFill>
                  <a:srgbClr val="C00000"/>
                </a:solidFill>
              </a:rPr>
              <a:t>( ~   YEAR, scales = "</a:t>
            </a:r>
            <a:r>
              <a:rPr lang="en-US" dirty="0" err="1">
                <a:solidFill>
                  <a:srgbClr val="C00000"/>
                </a:solidFill>
              </a:rPr>
              <a:t>free_y</a:t>
            </a:r>
            <a:r>
              <a:rPr lang="en-US" dirty="0">
                <a:solidFill>
                  <a:srgbClr val="C00000"/>
                </a:solidFill>
              </a:rPr>
              <a:t>") +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  theme(</a:t>
            </a:r>
            <a:r>
              <a:rPr lang="en-US" dirty="0" err="1">
                <a:solidFill>
                  <a:srgbClr val="C00000"/>
                </a:solidFill>
              </a:rPr>
              <a:t>axis.text.x</a:t>
            </a:r>
            <a:r>
              <a:rPr lang="en-US" dirty="0">
                <a:solidFill>
                  <a:srgbClr val="C00000"/>
                </a:solidFill>
              </a:rPr>
              <a:t> = </a:t>
            </a:r>
            <a:r>
              <a:rPr lang="en-US" dirty="0" err="1">
                <a:solidFill>
                  <a:srgbClr val="C00000"/>
                </a:solidFill>
              </a:rPr>
              <a:t>element_blank</a:t>
            </a:r>
            <a:r>
              <a:rPr lang="en-US" dirty="0">
                <a:solidFill>
                  <a:srgbClr val="C00000"/>
                </a:solidFill>
              </a:rPr>
              <a:t>())</a:t>
            </a:r>
          </a:p>
          <a:p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978588" y="1954305"/>
            <a:ext cx="3263153" cy="30121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facet_wrap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~ to select variable</a:t>
            </a:r>
            <a:br>
              <a:rPr lang="en-US" dirty="0"/>
            </a:br>
            <a:r>
              <a:rPr lang="en-US" dirty="0"/>
              <a:t>“by”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scales = “free” </a:t>
            </a:r>
            <a:r>
              <a:rPr lang="en-US" dirty="0">
                <a:sym typeface="Wingdings" panose="05000000000000000000" pitchFamily="2" charset="2"/>
              </a:rPr>
              <a:t> each facet has its own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Can free scales individually scales = “</a:t>
            </a:r>
            <a:r>
              <a:rPr lang="en-US" dirty="0" err="1">
                <a:sym typeface="Wingdings" panose="05000000000000000000" pitchFamily="2" charset="2"/>
              </a:rPr>
              <a:t>free_y</a:t>
            </a:r>
            <a:r>
              <a:rPr lang="en-US" dirty="0">
                <a:sym typeface="Wingdings" panose="05000000000000000000" pitchFamily="2" charset="2"/>
              </a:rPr>
              <a:t>”  or scales =  “</a:t>
            </a:r>
            <a:r>
              <a:rPr lang="en-US" dirty="0" err="1">
                <a:sym typeface="Wingdings" panose="05000000000000000000" pitchFamily="2" charset="2"/>
              </a:rPr>
              <a:t>free_x</a:t>
            </a:r>
            <a:r>
              <a:rPr lang="en-US" dirty="0">
                <a:sym typeface="Wingdings" panose="05000000000000000000" pitchFamily="2" charset="2"/>
              </a:rPr>
              <a:t>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ym typeface="Wingdings" panose="05000000000000000000" pitchFamily="2" charset="2"/>
              </a:rPr>
              <a:t>ncol</a:t>
            </a:r>
            <a:r>
              <a:rPr lang="en-US" dirty="0">
                <a:sym typeface="Wingdings" panose="05000000000000000000" pitchFamily="2" charset="2"/>
              </a:rPr>
              <a:t> = 1  sets number of columns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978588" y="5360899"/>
            <a:ext cx="3263153" cy="9971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Remove x-axis tick marks to prevent clutter</a:t>
            </a:r>
          </a:p>
        </p:txBody>
      </p:sp>
    </p:spTree>
    <p:extLst>
      <p:ext uri="{BB962C8B-B14F-4D97-AF65-F5344CB8AC3E}">
        <p14:creationId xmlns:p14="http://schemas.microsoft.com/office/powerpoint/2010/main" val="48448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Charts</a:t>
            </a:r>
            <a:br>
              <a:rPr lang="en-US" dirty="0"/>
            </a:br>
            <a:r>
              <a:rPr lang="en-US" dirty="0"/>
              <a:t>Example 2 – </a:t>
            </a:r>
            <a:r>
              <a:rPr lang="en-US" cap="none" dirty="0" err="1"/>
              <a:t>con’t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731" y="729658"/>
            <a:ext cx="5842729" cy="579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9556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Charts</a:t>
            </a:r>
            <a:br>
              <a:rPr lang="en-US" dirty="0"/>
            </a:br>
            <a:r>
              <a:rPr lang="en-US" dirty="0"/>
              <a:t>Example 2 – </a:t>
            </a:r>
            <a:r>
              <a:rPr lang="en-US" cap="none" dirty="0" err="1"/>
              <a:t>con’t</a:t>
            </a:r>
            <a:endParaRPr lang="en-US" cap="non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434353"/>
            <a:ext cx="5378824" cy="5289176"/>
          </a:xfrm>
        </p:spPr>
        <p:txBody>
          <a:bodyPr>
            <a:normAutofit/>
          </a:bodyPr>
          <a:lstStyle/>
          <a:p>
            <a:r>
              <a:rPr lang="en-US" sz="32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position</a:t>
            </a:r>
            <a:r>
              <a:rPr lang="en-US" sz="3200" dirty="0"/>
              <a:t> attribute changes chart type</a:t>
            </a:r>
          </a:p>
          <a:p>
            <a:pPr lvl="1"/>
            <a:r>
              <a:rPr lang="en-US" sz="2800" dirty="0"/>
              <a:t>Default </a:t>
            </a:r>
            <a:r>
              <a:rPr lang="en-US" sz="2800" dirty="0">
                <a:sym typeface="Wingdings" panose="05000000000000000000" pitchFamily="2" charset="2"/>
              </a:rPr>
              <a:t> stacked chart</a:t>
            </a:r>
          </a:p>
          <a:p>
            <a:pPr lvl="1"/>
            <a:r>
              <a:rPr lang="en-US" sz="2800" dirty="0">
                <a:sym typeface="Wingdings" panose="05000000000000000000" pitchFamily="2" charset="2"/>
              </a:rPr>
              <a:t>Dodge  grouped chart</a:t>
            </a:r>
          </a:p>
          <a:p>
            <a:pPr lvl="2"/>
            <a:r>
              <a:rPr lang="en-US" sz="2400" dirty="0" err="1"/>
              <a:t>geom_bar</a:t>
            </a:r>
            <a:r>
              <a:rPr lang="en-US" sz="2400" dirty="0"/>
              <a:t>(mapping = </a:t>
            </a:r>
            <a:r>
              <a:rPr lang="en-US" sz="2400" dirty="0" err="1"/>
              <a:t>aes</a:t>
            </a:r>
            <a:r>
              <a:rPr lang="en-US" sz="2400" dirty="0"/>
              <a:t>(x=YEAR, </a:t>
            </a:r>
            <a:br>
              <a:rPr lang="en-US" sz="2400" dirty="0"/>
            </a:br>
            <a:r>
              <a:rPr lang="en-US" sz="2400" dirty="0"/>
              <a:t>fill = OFFENSE_CODE_GROUP),</a:t>
            </a:r>
            <a:br>
              <a:rPr lang="en-US" sz="2400" dirty="0"/>
            </a:b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position = "dodge"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348" y="936252"/>
            <a:ext cx="5923318" cy="582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45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</a:t>
            </a:r>
          </a:p>
        </p:txBody>
      </p:sp>
      <p:pic>
        <p:nvPicPr>
          <p:cNvPr id="4" name="Content Placeholder 3" descr="Image result for bin width histogram"/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1025" y="2688431"/>
            <a:ext cx="5422900" cy="27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188417" y="1717991"/>
            <a:ext cx="5422392" cy="5140010"/>
          </a:xfrm>
        </p:spPr>
        <p:txBody>
          <a:bodyPr>
            <a:normAutofit/>
          </a:bodyPr>
          <a:lstStyle/>
          <a:p>
            <a:r>
              <a:rPr lang="en-US" dirty="0"/>
              <a:t>ONE CONTINUOUS</a:t>
            </a:r>
          </a:p>
          <a:p>
            <a:r>
              <a:rPr lang="en-US" dirty="0" err="1"/>
              <a:t>geom_histogram</a:t>
            </a:r>
            <a:endParaRPr lang="en-US" dirty="0"/>
          </a:p>
          <a:p>
            <a:pPr lvl="1"/>
            <a:r>
              <a:rPr lang="en-US" dirty="0"/>
              <a:t>Frequency of data in successive numerical intervals </a:t>
            </a:r>
            <a:r>
              <a:rPr lang="en-US" dirty="0">
                <a:sym typeface="Wingdings" panose="05000000000000000000" pitchFamily="2" charset="2"/>
              </a:rPr>
              <a:t> BINS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Aesthetics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x  arithmetic scale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y  count (automatic)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fill  choose variable to fill</a:t>
            </a:r>
          </a:p>
          <a:p>
            <a:pPr lvl="2"/>
            <a:r>
              <a:rPr lang="en-US" dirty="0" err="1">
                <a:sym typeface="Wingdings" panose="05000000000000000000" pitchFamily="2" charset="2"/>
              </a:rPr>
              <a:t>binwidth</a:t>
            </a:r>
            <a:r>
              <a:rPr lang="en-US" dirty="0">
                <a:sym typeface="Wingdings" panose="05000000000000000000" pitchFamily="2" charset="2"/>
              </a:rPr>
              <a:t> = n  sets width of each bin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 err="1">
                <a:sym typeface="Wingdings" panose="05000000000000000000" pitchFamily="2" charset="2"/>
              </a:rPr>
              <a:t>binwidth</a:t>
            </a:r>
            <a:r>
              <a:rPr lang="en-US" dirty="0">
                <a:sym typeface="Wingdings" panose="05000000000000000000" pitchFamily="2" charset="2"/>
              </a:rPr>
              <a:t> = 10  0-10, 10-20, 20-30, etc.</a:t>
            </a:r>
          </a:p>
        </p:txBody>
      </p:sp>
    </p:spTree>
    <p:extLst>
      <p:ext uri="{BB962C8B-B14F-4D97-AF65-F5344CB8AC3E}">
        <p14:creationId xmlns:p14="http://schemas.microsoft.com/office/powerpoint/2010/main" val="90280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</a:t>
            </a:r>
          </a:p>
        </p:txBody>
      </p:sp>
      <p:pic>
        <p:nvPicPr>
          <p:cNvPr id="1026" name="Picture 2" descr="Image result for modality and skewness shap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47" y="2509372"/>
            <a:ext cx="4634268" cy="3479333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  <p:pic>
        <p:nvPicPr>
          <p:cNvPr id="1028" name="Picture 4" descr="Image result for modality and skewness shap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993" y="3283103"/>
            <a:ext cx="4809958" cy="270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Arrow Callout 9"/>
          <p:cNvSpPr/>
          <p:nvPr/>
        </p:nvSpPr>
        <p:spPr>
          <a:xfrm>
            <a:off x="6046101" y="4045354"/>
            <a:ext cx="885825" cy="590550"/>
          </a:xfrm>
          <a:prstGeom prst="rightArrow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40235" y="2037864"/>
            <a:ext cx="4676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Normal Distribution:  Mean = Median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Right-Skewed:  Mean &gt; Median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Left-Skewed:  Mean &lt; Median</a:t>
            </a:r>
          </a:p>
        </p:txBody>
      </p:sp>
    </p:spTree>
    <p:extLst>
      <p:ext uri="{BB962C8B-B14F-4D97-AF65-F5344CB8AC3E}">
        <p14:creationId xmlns:p14="http://schemas.microsoft.com/office/powerpoint/2010/main" val="392110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1503" y="2133301"/>
            <a:ext cx="8674896" cy="3678303"/>
          </a:xfrm>
        </p:spPr>
        <p:txBody>
          <a:bodyPr/>
          <a:lstStyle/>
          <a:p>
            <a:r>
              <a:rPr lang="en-US" dirty="0"/>
              <a:t>Which is expected to be uniformly distributed?</a:t>
            </a:r>
          </a:p>
          <a:p>
            <a:pPr lvl="1"/>
            <a:r>
              <a:rPr lang="en-US" dirty="0"/>
              <a:t>Daily temperature in Oxford</a:t>
            </a:r>
          </a:p>
          <a:p>
            <a:pPr lvl="1"/>
            <a:r>
              <a:rPr lang="en-US" dirty="0"/>
              <a:t>Salaries of a random sample of </a:t>
            </a:r>
            <a:r>
              <a:rPr lang="en-US" dirty="0" err="1"/>
              <a:t>Oxonians</a:t>
            </a:r>
            <a:endParaRPr lang="en-US" dirty="0"/>
          </a:p>
          <a:p>
            <a:pPr lvl="1"/>
            <a:r>
              <a:rPr lang="en-US" dirty="0"/>
              <a:t>House prices</a:t>
            </a:r>
          </a:p>
          <a:p>
            <a:pPr lvl="1"/>
            <a:r>
              <a:rPr lang="en-US" dirty="0"/>
              <a:t>Month of birthdays of Ole Miss students</a:t>
            </a:r>
          </a:p>
        </p:txBody>
      </p:sp>
    </p:spTree>
    <p:extLst>
      <p:ext uri="{BB962C8B-B14F-4D97-AF65-F5344CB8AC3E}">
        <p14:creationId xmlns:p14="http://schemas.microsoft.com/office/powerpoint/2010/main" val="27956913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v. 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760" y="2019300"/>
            <a:ext cx="11029615" cy="248913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can be said about the mean relative to median?</a:t>
            </a:r>
          </a:p>
          <a:p>
            <a:pPr marL="781200" lvl="1" indent="-457200">
              <a:buFont typeface="+mj-lt"/>
              <a:buAutoNum type="alphaLcPeriod"/>
            </a:pPr>
            <a:r>
              <a:rPr lang="en-US" dirty="0"/>
              <a:t>Mean = Median</a:t>
            </a:r>
          </a:p>
          <a:p>
            <a:pPr marL="781200" lvl="1" indent="-457200">
              <a:buFont typeface="+mj-lt"/>
              <a:buAutoNum type="alphaLcPeriod"/>
            </a:pPr>
            <a:r>
              <a:rPr lang="en-US" dirty="0"/>
              <a:t>Mean &lt; Median</a:t>
            </a:r>
          </a:p>
          <a:p>
            <a:pPr marL="781200" lvl="1" indent="-457200">
              <a:buFont typeface="+mj-lt"/>
              <a:buAutoNum type="alphaLcPeriod"/>
            </a:pPr>
            <a:r>
              <a:rPr lang="en-US" dirty="0"/>
              <a:t>Mean &gt; Median</a:t>
            </a:r>
          </a:p>
          <a:p>
            <a:pPr marL="781200" lvl="1" indent="-457200">
              <a:buFont typeface="+mj-lt"/>
              <a:buAutoNum type="alphaLcPeriod"/>
            </a:pPr>
            <a:r>
              <a:rPr lang="en-US" dirty="0"/>
              <a:t>Cannot tell</a:t>
            </a:r>
          </a:p>
        </p:txBody>
      </p:sp>
      <p:pic>
        <p:nvPicPr>
          <p:cNvPr id="2050" name="Picture 2" descr="Image result for salary distribution histo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650" y="2971800"/>
            <a:ext cx="6858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What are right-skewed and left-skewed distributions? | by R. Gupta | Geek  Culture | Medium">
            <a:extLst>
              <a:ext uri="{FF2B5EF4-FFF2-40B4-BE49-F238E27FC236}">
                <a16:creationId xmlns:a16="http://schemas.microsoft.com/office/drawing/2014/main" id="{DD013791-BDE1-4A68-A508-614A38B0E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424" y="2594590"/>
            <a:ext cx="4655364" cy="418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90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 – 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21948"/>
            <a:ext cx="4912659" cy="3678303"/>
          </a:xfrm>
        </p:spPr>
        <p:txBody>
          <a:bodyPr/>
          <a:lstStyle/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college %&gt;%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geom_histogram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 = tuition,</a:t>
            </a: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fill = control))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851" y="1302791"/>
            <a:ext cx="5578873" cy="555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724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–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111" y="2234284"/>
            <a:ext cx="5030714" cy="4184445"/>
          </a:xfrm>
        </p:spPr>
        <p:txBody>
          <a:bodyPr>
            <a:normAutofit/>
          </a:bodyPr>
          <a:lstStyle/>
          <a:p>
            <a:r>
              <a:rPr lang="en-US" dirty="0"/>
              <a:t>Designate 5 bins</a:t>
            </a:r>
          </a:p>
          <a:p>
            <a:pPr lvl="1"/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college %&gt;%</a:t>
            </a:r>
          </a:p>
          <a:p>
            <a:pPr lvl="1"/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</a:t>
            </a:r>
          </a:p>
          <a:p>
            <a:pPr lvl="1"/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geom_histogram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sat_avg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fill = control),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bins = 5) +</a:t>
            </a:r>
          </a:p>
          <a:p>
            <a:pPr lvl="1"/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scale_fill_brewer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(palette = "Set1")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411" y="1057225"/>
            <a:ext cx="5558397" cy="553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6838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What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Analyzing Trends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 Line or Column Charts</a:t>
            </a:r>
          </a:p>
          <a:p>
            <a:pPr lvl="0"/>
            <a:r>
              <a:rPr lang="en-US" dirty="0"/>
              <a:t>Demonstrating Composition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Stacked Chart or Maps</a:t>
            </a:r>
          </a:p>
          <a:p>
            <a:pPr lvl="0"/>
            <a:r>
              <a:rPr lang="en-US" dirty="0"/>
              <a:t>Comparing Two or More Sets of Values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Scatterplot or Line (Continuous)</a:t>
            </a:r>
          </a:p>
          <a:p>
            <a:pPr lvl="0"/>
            <a:r>
              <a:rPr lang="en-US" dirty="0"/>
              <a:t>Understanding Data Distribution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 Bar or Column (Discrete); Scatterplot or Line (Continuous)</a:t>
            </a:r>
          </a:p>
          <a:p>
            <a:pPr lvl="0"/>
            <a:r>
              <a:rPr lang="en-US" dirty="0"/>
              <a:t>When timeline is a factor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Bar Chart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70965" y="5638280"/>
            <a:ext cx="9735670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https://blog.hubspot.com/marketing/types-of-graphs-for-data-visualization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248207"/>
      </p:ext>
    </p:extLst>
  </p:cSld>
  <p:clrMapOvr>
    <a:masterClrMapping/>
  </p:clrMapOvr>
</p:sld>
</file>

<file path=ppt/theme/theme1.xml><?xml version="1.0" encoding="utf-8"?>
<a:theme xmlns:a="http://schemas.openxmlformats.org/drawingml/2006/main" name="RTheme1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Theme1" id="{6F74742C-CA52-48C0-9269-F86BBCC36A7B}" vid="{131DD306-3EC2-4718-82F0-6A5603621A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17370</TotalTime>
  <Words>2572</Words>
  <Application>Microsoft Office PowerPoint</Application>
  <PresentationFormat>Widescreen</PresentationFormat>
  <Paragraphs>367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Gill Sans MT</vt:lpstr>
      <vt:lpstr>Times New Roman</vt:lpstr>
      <vt:lpstr>Wingdings</vt:lpstr>
      <vt:lpstr>Wingdings 2</vt:lpstr>
      <vt:lpstr>RTheme1</vt:lpstr>
      <vt:lpstr>ggplot2</vt:lpstr>
      <vt:lpstr>Grammar of Graphics</vt:lpstr>
      <vt:lpstr>PowerPoint Presentation</vt:lpstr>
      <vt:lpstr>Geometrical Object</vt:lpstr>
      <vt:lpstr>Mapping</vt:lpstr>
      <vt:lpstr>Mapping</vt:lpstr>
      <vt:lpstr>Coord_</vt:lpstr>
      <vt:lpstr>Facet_</vt:lpstr>
      <vt:lpstr>Scale_</vt:lpstr>
      <vt:lpstr>Labels &amp; themes</vt:lpstr>
      <vt:lpstr>Using Color Brewer As A Layer</vt:lpstr>
      <vt:lpstr>Using Color Brewer as a Layer</vt:lpstr>
      <vt:lpstr>Scatterplot </vt:lpstr>
      <vt:lpstr>Scatterplot – Example </vt:lpstr>
      <vt:lpstr>Scatterplot Example – con’t</vt:lpstr>
      <vt:lpstr>Scatterplot Example – con’t</vt:lpstr>
      <vt:lpstr>Scatterplot Example – con’t</vt:lpstr>
      <vt:lpstr>Beautifying Your Visualization</vt:lpstr>
      <vt:lpstr>Example</vt:lpstr>
      <vt:lpstr>Vertical &amp; Horizontal lines</vt:lpstr>
      <vt:lpstr>Text</vt:lpstr>
      <vt:lpstr>Line Chart</vt:lpstr>
      <vt:lpstr>Line Chart – Example </vt:lpstr>
      <vt:lpstr>Column Charts</vt:lpstr>
      <vt:lpstr>Column Charts – Example 1</vt:lpstr>
      <vt:lpstr>Column Charts Example 1 – con’t</vt:lpstr>
      <vt:lpstr>Column Charts – Example 2</vt:lpstr>
      <vt:lpstr>Column Charts Example 2 – con’t</vt:lpstr>
      <vt:lpstr>Boxplots</vt:lpstr>
      <vt:lpstr>Boxplot – Example 1</vt:lpstr>
      <vt:lpstr>Boxplot – Example 2</vt:lpstr>
      <vt:lpstr>Bar Charts</vt:lpstr>
      <vt:lpstr>Bar Charts – Example 1</vt:lpstr>
      <vt:lpstr>Bar Charts – Example 2</vt:lpstr>
      <vt:lpstr>Bar Charts Example 2 – con’t</vt:lpstr>
      <vt:lpstr>Bar Charts Example 2 – con’t</vt:lpstr>
      <vt:lpstr>Histograms</vt:lpstr>
      <vt:lpstr>Histograms</vt:lpstr>
      <vt:lpstr>Distribution</vt:lpstr>
      <vt:lpstr>Mean v. Median</vt:lpstr>
      <vt:lpstr>Histograms – Example 1</vt:lpstr>
      <vt:lpstr>Histogram – Example 2</vt:lpstr>
      <vt:lpstr>When to use What Chart</vt:lpstr>
    </vt:vector>
  </TitlesOfParts>
  <Company>University of Mississippi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ggplot2</dc:title>
  <dc:creator>Kristi Davidson</dc:creator>
  <cp:lastModifiedBy>kristi</cp:lastModifiedBy>
  <cp:revision>103</cp:revision>
  <cp:lastPrinted>2019-08-23T21:16:12Z</cp:lastPrinted>
  <dcterms:created xsi:type="dcterms:W3CDTF">2019-08-01T20:02:12Z</dcterms:created>
  <dcterms:modified xsi:type="dcterms:W3CDTF">2024-10-13T19:23:57Z</dcterms:modified>
</cp:coreProperties>
</file>