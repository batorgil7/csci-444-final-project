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4" r:id="rId3"/>
    <p:sldId id="257" r:id="rId4"/>
    <p:sldId id="258" r:id="rId5"/>
    <p:sldId id="259" r:id="rId6"/>
    <p:sldId id="260" r:id="rId7"/>
    <p:sldId id="265" r:id="rId8"/>
    <p:sldId id="266" r:id="rId9"/>
    <p:sldId id="262" r:id="rId10"/>
    <p:sldId id="263" r:id="rId11"/>
  </p:sldIdLst>
  <p:sldSz cx="12192000" cy="6858000"/>
  <p:notesSz cx="68580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79" d="100"/>
          <a:sy n="79" d="100"/>
        </p:scale>
        <p:origin x="45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Unit 4:  R Programming - Math Syntax &amp; R Projects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45114-573E-4D06-92C6-13B187E28C6F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32F7A-8D85-4C25-B074-8BA1D0677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7311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Unit 4:  R Programming - Math Syntax &amp; R Projects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542D8-CA2C-40AD-AAC2-2F39F200005C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13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892"/>
            <a:ext cx="548640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823A98-5645-495B-A8FC-A9BE0201A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4236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41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03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41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70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494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416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24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9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06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32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97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7037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Math Syntax and R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CSCI 444</a:t>
            </a:r>
          </a:p>
        </p:txBody>
      </p:sp>
    </p:spTree>
    <p:extLst>
      <p:ext uri="{BB962C8B-B14F-4D97-AF65-F5344CB8AC3E}">
        <p14:creationId xmlns:p14="http://schemas.microsoft.com/office/powerpoint/2010/main" val="46406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R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999403"/>
            <a:ext cx="5422390" cy="3633047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File &gt; New File &gt; </a:t>
            </a:r>
            <a:r>
              <a:rPr lang="en-US" sz="2800" dirty="0" err="1"/>
              <a:t>RScript</a:t>
            </a:r>
            <a:endParaRPr lang="en-US" sz="2800" dirty="0"/>
          </a:p>
          <a:p>
            <a:pPr lvl="1"/>
            <a:r>
              <a:rPr lang="en-US" sz="2400" dirty="0"/>
              <a:t>Opens editor</a:t>
            </a:r>
          </a:p>
          <a:p>
            <a:r>
              <a:rPr lang="en-US" sz="2800" dirty="0"/>
              <a:t>Ctrl-Enter </a:t>
            </a:r>
            <a:r>
              <a:rPr lang="en-US" sz="2800" dirty="0">
                <a:sym typeface="Wingdings" panose="05000000000000000000" pitchFamily="2" charset="2"/>
              </a:rPr>
              <a:t> Runs script</a:t>
            </a:r>
            <a:endParaRPr lang="en-US" sz="2800" dirty="0"/>
          </a:p>
          <a:p>
            <a:pPr lvl="1"/>
            <a:r>
              <a:rPr lang="en-US" sz="2400" dirty="0"/>
              <a:t>Cursor</a:t>
            </a:r>
          </a:p>
          <a:p>
            <a:pPr lvl="1"/>
            <a:r>
              <a:rPr lang="en-US" sz="2400" dirty="0"/>
              <a:t>Highlighted Code Chunk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096001" y="2228003"/>
            <a:ext cx="5422392" cy="36330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Although these symbols are used on several lines, R considers it as just one line</a:t>
            </a:r>
          </a:p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%&gt;%</a:t>
            </a:r>
            <a:r>
              <a:rPr lang="en-US" sz="2800" dirty="0"/>
              <a:t> </a:t>
            </a:r>
            <a:r>
              <a:rPr lang="en-US" sz="2800" dirty="0">
                <a:sym typeface="Wingdings" panose="05000000000000000000" pitchFamily="2" charset="2"/>
              </a:rPr>
              <a:t> Piping Function</a:t>
            </a:r>
          </a:p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%&lt;&gt;%</a:t>
            </a:r>
            <a:r>
              <a:rPr lang="en-US" sz="2800" dirty="0"/>
              <a:t> </a:t>
            </a:r>
            <a:r>
              <a:rPr lang="en-US" sz="2800" dirty="0">
                <a:sym typeface="Wingdings" panose="05000000000000000000" pitchFamily="2" charset="2"/>
              </a:rPr>
              <a:t> Assignment Pipe</a:t>
            </a:r>
          </a:p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+</a:t>
            </a:r>
            <a:r>
              <a:rPr lang="en-US" sz="2800" dirty="0">
                <a:sym typeface="Wingdings" panose="05000000000000000000" pitchFamily="2" charset="2"/>
              </a:rPr>
              <a:t>  Layering Plotting Feature</a:t>
            </a:r>
          </a:p>
          <a:p>
            <a:pPr marL="0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More to come on these…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0527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83785212"/>
              </p:ext>
            </p:extLst>
          </p:nvPr>
        </p:nvGraphicFramePr>
        <p:xfrm>
          <a:off x="960119" y="2131858"/>
          <a:ext cx="10271763" cy="4557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313">
                  <a:extLst>
                    <a:ext uri="{9D8B030D-6E8A-4147-A177-3AD203B41FA5}">
                      <a16:colId xmlns:a16="http://schemas.microsoft.com/office/drawing/2014/main" val="3129275194"/>
                    </a:ext>
                  </a:extLst>
                </a:gridCol>
                <a:gridCol w="4048362">
                  <a:extLst>
                    <a:ext uri="{9D8B030D-6E8A-4147-A177-3AD203B41FA5}">
                      <a16:colId xmlns:a16="http://schemas.microsoft.com/office/drawing/2014/main" val="4211954658"/>
                    </a:ext>
                  </a:extLst>
                </a:gridCol>
                <a:gridCol w="3183088">
                  <a:extLst>
                    <a:ext uri="{9D8B030D-6E8A-4147-A177-3AD203B41FA5}">
                      <a16:colId xmlns:a16="http://schemas.microsoft.com/office/drawing/2014/main" val="3785025189"/>
                    </a:ext>
                  </a:extLst>
                </a:gridCol>
              </a:tblGrid>
              <a:tr h="565622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Converts</a:t>
                      </a:r>
                      <a:r>
                        <a:rPr lang="en-US" sz="2800" baseline="0" dirty="0"/>
                        <a:t> to Data Type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Tests Data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501470"/>
                  </a:ext>
                </a:extLst>
              </a:tr>
              <a:tr h="572048">
                <a:tc>
                  <a:txBody>
                    <a:bodyPr/>
                    <a:lstStyle/>
                    <a:p>
                      <a:r>
                        <a:rPr lang="en-US" sz="2800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as.integer</a:t>
                      </a:r>
                      <a:r>
                        <a:rPr lang="en-US" sz="28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is.integer</a:t>
                      </a:r>
                      <a:r>
                        <a:rPr lang="en-US" sz="28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554329"/>
                  </a:ext>
                </a:extLst>
              </a:tr>
              <a:tr h="595231">
                <a:tc>
                  <a:txBody>
                    <a:bodyPr/>
                    <a:lstStyle/>
                    <a:p>
                      <a:r>
                        <a:rPr lang="en-US" sz="2800" dirty="0"/>
                        <a:t>Double/Numeric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as.numeric</a:t>
                      </a:r>
                      <a:r>
                        <a:rPr lang="en-US" sz="28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is.numeric</a:t>
                      </a:r>
                      <a:r>
                        <a:rPr lang="en-US" sz="28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561255"/>
                  </a:ext>
                </a:extLst>
              </a:tr>
              <a:tr h="585321">
                <a:tc>
                  <a:txBody>
                    <a:bodyPr/>
                    <a:lstStyle/>
                    <a:p>
                      <a:r>
                        <a:rPr lang="en-US" sz="2800" dirty="0"/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as.character</a:t>
                      </a:r>
                      <a:r>
                        <a:rPr lang="en-US" sz="28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is.character</a:t>
                      </a:r>
                      <a:r>
                        <a:rPr lang="en-US" sz="28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129258"/>
                  </a:ext>
                </a:extLst>
              </a:tr>
              <a:tr h="923214">
                <a:tc>
                  <a:txBody>
                    <a:bodyPr/>
                    <a:lstStyle/>
                    <a:p>
                      <a:r>
                        <a:rPr lang="en-US" sz="2800" dirty="0"/>
                        <a:t>Factor</a:t>
                      </a:r>
                    </a:p>
                    <a:p>
                      <a:r>
                        <a:rPr lang="en-US" sz="2800" dirty="0"/>
                        <a:t>Categorical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as.factor</a:t>
                      </a:r>
                      <a:r>
                        <a:rPr lang="en-US" sz="28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is.factor</a:t>
                      </a:r>
                      <a:r>
                        <a:rPr lang="en-US" sz="28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825253"/>
                  </a:ext>
                </a:extLst>
              </a:tr>
              <a:tr h="647377">
                <a:tc>
                  <a:txBody>
                    <a:bodyPr/>
                    <a:lstStyle/>
                    <a:p>
                      <a:r>
                        <a:rPr lang="en-US" sz="2800" dirty="0"/>
                        <a:t>Logical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as.logical</a:t>
                      </a:r>
                      <a:r>
                        <a:rPr lang="en-US" sz="28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is.logical</a:t>
                      </a:r>
                      <a:r>
                        <a:rPr lang="en-US" sz="28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247640"/>
                  </a:ext>
                </a:extLst>
              </a:tr>
              <a:tr h="647377">
                <a:tc>
                  <a:txBody>
                    <a:bodyPr/>
                    <a:lstStyle/>
                    <a:p>
                      <a:r>
                        <a:rPr lang="en-US" sz="28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as.Date</a:t>
                      </a:r>
                      <a:r>
                        <a:rPr lang="en-US" sz="28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is.Date</a:t>
                      </a:r>
                      <a:r>
                        <a:rPr lang="en-US" sz="2800"/>
                        <a:t>()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235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1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148483"/>
            <a:ext cx="5422390" cy="3633047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 </a:t>
            </a:r>
            <a:r>
              <a:rPr lang="en-US" sz="2400" dirty="0"/>
              <a:t>   </a:t>
            </a:r>
            <a:r>
              <a:rPr lang="en-US" sz="2200" dirty="0"/>
              <a:t>Assignment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+  -  *  /  ^ </a:t>
            </a:r>
            <a:r>
              <a:rPr lang="en-US" sz="2400" dirty="0"/>
              <a:t>   Standard operators</a:t>
            </a:r>
          </a:p>
          <a:p>
            <a:pPr lvl="1"/>
            <a:r>
              <a:rPr lang="en-US" sz="2200" dirty="0"/>
              <a:t>includes exponentiation</a:t>
            </a:r>
          </a:p>
          <a:p>
            <a:r>
              <a:rPr lang="en-US" sz="2400" dirty="0"/>
              <a:t>Logical</a:t>
            </a:r>
          </a:p>
          <a:p>
            <a:pPr lvl="1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==</a:t>
            </a:r>
            <a:r>
              <a:rPr lang="en-US" sz="2000" dirty="0"/>
              <a:t>    EQUAL</a:t>
            </a:r>
          </a:p>
          <a:p>
            <a:pPr lvl="1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!=</a:t>
            </a:r>
            <a:r>
              <a:rPr lang="en-US" sz="2000" dirty="0"/>
              <a:t>     NOT EQUAL</a:t>
            </a:r>
          </a:p>
          <a:p>
            <a:pPr lvl="1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&lt;  &lt;=  &gt;  &gt;=     </a:t>
            </a:r>
            <a:r>
              <a:rPr lang="en-US" sz="2000" dirty="0"/>
              <a:t>RELATIONAL</a:t>
            </a:r>
          </a:p>
          <a:p>
            <a:pPr lvl="1"/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4758" y="2228003"/>
            <a:ext cx="7137242" cy="4382347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is.na(x)</a:t>
            </a:r>
            <a:r>
              <a:rPr lang="en-US" sz="2400" dirty="0"/>
              <a:t>    TRUE if x is NA</a:t>
            </a:r>
          </a:p>
          <a:p>
            <a:pPr lvl="1"/>
            <a:r>
              <a:rPr lang="en-US" sz="2200" dirty="0"/>
              <a:t>R uses NA not NULL</a:t>
            </a:r>
          </a:p>
          <a:p>
            <a:pPr lvl="1"/>
            <a:r>
              <a:rPr lang="en-US" sz="2200" b="1" dirty="0">
                <a:solidFill>
                  <a:schemeClr val="accent2"/>
                </a:solidFill>
              </a:rPr>
              <a:t>is.na(c(2, 7, NA, 3, NA)</a:t>
            </a:r>
          </a:p>
          <a:p>
            <a:pPr lvl="1"/>
            <a:r>
              <a:rPr lang="en-US" sz="2200" b="1" dirty="0">
                <a:solidFill>
                  <a:schemeClr val="accent2"/>
                </a:solidFill>
              </a:rPr>
              <a:t>[1]  FALSE  </a:t>
            </a:r>
            <a:r>
              <a:rPr lang="en-US" sz="2200" b="1" dirty="0" err="1">
                <a:solidFill>
                  <a:schemeClr val="accent2"/>
                </a:solidFill>
              </a:rPr>
              <a:t>FALSE</a:t>
            </a:r>
            <a:r>
              <a:rPr lang="en-US" sz="2200" b="1" dirty="0">
                <a:solidFill>
                  <a:schemeClr val="accent2"/>
                </a:solidFill>
              </a:rPr>
              <a:t>  TRUE  FALSE  TRUE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!is.na(x)    </a:t>
            </a:r>
            <a:r>
              <a:rPr lang="en-US" sz="2400" dirty="0"/>
              <a:t>TRUE if x is not NA</a:t>
            </a:r>
          </a:p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na.omit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() 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 removes NA observations</a:t>
            </a:r>
            <a:endParaRPr lang="en-US" sz="2400" dirty="0"/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%in%    </a:t>
            </a:r>
            <a:r>
              <a:rPr lang="en-US" sz="2400" dirty="0"/>
              <a:t>SELECT if a value is in a vector</a:t>
            </a:r>
          </a:p>
          <a:p>
            <a:pPr lvl="1"/>
            <a:r>
              <a:rPr lang="en-US" sz="2200" b="1" dirty="0">
                <a:solidFill>
                  <a:schemeClr val="accent2"/>
                </a:solidFill>
              </a:rPr>
              <a:t>c(1:5) %in% c(3:8)</a:t>
            </a:r>
          </a:p>
          <a:p>
            <a:pPr lvl="1"/>
            <a:r>
              <a:rPr lang="en-US" sz="2200" b="1" dirty="0">
                <a:solidFill>
                  <a:schemeClr val="accent2"/>
                </a:solidFill>
              </a:rPr>
              <a:t>[1]  FALSE  </a:t>
            </a:r>
            <a:r>
              <a:rPr lang="en-US" sz="2200" b="1" dirty="0" err="1">
                <a:solidFill>
                  <a:schemeClr val="accent2"/>
                </a:solidFill>
              </a:rPr>
              <a:t>FALSE</a:t>
            </a:r>
            <a:r>
              <a:rPr lang="en-US" sz="2200" b="1" dirty="0">
                <a:solidFill>
                  <a:schemeClr val="accent2"/>
                </a:solidFill>
              </a:rPr>
              <a:t>  TRUE  </a:t>
            </a:r>
            <a:r>
              <a:rPr lang="en-US" sz="2200" b="1" dirty="0" err="1">
                <a:solidFill>
                  <a:schemeClr val="accent2"/>
                </a:solidFill>
              </a:rPr>
              <a:t>TRUE</a:t>
            </a:r>
            <a:r>
              <a:rPr lang="en-US" sz="2200" b="1" dirty="0">
                <a:solidFill>
                  <a:schemeClr val="accent2"/>
                </a:solidFill>
              </a:rPr>
              <a:t>  </a:t>
            </a:r>
            <a:r>
              <a:rPr lang="en-US" sz="2200" b="1" dirty="0" err="1">
                <a:solidFill>
                  <a:schemeClr val="accent2"/>
                </a:solidFill>
              </a:rPr>
              <a:t>TRUE</a:t>
            </a:r>
            <a:endParaRPr lang="en-US" sz="2200" b="1" dirty="0">
              <a:solidFill>
                <a:schemeClr val="accent2"/>
              </a:solidFill>
            </a:endParaRP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%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nin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%  </a:t>
            </a:r>
            <a:r>
              <a:rPr lang="en-US" sz="2400" dirty="0"/>
              <a:t>SELECT if a value NOT in vector (</a:t>
            </a:r>
            <a:r>
              <a:rPr lang="en-US" sz="2400" dirty="0" err="1"/>
              <a:t>sjmisc</a:t>
            </a:r>
            <a:r>
              <a:rPr lang="en-US" sz="2400" dirty="0"/>
              <a:t> package)</a:t>
            </a:r>
          </a:p>
        </p:txBody>
      </p:sp>
    </p:spTree>
    <p:extLst>
      <p:ext uri="{BB962C8B-B14F-4D97-AF65-F5344CB8AC3E}">
        <p14:creationId xmlns:p14="http://schemas.microsoft.com/office/powerpoint/2010/main" val="300350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3790950"/>
            <a:ext cx="5552908" cy="3029874"/>
          </a:xfrm>
        </p:spPr>
        <p:txBody>
          <a:bodyPr/>
          <a:lstStyle/>
          <a:p>
            <a:r>
              <a:rPr lang="en-US" dirty="0"/>
              <a:t>Standard rectangular data store</a:t>
            </a:r>
          </a:p>
          <a:p>
            <a:pPr lvl="1"/>
            <a:r>
              <a:rPr lang="en-US" dirty="0"/>
              <a:t>Analogous to spreadsheets</a:t>
            </a:r>
          </a:p>
          <a:p>
            <a:r>
              <a:rPr lang="en-US" dirty="0"/>
              <a:t>Columns </a:t>
            </a:r>
            <a:r>
              <a:rPr lang="en-US" dirty="0">
                <a:sym typeface="Wingdings" panose="05000000000000000000" pitchFamily="2" charset="2"/>
              </a:rPr>
              <a:t>  Variables</a:t>
            </a:r>
          </a:p>
          <a:p>
            <a:r>
              <a:rPr lang="en-US" dirty="0">
                <a:sym typeface="Wingdings" panose="05000000000000000000" pitchFamily="2" charset="2"/>
              </a:rPr>
              <a:t>Rows   Observations</a:t>
            </a:r>
          </a:p>
          <a:p>
            <a:r>
              <a:rPr lang="en-US" dirty="0">
                <a:sym typeface="Wingdings" panose="05000000000000000000" pitchFamily="2" charset="2"/>
              </a:rPr>
              <a:t>Cells   Observational Units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855" y="1919288"/>
            <a:ext cx="6431219" cy="4500562"/>
          </a:xfrm>
          <a:prstGeom prst="rect">
            <a:avLst/>
          </a:prstGeom>
        </p:spPr>
      </p:pic>
      <p:sp>
        <p:nvSpPr>
          <p:cNvPr id="5" name="Right Arrow Callout 4"/>
          <p:cNvSpPr/>
          <p:nvPr/>
        </p:nvSpPr>
        <p:spPr>
          <a:xfrm>
            <a:off x="1443122" y="3086100"/>
            <a:ext cx="3705225" cy="666750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iris data frame</a:t>
            </a:r>
          </a:p>
          <a:p>
            <a:pPr algn="ctr"/>
            <a:r>
              <a:rPr lang="en-US" dirty="0"/>
              <a:t>Fisher’s iris data set</a:t>
            </a:r>
          </a:p>
        </p:txBody>
      </p:sp>
      <p:pic>
        <p:nvPicPr>
          <p:cNvPr id="3076" name="Picture 4" descr="Image result for ir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122" y="1919287"/>
            <a:ext cx="2919328" cy="114207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1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90700"/>
            <a:ext cx="9648657" cy="50673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class(dataset) </a:t>
            </a:r>
            <a:r>
              <a:rPr lang="en-US" dirty="0">
                <a:sym typeface="Wingdings" panose="05000000000000000000" pitchFamily="2" charset="2"/>
              </a:rPr>
              <a:t> lists the type of R object</a:t>
            </a:r>
          </a:p>
          <a:p>
            <a:pPr lv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class(iris) </a:t>
            </a:r>
            <a:r>
              <a:rPr lang="en-US" dirty="0">
                <a:sym typeface="Wingdings" panose="05000000000000000000" pitchFamily="2" charset="2"/>
              </a:rPr>
              <a:t>  [1]  “</a:t>
            </a:r>
            <a:r>
              <a:rPr lang="en-US" dirty="0" err="1">
                <a:sym typeface="Wingdings" panose="05000000000000000000" pitchFamily="2" charset="2"/>
              </a:rPr>
              <a:t>data.frame</a:t>
            </a:r>
            <a:r>
              <a:rPr lang="en-US" dirty="0">
                <a:sym typeface="Wingdings" panose="05000000000000000000" pitchFamily="2" charset="2"/>
              </a:rPr>
              <a:t>“</a:t>
            </a:r>
          </a:p>
          <a:p>
            <a:r>
              <a:rPr lang="en-US" dirty="0">
                <a:sym typeface="Wingdings" panose="05000000000000000000" pitchFamily="2" charset="2"/>
              </a:rPr>
              <a:t>View(dataset)   lists all observations in its own window</a:t>
            </a:r>
          </a:p>
          <a:p>
            <a:r>
              <a:rPr lang="en-US" dirty="0">
                <a:sym typeface="Wingdings" panose="05000000000000000000" pitchFamily="2" charset="2"/>
              </a:rPr>
              <a:t>head(dataset)  lists first 6 observations in Console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name(dataset)  lists all variables in Console</a:t>
            </a:r>
          </a:p>
          <a:p>
            <a:r>
              <a:rPr lang="en-US" dirty="0">
                <a:sym typeface="Wingdings" panose="05000000000000000000" pitchFamily="2" charset="2"/>
              </a:rPr>
              <a:t>Subsets</a:t>
            </a:r>
          </a:p>
          <a:p>
            <a:pPr lvl="1"/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petalInfo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&lt;- iris[ , 3:4]        </a:t>
            </a:r>
            <a:r>
              <a:rPr lang="en-US" dirty="0">
                <a:sym typeface="Wingdings" panose="05000000000000000000" pitchFamily="2" charset="2"/>
              </a:rPr>
              <a:t>Adjacent Variables (Slice)</a:t>
            </a:r>
          </a:p>
          <a:p>
            <a:pPr lvl="1"/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lengthInfo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&lt;- iris[ , c(1, 3)]   </a:t>
            </a:r>
            <a:r>
              <a:rPr lang="en-US" dirty="0">
                <a:sym typeface="Wingdings" panose="05000000000000000000" pitchFamily="2" charset="2"/>
              </a:rPr>
              <a:t>Non-Adjacent Variables</a:t>
            </a:r>
          </a:p>
          <a:p>
            <a:r>
              <a:rPr lang="en-US" dirty="0">
                <a:sym typeface="Wingdings" panose="05000000000000000000" pitchFamily="2" charset="2"/>
              </a:rPr>
              <a:t>Reference Specific Variable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Use $ to EITHER reference a variable OR create a new one</a:t>
            </a:r>
          </a:p>
          <a:p>
            <a:pPr lvl="1"/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iris$Petal.Length</a:t>
            </a:r>
            <a:r>
              <a:rPr lang="en-US" dirty="0">
                <a:sym typeface="Wingdings" panose="05000000000000000000" pitchFamily="2" charset="2"/>
              </a:rPr>
              <a:t>   ALREADY existing variable</a:t>
            </a:r>
          </a:p>
          <a:p>
            <a:pPr lvl="1"/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iris$Total.Length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&lt;-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iris$Petal.Length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+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iris$Sepal.Length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 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NEW variable</a:t>
            </a:r>
          </a:p>
        </p:txBody>
      </p:sp>
      <p:pic>
        <p:nvPicPr>
          <p:cNvPr id="4099" name="Picture 3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050" y="2190749"/>
            <a:ext cx="3810000" cy="41148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35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033" y="1736193"/>
            <a:ext cx="6048207" cy="1780117"/>
          </a:xfrm>
        </p:spPr>
        <p:txBody>
          <a:bodyPr>
            <a:noAutofit/>
          </a:bodyPr>
          <a:lstStyle/>
          <a:p>
            <a:r>
              <a:rPr lang="en-US" sz="2400" dirty="0"/>
              <a:t>R functions assign arguments in order</a:t>
            </a:r>
          </a:p>
          <a:p>
            <a:pPr lvl="1"/>
            <a:r>
              <a:rPr lang="en-US" sz="2200" dirty="0"/>
              <a:t>Name arguments when out of order</a:t>
            </a:r>
          </a:p>
          <a:p>
            <a:pPr lvl="1"/>
            <a:r>
              <a:rPr lang="en-US" sz="2200" dirty="0"/>
              <a:t>Defaults used when argument not assigned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5593080" y="1938443"/>
            <a:ext cx="6598920" cy="4629997"/>
          </a:xfrm>
        </p:spPr>
        <p:txBody>
          <a:bodyPr>
            <a:normAutofit fontScale="77500" lnSpcReduction="20000"/>
          </a:bodyPr>
          <a:lstStyle/>
          <a:p>
            <a:r>
              <a:rPr lang="en-US" sz="3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diff(x, ...)</a:t>
            </a:r>
          </a:p>
          <a:p>
            <a:pPr>
              <a:lnSpc>
                <a:spcPct val="120000"/>
              </a:lnSpc>
            </a:pPr>
            <a:r>
              <a:rPr lang="en-US" sz="3200" b="1" u="sng" dirty="0"/>
              <a:t>Arguments</a:t>
            </a:r>
            <a:br>
              <a:rPr lang="en-US" sz="3200" dirty="0"/>
            </a:br>
            <a:r>
              <a:rPr lang="en-US" sz="3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</a:t>
            </a:r>
            <a:r>
              <a:rPr lang="en-US" sz="3200" dirty="0"/>
              <a:t>	     a numeric vector containing the </a:t>
            </a:r>
            <a:br>
              <a:rPr lang="en-US" sz="3200" dirty="0"/>
            </a:br>
            <a:r>
              <a:rPr lang="en-US" sz="3200" dirty="0"/>
              <a:t>            values to be differenced.</a:t>
            </a:r>
          </a:p>
          <a:p>
            <a:pPr>
              <a:lnSpc>
                <a:spcPct val="120000"/>
              </a:lnSpc>
            </a:pPr>
            <a:r>
              <a:rPr lang="en-US" sz="3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lag</a:t>
            </a:r>
            <a:r>
              <a:rPr lang="en-US" sz="3200" dirty="0"/>
              <a:t>        an integer indicating which lag to use.</a:t>
            </a:r>
          </a:p>
          <a:p>
            <a:pPr>
              <a:lnSpc>
                <a:spcPct val="120000"/>
              </a:lnSpc>
            </a:pPr>
            <a:r>
              <a:rPr lang="en-US" sz="32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differences</a:t>
            </a:r>
            <a:r>
              <a:rPr lang="en-US" sz="3200" dirty="0"/>
              <a:t>	    an integer indicating the order </a:t>
            </a:r>
            <a:br>
              <a:rPr lang="en-US" sz="3200" dirty="0"/>
            </a:br>
            <a:r>
              <a:rPr lang="en-US" sz="3200" dirty="0"/>
              <a:t>                     of the difference. Number of </a:t>
            </a:r>
            <a:br>
              <a:rPr lang="en-US" sz="3200" dirty="0"/>
            </a:br>
            <a:r>
              <a:rPr lang="en-US" sz="3200" dirty="0"/>
              <a:t>                     times diff is called.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...</a:t>
            </a:r>
            <a:r>
              <a:rPr lang="en-US" sz="3200" dirty="0"/>
              <a:t>	     further arguments to be passed to or </a:t>
            </a:r>
            <a:br>
              <a:rPr lang="en-US" sz="3200" dirty="0"/>
            </a:br>
            <a:r>
              <a:rPr lang="en-US" sz="3200" dirty="0"/>
              <a:t>            from methods.</a:t>
            </a:r>
          </a:p>
        </p:txBody>
      </p:sp>
      <p:sp>
        <p:nvSpPr>
          <p:cNvPr id="11" name="Right Arrow Callout 10"/>
          <p:cNvSpPr/>
          <p:nvPr/>
        </p:nvSpPr>
        <p:spPr>
          <a:xfrm>
            <a:off x="182881" y="3733800"/>
            <a:ext cx="5684520" cy="2834640"/>
          </a:xfrm>
          <a:prstGeom prst="rightArrowCallout">
            <a:avLst>
              <a:gd name="adj1" fmla="val 13868"/>
              <a:gd name="adj2" fmla="val 21774"/>
              <a:gd name="adj3" fmla="val 18959"/>
              <a:gd name="adj4" fmla="val 892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data &lt;- c(1, 3, 5, 7, 11, 13, 17)</a:t>
            </a:r>
          </a:p>
          <a:p>
            <a:r>
              <a:rPr lang="en-US" sz="2000" dirty="0"/>
              <a:t>x &lt;- diff(data) </a:t>
            </a:r>
          </a:p>
          <a:p>
            <a:r>
              <a:rPr lang="en-US" sz="2000" dirty="0"/>
              <a:t>x [2  2  2  4  2  4]</a:t>
            </a:r>
          </a:p>
          <a:p>
            <a:endParaRPr lang="en-US" sz="2000" dirty="0"/>
          </a:p>
          <a:p>
            <a:r>
              <a:rPr lang="en-US" sz="2000" dirty="0"/>
              <a:t>y &lt;- diff(data, differences = 2)</a:t>
            </a:r>
          </a:p>
          <a:p>
            <a:r>
              <a:rPr lang="en-US" sz="2000" dirty="0"/>
              <a:t>y [0  0  2  -2  2]</a:t>
            </a:r>
          </a:p>
          <a:p>
            <a:r>
              <a:rPr lang="en-US" sz="2000" dirty="0"/>
              <a:t>First </a:t>
            </a:r>
            <a:r>
              <a:rPr lang="en-US" sz="2000" dirty="0">
                <a:sym typeface="Wingdings" panose="05000000000000000000" pitchFamily="2" charset="2"/>
              </a:rPr>
              <a:t> (1-3), (5-3), (7-5), (11-7), (13-7), (17-13)</a:t>
            </a:r>
            <a:endParaRPr lang="en-US" sz="2000" dirty="0"/>
          </a:p>
          <a:p>
            <a:r>
              <a:rPr lang="en-US" sz="2000" dirty="0"/>
              <a:t>Second </a:t>
            </a:r>
            <a:r>
              <a:rPr lang="en-US" sz="2000" dirty="0">
                <a:sym typeface="Wingdings" panose="05000000000000000000" pitchFamily="2" charset="2"/>
              </a:rPr>
              <a:t>  </a:t>
            </a:r>
            <a:r>
              <a:rPr lang="en-US" sz="2000" dirty="0"/>
              <a:t>(2-2),  (2-2), (4-2), (2-4), (4-2) </a:t>
            </a:r>
          </a:p>
        </p:txBody>
      </p:sp>
      <p:sp>
        <p:nvSpPr>
          <p:cNvPr id="12" name="Right Arrow Callout 11"/>
          <p:cNvSpPr/>
          <p:nvPr/>
        </p:nvSpPr>
        <p:spPr>
          <a:xfrm>
            <a:off x="796346" y="3038366"/>
            <a:ext cx="4854407" cy="2112754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data &lt;- c(1, 3, 5, 7, 11, 13, 17)</a:t>
            </a:r>
          </a:p>
          <a:p>
            <a:r>
              <a:rPr lang="en-US" dirty="0"/>
              <a:t>z &lt;- diff(data, 2)</a:t>
            </a:r>
          </a:p>
          <a:p>
            <a:endParaRPr lang="en-US" dirty="0"/>
          </a:p>
          <a:p>
            <a:r>
              <a:rPr lang="en-US" dirty="0"/>
              <a:t>Which variable in the list of arguments is assigned 2?</a:t>
            </a:r>
          </a:p>
          <a:p>
            <a:r>
              <a:rPr lang="en-US" dirty="0"/>
              <a:t>What is the value of the other variable?</a:t>
            </a:r>
          </a:p>
        </p:txBody>
      </p:sp>
    </p:spTree>
    <p:extLst>
      <p:ext uri="{BB962C8B-B14F-4D97-AF65-F5344CB8AC3E}">
        <p14:creationId xmlns:p14="http://schemas.microsoft.com/office/powerpoint/2010/main" val="236907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1" grpId="0" animBg="1"/>
      <p:bldP spid="11" grpId="1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EE78C-4947-44E4-9D5B-1F841C453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8A334-72DA-439D-99DB-3D0478C50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6713" y="1612476"/>
            <a:ext cx="6233886" cy="3633047"/>
          </a:xfrm>
        </p:spPr>
        <p:txBody>
          <a:bodyPr>
            <a:normAutofit/>
          </a:bodyPr>
          <a:lstStyle/>
          <a:p>
            <a:r>
              <a:rPr lang="en-US" sz="2800" dirty="0"/>
              <a:t>In </a:t>
            </a:r>
            <a:r>
              <a:rPr lang="en-US" sz="2800" dirty="0" err="1"/>
              <a:t>ggplot</a:t>
            </a:r>
            <a:r>
              <a:rPr lang="en-US" sz="2800" dirty="0"/>
              <a:t>, why could we code without designating mapping?</a:t>
            </a:r>
          </a:p>
          <a:p>
            <a:pPr lvl="1"/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(x=x, y=y…))</a:t>
            </a:r>
          </a:p>
          <a:p>
            <a:pPr marL="0" indent="0">
              <a:buNone/>
            </a:pPr>
            <a:r>
              <a:rPr lang="en-US" sz="2800" dirty="0"/>
              <a:t>				v.</a:t>
            </a:r>
          </a:p>
          <a:p>
            <a:pPr lvl="1"/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b="1" i="1" dirty="0">
                <a:solidFill>
                  <a:schemeClr val="tx1"/>
                </a:solidFill>
              </a:rPr>
              <a:t>mapping =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(x=x, y=y…))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9A9F5-0CE1-4BAD-B89E-A3790DAC9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89574" y="1762283"/>
            <a:ext cx="4835151" cy="3633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?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endParaRPr lang="en-US" sz="2400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datasaurus_dozen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pPr marL="0" indent="0">
              <a:buNone/>
            </a:pP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ggplot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aes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(x</a:t>
            </a:r>
            <a:r>
              <a:rPr lang="en-US" sz="2400" b="1" i="1">
                <a:solidFill>
                  <a:schemeClr val="accent1">
                    <a:lumMod val="60000"/>
                    <a:lumOff val="40000"/>
                  </a:schemeClr>
                </a:solidFill>
              </a:rPr>
              <a:t>, y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color = dataset))+</a:t>
            </a:r>
          </a:p>
          <a:p>
            <a:pPr marL="0" indent="0">
              <a:buNone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geom_point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()+</a:t>
            </a:r>
          </a:p>
          <a:p>
            <a:pPr marL="0" indent="0">
              <a:buNone/>
            </a:pP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facet_wrap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(~ dataset, </a:t>
            </a:r>
            <a:r>
              <a:rPr lang="en-US" sz="24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ncol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3) </a:t>
            </a:r>
          </a:p>
        </p:txBody>
      </p:sp>
    </p:spTree>
    <p:extLst>
      <p:ext uri="{BB962C8B-B14F-4D97-AF65-F5344CB8AC3E}">
        <p14:creationId xmlns:p14="http://schemas.microsoft.com/office/powerpoint/2010/main" val="680108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1772497"/>
          </a:xfrm>
        </p:spPr>
        <p:txBody>
          <a:bodyPr/>
          <a:lstStyle/>
          <a:p>
            <a:r>
              <a:rPr lang="en-US" sz="2400" dirty="0"/>
              <a:t>Easier to import</a:t>
            </a:r>
          </a:p>
          <a:p>
            <a:r>
              <a:rPr lang="en-US" sz="2400" dirty="0"/>
              <a:t>Improve reproducibility</a:t>
            </a:r>
          </a:p>
          <a:p>
            <a:r>
              <a:rPr lang="en-US" sz="2400" dirty="0"/>
              <a:t>Improve collaboration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73743" y="4881140"/>
            <a:ext cx="5422392" cy="1772497"/>
          </a:xfrm>
        </p:spPr>
        <p:txBody>
          <a:bodyPr>
            <a:normAutofit/>
          </a:bodyPr>
          <a:lstStyle/>
          <a:p>
            <a:r>
              <a:rPr lang="en-US" sz="2400" dirty="0"/>
              <a:t>Working Directory</a:t>
            </a:r>
          </a:p>
          <a:p>
            <a:pPr lvl="1"/>
            <a:r>
              <a:rPr lang="en-US" sz="2200" dirty="0"/>
              <a:t>R looks here for data files</a:t>
            </a:r>
          </a:p>
          <a:p>
            <a:pPr lvl="1"/>
            <a:r>
              <a:rPr lang="en-US" sz="2200" dirty="0"/>
              <a:t>Projects by definition are the working directory</a:t>
            </a:r>
          </a:p>
        </p:txBody>
      </p:sp>
      <p:pic>
        <p:nvPicPr>
          <p:cNvPr id="6146" name="Picture 2" descr="Image result for impo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3" y="4187177"/>
            <a:ext cx="3892550" cy="215647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 result for reproducibil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650" y="2051790"/>
            <a:ext cx="47625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57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82254"/>
          </a:xfrm>
        </p:spPr>
        <p:txBody>
          <a:bodyPr>
            <a:normAutofit/>
          </a:bodyPr>
          <a:lstStyle/>
          <a:p>
            <a:r>
              <a:rPr lang="en-US" dirty="0"/>
              <a:t>Modify Global Options to prevent issues with R Projects</a:t>
            </a:r>
          </a:p>
          <a:p>
            <a:r>
              <a:rPr lang="en-US" dirty="0"/>
              <a:t>Tools &gt; Global Options    deselect</a:t>
            </a:r>
          </a:p>
          <a:p>
            <a:pPr lvl="2"/>
            <a:r>
              <a:rPr lang="en-US" dirty="0" err="1"/>
              <a:t>RSessions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Restore most recently opened projects at startup</a:t>
            </a:r>
          </a:p>
          <a:p>
            <a:pPr lvl="2"/>
            <a:r>
              <a:rPr lang="en-US" dirty="0" err="1"/>
              <a:t>RSessions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Restore previously open source documents at startup</a:t>
            </a:r>
          </a:p>
          <a:p>
            <a:pPr lvl="2"/>
            <a:r>
              <a:rPr lang="en-US" dirty="0"/>
              <a:t>Workspace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Restore .</a:t>
            </a:r>
            <a:r>
              <a:rPr lang="en-US" dirty="0" err="1"/>
              <a:t>RData</a:t>
            </a:r>
            <a:r>
              <a:rPr lang="en-US" dirty="0"/>
              <a:t> into workspace at startup</a:t>
            </a:r>
          </a:p>
          <a:p>
            <a:pPr lvl="2"/>
            <a:r>
              <a:rPr lang="en-US" dirty="0"/>
              <a:t>History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Always save history</a:t>
            </a:r>
          </a:p>
          <a:p>
            <a:r>
              <a:rPr lang="en-US" dirty="0"/>
              <a:t>Create a project</a:t>
            </a:r>
          </a:p>
          <a:p>
            <a:pPr lvl="1"/>
            <a:r>
              <a:rPr lang="en-US" dirty="0"/>
              <a:t>File &gt; New Project &gt; Empty Project</a:t>
            </a:r>
          </a:p>
          <a:p>
            <a:pPr lvl="1"/>
            <a:r>
              <a:rPr lang="en-US" dirty="0"/>
              <a:t>Create separate folders for </a:t>
            </a:r>
            <a:r>
              <a:rPr lang="en-US" b="1" i="1" dirty="0"/>
              <a:t>data</a:t>
            </a:r>
            <a:r>
              <a:rPr lang="en-US" dirty="0"/>
              <a:t> &amp; </a:t>
            </a:r>
            <a:r>
              <a:rPr lang="en-US" b="1" i="1" dirty="0"/>
              <a:t>images</a:t>
            </a:r>
          </a:p>
        </p:txBody>
      </p:sp>
    </p:spTree>
    <p:extLst>
      <p:ext uri="{BB962C8B-B14F-4D97-AF65-F5344CB8AC3E}">
        <p14:creationId xmlns:p14="http://schemas.microsoft.com/office/powerpoint/2010/main" val="260165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Theme1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Theme1" id="{6F74742C-CA52-48C0-9269-F86BBCC36A7B}" vid="{131DD306-3EC2-4718-82F0-6A5603621A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RTheme1</Template>
  <TotalTime>15981</TotalTime>
  <Words>800</Words>
  <Application>Microsoft Office PowerPoint</Application>
  <PresentationFormat>Widescreen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Consolas</vt:lpstr>
      <vt:lpstr>Gill Sans MT</vt:lpstr>
      <vt:lpstr>Wingdings</vt:lpstr>
      <vt:lpstr>Wingdings 2</vt:lpstr>
      <vt:lpstr>RTheme1</vt:lpstr>
      <vt:lpstr>Math Syntax and R Projects</vt:lpstr>
      <vt:lpstr>Executing R Scripts</vt:lpstr>
      <vt:lpstr>Datatypes</vt:lpstr>
      <vt:lpstr>Operators</vt:lpstr>
      <vt:lpstr>Data Frames</vt:lpstr>
      <vt:lpstr>Data Frames</vt:lpstr>
      <vt:lpstr>R Functions</vt:lpstr>
      <vt:lpstr>Lab 1</vt:lpstr>
      <vt:lpstr>R Projects</vt:lpstr>
      <vt:lpstr>R Projects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Kristin Davidson</dc:creator>
  <cp:lastModifiedBy>Kristin Elizabeth Davidson</cp:lastModifiedBy>
  <cp:revision>64</cp:revision>
  <cp:lastPrinted>2019-08-23T21:10:54Z</cp:lastPrinted>
  <dcterms:created xsi:type="dcterms:W3CDTF">2019-07-25T16:00:23Z</dcterms:created>
  <dcterms:modified xsi:type="dcterms:W3CDTF">2025-09-10T14:41:34Z</dcterms:modified>
</cp:coreProperties>
</file>