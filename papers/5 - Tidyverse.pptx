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60" r:id="rId4"/>
    <p:sldId id="261" r:id="rId5"/>
    <p:sldId id="278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62" r:id="rId15"/>
    <p:sldId id="263" r:id="rId16"/>
    <p:sldId id="264" r:id="rId17"/>
    <p:sldId id="273" r:id="rId18"/>
    <p:sldId id="274" r:id="rId19"/>
    <p:sldId id="275" r:id="rId20"/>
    <p:sldId id="276" r:id="rId21"/>
  </p:sldIdLst>
  <p:sldSz cx="12192000" cy="6858000"/>
  <p:notesSz cx="68580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6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nn-NO"/>
              <a:t>Unit 5:  R Programming - Tidyverse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F4219-A198-478A-BB08-03B48E69A148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FB391-2DC0-4EDB-9DD0-CFA9CB77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27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nn-NO"/>
              <a:t>Unit 5:  R Programming - Tidyverse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6C285-284A-4F30-A255-851BACD3E0C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D5CC5-A5CD-450C-BC22-4902A3BD1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8202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7/30/2021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1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0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1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0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49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41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3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7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7/30/2021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037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594442.youcanlearnit.ne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in the </a:t>
            </a:r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444</a:t>
            </a:r>
          </a:p>
        </p:txBody>
      </p:sp>
    </p:spTree>
    <p:extLst>
      <p:ext uri="{BB962C8B-B14F-4D97-AF65-F5344CB8AC3E}">
        <p14:creationId xmlns:p14="http://schemas.microsoft.com/office/powerpoint/2010/main" val="77154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76" y="2286004"/>
            <a:ext cx="3463270" cy="3678303"/>
          </a:xfrm>
        </p:spPr>
        <p:txBody>
          <a:bodyPr/>
          <a:lstStyle/>
          <a:p>
            <a:r>
              <a:rPr lang="en-US" dirty="0"/>
              <a:t>Collection of R packages structuring data to facilitate analysis (Ecosystem to manipulate data with a variety of </a:t>
            </a:r>
            <a:r>
              <a:rPr lang="en-US"/>
              <a:t>different verbs)</a:t>
            </a:r>
            <a:endParaRPr lang="en-US" dirty="0"/>
          </a:p>
        </p:txBody>
      </p:sp>
      <p:pic>
        <p:nvPicPr>
          <p:cNvPr id="2057" name="Picture 9" descr="Image result for tidyver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400" y="2095957"/>
            <a:ext cx="7587915" cy="38683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409478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3885300" cy="3678303"/>
          </a:xfrm>
        </p:spPr>
        <p:txBody>
          <a:bodyPr/>
          <a:lstStyle/>
          <a:p>
            <a:r>
              <a:rPr lang="en-US" dirty="0"/>
              <a:t>Data Science</a:t>
            </a:r>
          </a:p>
          <a:p>
            <a:r>
              <a:rPr lang="en-US" dirty="0"/>
              <a:t>Data Visualization</a:t>
            </a:r>
          </a:p>
          <a:p>
            <a:r>
              <a:rPr lang="en-US" dirty="0"/>
              <a:t>Machine Learning</a:t>
            </a:r>
          </a:p>
        </p:txBody>
      </p:sp>
      <p:pic>
        <p:nvPicPr>
          <p:cNvPr id="4" name="Picture 2" descr="Data/Science Pipe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6493" y="2727997"/>
            <a:ext cx="7441320" cy="292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3904342" y="2307771"/>
            <a:ext cx="1901371" cy="4202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53942" y="2307771"/>
            <a:ext cx="1590172" cy="4202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1371" y="2307771"/>
            <a:ext cx="2089437" cy="4202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Conclusions</a:t>
            </a:r>
          </a:p>
        </p:txBody>
      </p:sp>
    </p:spTree>
    <p:extLst>
      <p:ext uri="{BB962C8B-B14F-4D97-AF65-F5344CB8AC3E}">
        <p14:creationId xmlns:p14="http://schemas.microsoft.com/office/powerpoint/2010/main" val="201798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690654" cy="3678303"/>
          </a:xfrm>
        </p:spPr>
        <p:txBody>
          <a:bodyPr/>
          <a:lstStyle/>
          <a:p>
            <a:r>
              <a:rPr lang="en-US" dirty="0"/>
              <a:t>Hadley Wickham developed in 2014</a:t>
            </a:r>
            <a:br>
              <a:rPr lang="en-US" dirty="0"/>
            </a:br>
            <a:endParaRPr lang="en-US" dirty="0"/>
          </a:p>
          <a:p>
            <a:pPr>
              <a:buFontTx/>
              <a:buChar char=" "/>
            </a:pPr>
            <a:r>
              <a:rPr lang="en-US" dirty="0"/>
              <a:t>Happy families are all alike</a:t>
            </a:r>
          </a:p>
          <a:p>
            <a:pPr>
              <a:buFontTx/>
              <a:buChar char=" "/>
            </a:pPr>
            <a:r>
              <a:rPr lang="en-US" dirty="0"/>
              <a:t>Every unhappy family is unhappy in its own way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9942" y="4045527"/>
            <a:ext cx="2100349" cy="2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89760" y="4662054"/>
            <a:ext cx="2065713" cy="207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331464" y="4672445"/>
            <a:ext cx="1265772" cy="207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19" y="3451168"/>
            <a:ext cx="1983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Tidy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5119" y="4116736"/>
            <a:ext cx="2349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messy data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1464" y="4067695"/>
            <a:ext cx="1051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messy</a:t>
            </a:r>
          </a:p>
        </p:txBody>
      </p:sp>
      <p:pic>
        <p:nvPicPr>
          <p:cNvPr id="1026" name="Picture 2" descr="Image result for tolsto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98069" y="2338048"/>
            <a:ext cx="5069385" cy="40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hadley wickh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011" y="1974910"/>
            <a:ext cx="4381500" cy="438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901006" y="5055238"/>
            <a:ext cx="1051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Tolstoy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1647" y="5065629"/>
            <a:ext cx="1429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Wickham</a:t>
            </a:r>
          </a:p>
        </p:txBody>
      </p:sp>
    </p:spTree>
    <p:extLst>
      <p:ext uri="{BB962C8B-B14F-4D97-AF65-F5344CB8AC3E}">
        <p14:creationId xmlns:p14="http://schemas.microsoft.com/office/powerpoint/2010/main" val="23790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6" cy="2804459"/>
          </a:xfrm>
        </p:spPr>
        <p:txBody>
          <a:bodyPr/>
          <a:lstStyle/>
          <a:p>
            <a:r>
              <a:rPr lang="en-US" dirty="0"/>
              <a:t>Taking messy data and manipulating it into a format suited for analysis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Data Preparation</a:t>
            </a:r>
          </a:p>
        </p:txBody>
      </p:sp>
      <p:pic>
        <p:nvPicPr>
          <p:cNvPr id="1026" name="Picture 2" descr="Image result for data wrang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786" y="3577328"/>
            <a:ext cx="5481713" cy="266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84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0618" y="2524089"/>
            <a:ext cx="8019710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Common Data Problems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dirty="0"/>
              <a:t>Column headers contain </a:t>
            </a:r>
            <a:r>
              <a:rPr lang="en-US" u="sng" dirty="0">
                <a:solidFill>
                  <a:srgbClr val="C00000"/>
                </a:solidFill>
              </a:rPr>
              <a:t>values</a:t>
            </a:r>
            <a:r>
              <a:rPr lang="en-US" dirty="0"/>
              <a:t>, not variable names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u="sng" dirty="0">
                <a:solidFill>
                  <a:srgbClr val="C00000"/>
                </a:solidFill>
              </a:rPr>
              <a:t>Multiple variables </a:t>
            </a:r>
            <a:r>
              <a:rPr lang="en-US" dirty="0"/>
              <a:t>are stored in a single column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dirty="0"/>
              <a:t>Variables stored in </a:t>
            </a:r>
            <a:r>
              <a:rPr lang="en-US" u="sng" dirty="0">
                <a:solidFill>
                  <a:srgbClr val="C00000"/>
                </a:solidFill>
              </a:rPr>
              <a:t>BOTH</a:t>
            </a:r>
            <a:r>
              <a:rPr lang="en-US" dirty="0"/>
              <a:t> rows and columns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u="sng" dirty="0">
                <a:solidFill>
                  <a:srgbClr val="C00000"/>
                </a:solidFill>
              </a:rPr>
              <a:t>Multiple types </a:t>
            </a:r>
            <a:r>
              <a:rPr lang="en-US" dirty="0"/>
              <a:t>of observational units are in the same table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dirty="0"/>
              <a:t>A single observational unit is spread across </a:t>
            </a:r>
            <a:r>
              <a:rPr lang="en-US" u="sng" dirty="0">
                <a:solidFill>
                  <a:srgbClr val="C00000"/>
                </a:solidFill>
              </a:rPr>
              <a:t>multiple tables</a:t>
            </a:r>
          </a:p>
        </p:txBody>
      </p:sp>
      <p:pic>
        <p:nvPicPr>
          <p:cNvPr id="7170" name="Picture 2" descr="Image result for messy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58" y="3314007"/>
            <a:ext cx="29622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55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Messy Data – Individual Incomes of people who affiliate with a Religion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74413"/>
            <a:ext cx="5065921" cy="2429799"/>
          </a:xfrm>
        </p:spPr>
        <p:txBody>
          <a:bodyPr/>
          <a:lstStyle/>
          <a:p>
            <a:r>
              <a:rPr lang="en-US" dirty="0"/>
              <a:t>Column headers contain values</a:t>
            </a:r>
          </a:p>
          <a:p>
            <a:pPr lvl="1"/>
            <a:r>
              <a:rPr lang="en-US" dirty="0"/>
              <a:t>Income is in the header</a:t>
            </a:r>
          </a:p>
          <a:p>
            <a:r>
              <a:rPr lang="en-US" dirty="0"/>
              <a:t>Transform</a:t>
            </a:r>
          </a:p>
          <a:p>
            <a:pPr lvl="1"/>
            <a:endParaRPr lang="en-US" dirty="0"/>
          </a:p>
        </p:txBody>
      </p:sp>
      <p:pic>
        <p:nvPicPr>
          <p:cNvPr id="8194" name="Picture 2" descr="Income by religious tradi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783" y="1886108"/>
            <a:ext cx="4398642" cy="475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48504"/>
              </p:ext>
            </p:extLst>
          </p:nvPr>
        </p:nvGraphicFramePr>
        <p:xfrm>
          <a:off x="691110" y="3961629"/>
          <a:ext cx="5138997" cy="2732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999">
                  <a:extLst>
                    <a:ext uri="{9D8B030D-6E8A-4147-A177-3AD203B41FA5}">
                      <a16:colId xmlns:a16="http://schemas.microsoft.com/office/drawing/2014/main" val="3486460763"/>
                    </a:ext>
                  </a:extLst>
                </a:gridCol>
                <a:gridCol w="1994049">
                  <a:extLst>
                    <a:ext uri="{9D8B030D-6E8A-4147-A177-3AD203B41FA5}">
                      <a16:colId xmlns:a16="http://schemas.microsoft.com/office/drawing/2014/main" val="2949208171"/>
                    </a:ext>
                  </a:extLst>
                </a:gridCol>
                <a:gridCol w="1431949">
                  <a:extLst>
                    <a:ext uri="{9D8B030D-6E8A-4147-A177-3AD203B41FA5}">
                      <a16:colId xmlns:a16="http://schemas.microsoft.com/office/drawing/2014/main" val="3533364104"/>
                    </a:ext>
                  </a:extLst>
                </a:gridCol>
              </a:tblGrid>
              <a:tr h="438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Religion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073361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Hindu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$0 - $29999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411934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Hindu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$30000 - $49999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613312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Hindu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$50000 - $74999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558576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Hindu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$75000 – 99999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113419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Hindu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873399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 so on…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87768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949895" y="1777004"/>
            <a:ext cx="5800206" cy="80698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9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 – Cases of Tuberculosis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82322"/>
            <a:ext cx="7224338" cy="1086165"/>
          </a:xfrm>
        </p:spPr>
        <p:txBody>
          <a:bodyPr/>
          <a:lstStyle/>
          <a:p>
            <a:r>
              <a:rPr lang="en-US" dirty="0"/>
              <a:t>Multiple values stored in a single column</a:t>
            </a:r>
          </a:p>
          <a:p>
            <a:pPr lvl="1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Male</a:t>
            </a:r>
            <a:r>
              <a:rPr lang="en-US" b="1" i="1" dirty="0"/>
              <a:t>/</a:t>
            </a:r>
            <a:r>
              <a:rPr lang="en-US" b="1" i="1" dirty="0">
                <a:solidFill>
                  <a:srgbClr val="C00000"/>
                </a:solidFill>
              </a:rPr>
              <a:t>Female</a:t>
            </a:r>
            <a:r>
              <a:rPr lang="en-US" b="1" i="1" dirty="0"/>
              <a:t> </a:t>
            </a:r>
            <a:r>
              <a:rPr lang="en-US" dirty="0"/>
              <a:t>&amp;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range of age</a:t>
            </a:r>
            <a:r>
              <a:rPr lang="en-US" b="1" i="1" dirty="0"/>
              <a:t> </a:t>
            </a:r>
            <a:r>
              <a:rPr lang="en-US" dirty="0"/>
              <a:t>in one column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73547"/>
              </p:ext>
            </p:extLst>
          </p:nvPr>
        </p:nvGraphicFramePr>
        <p:xfrm>
          <a:off x="949181" y="3830630"/>
          <a:ext cx="9064830" cy="281874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06483">
                  <a:extLst>
                    <a:ext uri="{9D8B030D-6E8A-4147-A177-3AD203B41FA5}">
                      <a16:colId xmlns:a16="http://schemas.microsoft.com/office/drawing/2014/main" val="1190331154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1359562939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1650367929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3042132458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1168393322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4017326202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1893942878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2232978955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3193935"/>
                    </a:ext>
                  </a:extLst>
                </a:gridCol>
                <a:gridCol w="906483">
                  <a:extLst>
                    <a:ext uri="{9D8B030D-6E8A-4147-A177-3AD203B41FA5}">
                      <a16:colId xmlns:a16="http://schemas.microsoft.com/office/drawing/2014/main" val="1868353804"/>
                    </a:ext>
                  </a:extLst>
                </a:gridCol>
              </a:tblGrid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m014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m1524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m2534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m3544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f014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f1524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f2534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f3544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1979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51110240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05438028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228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149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414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339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3344021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01613532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84036585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86788466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766605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3081130" y="2968487"/>
            <a:ext cx="1391479" cy="79513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065973" y="3134853"/>
            <a:ext cx="406635" cy="66226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744278" y="3134853"/>
            <a:ext cx="218660" cy="66226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962939" y="3134853"/>
            <a:ext cx="788247" cy="66226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47534" y="2968487"/>
            <a:ext cx="244266" cy="795129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515475" y="2968487"/>
            <a:ext cx="954905" cy="828635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17344" y="2968487"/>
            <a:ext cx="1649381" cy="828635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980051" y="2934978"/>
            <a:ext cx="2350380" cy="828638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715923" y="1854652"/>
            <a:ext cx="3158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http://594442.youcanlearnit.net/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 – Cases of Tuberculosis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024109"/>
            <a:ext cx="5422390" cy="1695635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Transform</a:t>
            </a:r>
          </a:p>
          <a:p>
            <a:pPr lvl="1"/>
            <a:r>
              <a:rPr lang="en-US" sz="2400" dirty="0"/>
              <a:t>Create a group &amp; count column instead</a:t>
            </a:r>
          </a:p>
          <a:p>
            <a:pPr lvl="1"/>
            <a:r>
              <a:rPr lang="en-US" sz="2400" dirty="0"/>
              <a:t>What’s the new issue?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2148104"/>
            <a:ext cx="5876336" cy="1101123"/>
          </a:xfrm>
        </p:spPr>
        <p:txBody>
          <a:bodyPr>
            <a:noAutofit/>
          </a:bodyPr>
          <a:lstStyle/>
          <a:p>
            <a:r>
              <a:rPr lang="en-US" sz="2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 </a:t>
            </a:r>
            <a:r>
              <a:rPr lang="en-US" sz="2600" dirty="0"/>
              <a:t>has TWO values – gender &amp; age</a:t>
            </a:r>
          </a:p>
          <a:p>
            <a:r>
              <a:rPr lang="en-US" sz="2600" dirty="0"/>
              <a:t>Transform again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493688"/>
              </p:ext>
            </p:extLst>
          </p:nvPr>
        </p:nvGraphicFramePr>
        <p:xfrm>
          <a:off x="1242148" y="3719744"/>
          <a:ext cx="3631692" cy="290751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07923">
                  <a:extLst>
                    <a:ext uri="{9D8B030D-6E8A-4147-A177-3AD203B41FA5}">
                      <a16:colId xmlns:a16="http://schemas.microsoft.com/office/drawing/2014/main" val="1190331154"/>
                    </a:ext>
                  </a:extLst>
                </a:gridCol>
                <a:gridCol w="907923">
                  <a:extLst>
                    <a:ext uri="{9D8B030D-6E8A-4147-A177-3AD203B41FA5}">
                      <a16:colId xmlns:a16="http://schemas.microsoft.com/office/drawing/2014/main" val="1359562939"/>
                    </a:ext>
                  </a:extLst>
                </a:gridCol>
                <a:gridCol w="907923">
                  <a:extLst>
                    <a:ext uri="{9D8B030D-6E8A-4147-A177-3AD203B41FA5}">
                      <a16:colId xmlns:a16="http://schemas.microsoft.com/office/drawing/2014/main" val="1650367929"/>
                    </a:ext>
                  </a:extLst>
                </a:gridCol>
                <a:gridCol w="907923">
                  <a:extLst>
                    <a:ext uri="{9D8B030D-6E8A-4147-A177-3AD203B41FA5}">
                      <a16:colId xmlns:a16="http://schemas.microsoft.com/office/drawing/2014/main" val="3042132458"/>
                    </a:ext>
                  </a:extLst>
                </a:gridCol>
              </a:tblGrid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1979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m014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51110240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m1524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05438028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m2534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3344021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m3544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01613532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f014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84036585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f1524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86788466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f2534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7666052"/>
                  </a:ext>
                </a:extLst>
              </a:tr>
              <a:tr h="3230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f3544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0359027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123558"/>
              </p:ext>
            </p:extLst>
          </p:nvPr>
        </p:nvGraphicFramePr>
        <p:xfrm>
          <a:off x="6383798" y="3719744"/>
          <a:ext cx="4420325" cy="2913227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4065">
                  <a:extLst>
                    <a:ext uri="{9D8B030D-6E8A-4147-A177-3AD203B41FA5}">
                      <a16:colId xmlns:a16="http://schemas.microsoft.com/office/drawing/2014/main" val="1190331154"/>
                    </a:ext>
                  </a:extLst>
                </a:gridCol>
                <a:gridCol w="884065">
                  <a:extLst>
                    <a:ext uri="{9D8B030D-6E8A-4147-A177-3AD203B41FA5}">
                      <a16:colId xmlns:a16="http://schemas.microsoft.com/office/drawing/2014/main" val="1359562939"/>
                    </a:ext>
                  </a:extLst>
                </a:gridCol>
                <a:gridCol w="884065">
                  <a:extLst>
                    <a:ext uri="{9D8B030D-6E8A-4147-A177-3AD203B41FA5}">
                      <a16:colId xmlns:a16="http://schemas.microsoft.com/office/drawing/2014/main" val="1650367929"/>
                    </a:ext>
                  </a:extLst>
                </a:gridCol>
                <a:gridCol w="884065">
                  <a:extLst>
                    <a:ext uri="{9D8B030D-6E8A-4147-A177-3AD203B41FA5}">
                      <a16:colId xmlns:a16="http://schemas.microsoft.com/office/drawing/2014/main" val="2597512897"/>
                    </a:ext>
                  </a:extLst>
                </a:gridCol>
                <a:gridCol w="884065">
                  <a:extLst>
                    <a:ext uri="{9D8B030D-6E8A-4147-A177-3AD203B41FA5}">
                      <a16:colId xmlns:a16="http://schemas.microsoft.com/office/drawing/2014/main" val="3042132458"/>
                    </a:ext>
                  </a:extLst>
                </a:gridCol>
              </a:tblGrid>
              <a:tr h="301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1979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51110240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05438028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3344021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01613532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84036585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86788466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7666052"/>
                  </a:ext>
                </a:extLst>
              </a:tr>
              <a:tr h="32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03590273"/>
                  </a:ext>
                </a:extLst>
              </a:tr>
            </a:tbl>
          </a:graphicData>
        </a:graphic>
      </p:graphicFrame>
      <p:sp>
        <p:nvSpPr>
          <p:cNvPr id="15" name="Oval 14"/>
          <p:cNvSpPr/>
          <p:nvPr/>
        </p:nvSpPr>
        <p:spPr>
          <a:xfrm>
            <a:off x="2855843" y="3719744"/>
            <a:ext cx="1219200" cy="81912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818676" y="2643809"/>
            <a:ext cx="2845862" cy="108793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56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 – Weather Data from Mexican Weather 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640" y="1807635"/>
            <a:ext cx="9619250" cy="891178"/>
          </a:xfrm>
        </p:spPr>
        <p:txBody>
          <a:bodyPr>
            <a:normAutofit/>
          </a:bodyPr>
          <a:lstStyle/>
          <a:p>
            <a:r>
              <a:rPr lang="en-US" dirty="0"/>
              <a:t>Variables in BOTH rows &amp; columns – </a:t>
            </a:r>
            <a:r>
              <a:rPr lang="en-US" dirty="0">
                <a:solidFill>
                  <a:schemeClr val="accent2"/>
                </a:solidFill>
              </a:rPr>
              <a:t>month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day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year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289279"/>
              </p:ext>
            </p:extLst>
          </p:nvPr>
        </p:nvGraphicFramePr>
        <p:xfrm>
          <a:off x="0" y="2626086"/>
          <a:ext cx="11791737" cy="4013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658">
                  <a:extLst>
                    <a:ext uri="{9D8B030D-6E8A-4147-A177-3AD203B41FA5}">
                      <a16:colId xmlns:a16="http://schemas.microsoft.com/office/drawing/2014/main" val="1916164643"/>
                    </a:ext>
                  </a:extLst>
                </a:gridCol>
                <a:gridCol w="853728">
                  <a:extLst>
                    <a:ext uri="{9D8B030D-6E8A-4147-A177-3AD203B41FA5}">
                      <a16:colId xmlns:a16="http://schemas.microsoft.com/office/drawing/2014/main" val="3410609530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2056626572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012787841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2814362271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1383225269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4281602140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2195788129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1325390559"/>
                    </a:ext>
                  </a:extLst>
                </a:gridCol>
              </a:tblGrid>
              <a:tr h="1496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month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element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d2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d3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d5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355425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TMAX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4015936038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3454052982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PRCP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2906555320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TMAX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51271295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3864168624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PRCP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856549479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TMAX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3540437006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2100660122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PRCP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4051860027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TMAX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3277851453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168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1621555617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PRCP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100035555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 flipH="1">
            <a:off x="2938509" y="2485748"/>
            <a:ext cx="674704" cy="3639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48901" y="2912680"/>
            <a:ext cx="1846557" cy="1029005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932218" y="2430802"/>
            <a:ext cx="692727" cy="231648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38604" y="2395435"/>
            <a:ext cx="776418" cy="7901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03290" y="2379216"/>
            <a:ext cx="653424" cy="7901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091673" y="2379216"/>
            <a:ext cx="776418" cy="7901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398337" y="2379215"/>
            <a:ext cx="776418" cy="7901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0824595" y="2395434"/>
            <a:ext cx="776418" cy="7901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7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 – Weather Data from Mexican Weather Stations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29526"/>
              </p:ext>
            </p:extLst>
          </p:nvPr>
        </p:nvGraphicFramePr>
        <p:xfrm>
          <a:off x="581948" y="3477364"/>
          <a:ext cx="11028860" cy="18524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4252">
                  <a:extLst>
                    <a:ext uri="{9D8B030D-6E8A-4147-A177-3AD203B41FA5}">
                      <a16:colId xmlns:a16="http://schemas.microsoft.com/office/drawing/2014/main" val="1916164643"/>
                    </a:ext>
                  </a:extLst>
                </a:gridCol>
                <a:gridCol w="1727037">
                  <a:extLst>
                    <a:ext uri="{9D8B030D-6E8A-4147-A177-3AD203B41FA5}">
                      <a16:colId xmlns:a16="http://schemas.microsoft.com/office/drawing/2014/main" val="3410609530"/>
                    </a:ext>
                  </a:extLst>
                </a:gridCol>
                <a:gridCol w="1916027">
                  <a:extLst>
                    <a:ext uri="{9D8B030D-6E8A-4147-A177-3AD203B41FA5}">
                      <a16:colId xmlns:a16="http://schemas.microsoft.com/office/drawing/2014/main" val="2056626572"/>
                    </a:ext>
                  </a:extLst>
                </a:gridCol>
                <a:gridCol w="2205772">
                  <a:extLst>
                    <a:ext uri="{9D8B030D-6E8A-4147-A177-3AD203B41FA5}">
                      <a16:colId xmlns:a16="http://schemas.microsoft.com/office/drawing/2014/main" val="3012787841"/>
                    </a:ext>
                  </a:extLst>
                </a:gridCol>
                <a:gridCol w="2205772">
                  <a:extLst>
                    <a:ext uri="{9D8B030D-6E8A-4147-A177-3AD203B41FA5}">
                      <a16:colId xmlns:a16="http://schemas.microsoft.com/office/drawing/2014/main" val="2814362271"/>
                    </a:ext>
                  </a:extLst>
                </a:gridCol>
              </a:tblGrid>
              <a:tr h="1496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date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TMAX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TMIN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PRCP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355425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1/1/2011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.9999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           .</a:t>
                      </a:r>
                      <a:r>
                        <a:rPr lang="en-US" sz="2000" u="none" strike="noStrike" dirty="0">
                          <a:effectLst/>
                        </a:rPr>
                        <a:t>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4015936038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1/2/2011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3454052982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1/3/2011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2906555320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1/4/2011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51271295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1/5/2011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3864168624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403640" y="1807634"/>
            <a:ext cx="9619250" cy="121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Transform</a:t>
            </a:r>
          </a:p>
          <a:p>
            <a:pPr lvl="1"/>
            <a:r>
              <a:rPr lang="en-US" dirty="0"/>
              <a:t>Combine date into 1 column</a:t>
            </a:r>
          </a:p>
          <a:p>
            <a:pPr lvl="1"/>
            <a:r>
              <a:rPr lang="en-US" dirty="0"/>
              <a:t>TMAX, TMIN, PRCP become own column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299253" y="2650435"/>
            <a:ext cx="1457738" cy="70236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2"/>
          </p:cNvCxnSpPr>
          <p:nvPr/>
        </p:nvCxnSpPr>
        <p:spPr>
          <a:xfrm>
            <a:off x="5213265" y="3018407"/>
            <a:ext cx="1107636" cy="334393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450889" y="2912603"/>
            <a:ext cx="2095130" cy="440197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832629" y="2820925"/>
            <a:ext cx="4554245" cy="531875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B0C78A2-A307-46B2-90AA-5EBB20A41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8921163"/>
              </p:ext>
            </p:extLst>
          </p:nvPr>
        </p:nvGraphicFramePr>
        <p:xfrm>
          <a:off x="581192" y="5578134"/>
          <a:ext cx="11028859" cy="9262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0119">
                  <a:extLst>
                    <a:ext uri="{9D8B030D-6E8A-4147-A177-3AD203B41FA5}">
                      <a16:colId xmlns:a16="http://schemas.microsoft.com/office/drawing/2014/main" val="1916164643"/>
                    </a:ext>
                  </a:extLst>
                </a:gridCol>
                <a:gridCol w="1392964">
                  <a:extLst>
                    <a:ext uri="{9D8B030D-6E8A-4147-A177-3AD203B41FA5}">
                      <a16:colId xmlns:a16="http://schemas.microsoft.com/office/drawing/2014/main" val="3410609530"/>
                    </a:ext>
                  </a:extLst>
                </a:gridCol>
                <a:gridCol w="991312">
                  <a:extLst>
                    <a:ext uri="{9D8B030D-6E8A-4147-A177-3AD203B41FA5}">
                      <a16:colId xmlns:a16="http://schemas.microsoft.com/office/drawing/2014/main" val="2577610663"/>
                    </a:ext>
                  </a:extLst>
                </a:gridCol>
                <a:gridCol w="725972">
                  <a:extLst>
                    <a:ext uri="{9D8B030D-6E8A-4147-A177-3AD203B41FA5}">
                      <a16:colId xmlns:a16="http://schemas.microsoft.com/office/drawing/2014/main" val="3829226379"/>
                    </a:ext>
                  </a:extLst>
                </a:gridCol>
                <a:gridCol w="1459069">
                  <a:extLst>
                    <a:ext uri="{9D8B030D-6E8A-4147-A177-3AD203B41FA5}">
                      <a16:colId xmlns:a16="http://schemas.microsoft.com/office/drawing/2014/main" val="2056626572"/>
                    </a:ext>
                  </a:extLst>
                </a:gridCol>
                <a:gridCol w="2247946">
                  <a:extLst>
                    <a:ext uri="{9D8B030D-6E8A-4147-A177-3AD203B41FA5}">
                      <a16:colId xmlns:a16="http://schemas.microsoft.com/office/drawing/2014/main" val="3012787841"/>
                    </a:ext>
                  </a:extLst>
                </a:gridCol>
                <a:gridCol w="1111477">
                  <a:extLst>
                    <a:ext uri="{9D8B030D-6E8A-4147-A177-3AD203B41FA5}">
                      <a16:colId xmlns:a16="http://schemas.microsoft.com/office/drawing/2014/main" val="2814362271"/>
                    </a:ext>
                  </a:extLst>
                </a:gridCol>
              </a:tblGrid>
              <a:tr h="1496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Month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Day</a:t>
                      </a: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TMAX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TMIN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PRCP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355425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MX000017004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.9999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           .</a:t>
                      </a:r>
                      <a:r>
                        <a:rPr lang="en-US" sz="2000" u="none" strike="noStrike" dirty="0">
                          <a:effectLst/>
                        </a:rPr>
                        <a:t>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4015936038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.9999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631" marR="6631" marT="3939" marB="0" anchor="b"/>
                </a:tc>
                <a:extLst>
                  <a:ext uri="{0D108BD9-81ED-4DB2-BD59-A6C34878D82A}">
                    <a16:rowId xmlns:a16="http://schemas.microsoft.com/office/drawing/2014/main" val="3454052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44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4166"/>
            <a:ext cx="11029615" cy="9799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Multiple types of observational units in same table</a:t>
            </a:r>
          </a:p>
          <a:p>
            <a:pPr lvl="1"/>
            <a:r>
              <a:rPr lang="en-US" dirty="0"/>
              <a:t>Combining </a:t>
            </a:r>
            <a:r>
              <a:rPr lang="en-US" dirty="0">
                <a:solidFill>
                  <a:schemeClr val="accent2"/>
                </a:solidFill>
              </a:rPr>
              <a:t>weather station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TB</a:t>
            </a:r>
            <a:r>
              <a:rPr lang="en-US" dirty="0"/>
              <a:t> data into ONE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341575"/>
              </p:ext>
            </p:extLst>
          </p:nvPr>
        </p:nvGraphicFramePr>
        <p:xfrm>
          <a:off x="163939" y="3040517"/>
          <a:ext cx="11794287" cy="308507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782871">
                  <a:extLst>
                    <a:ext uri="{9D8B030D-6E8A-4147-A177-3AD203B41FA5}">
                      <a16:colId xmlns:a16="http://schemas.microsoft.com/office/drawing/2014/main" val="1190331154"/>
                    </a:ext>
                  </a:extLst>
                </a:gridCol>
                <a:gridCol w="458632">
                  <a:extLst>
                    <a:ext uri="{9D8B030D-6E8A-4147-A177-3AD203B41FA5}">
                      <a16:colId xmlns:a16="http://schemas.microsoft.com/office/drawing/2014/main" val="1359562939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1650367929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3042132458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1168393322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4017326202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1893942878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2232978955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3193935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1868353804"/>
                    </a:ext>
                  </a:extLst>
                </a:gridCol>
                <a:gridCol w="757311">
                  <a:extLst>
                    <a:ext uri="{9D8B030D-6E8A-4147-A177-3AD203B41FA5}">
                      <a16:colId xmlns:a16="http://schemas.microsoft.com/office/drawing/2014/main" val="3553558571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1853011366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3716110233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2951703483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4183730244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981521573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4180788117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2320953397"/>
                    </a:ext>
                  </a:extLst>
                </a:gridCol>
                <a:gridCol w="620752">
                  <a:extLst>
                    <a:ext uri="{9D8B030D-6E8A-4147-A177-3AD203B41FA5}">
                      <a16:colId xmlns:a16="http://schemas.microsoft.com/office/drawing/2014/main" val="319835058"/>
                    </a:ext>
                  </a:extLst>
                </a:gridCol>
              </a:tblGrid>
              <a:tr h="5627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country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year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m014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m1524</a:t>
                      </a:r>
                      <a:endParaRPr lang="en-US" sz="17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m2534</a:t>
                      </a:r>
                      <a:endParaRPr lang="en-US" sz="17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m3544</a:t>
                      </a:r>
                      <a:endParaRPr lang="en-US" sz="17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f014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f1524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f2534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f3544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station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year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month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solidFill>
                            <a:srgbClr val="C00000"/>
                          </a:solidFill>
                          <a:effectLst/>
                        </a:rPr>
                        <a:t>ele</a:t>
                      </a:r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b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</a:br>
                      <a:r>
                        <a:rPr lang="en-US" sz="1800" u="none" strike="noStrike" dirty="0" err="1">
                          <a:solidFill>
                            <a:srgbClr val="C00000"/>
                          </a:solidFill>
                          <a:effectLst/>
                        </a:rPr>
                        <a:t>ment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d1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d2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d3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d4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d5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1979"/>
                  </a:ext>
                </a:extLst>
              </a:tr>
              <a:tr h="8407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AD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2000</a:t>
                      </a:r>
                      <a:endParaRPr lang="en-U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NA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NA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NA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NA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MX000017004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2011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TMAX</a:t>
                      </a:r>
                      <a:endParaRPr lang="en-US" sz="17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3451110240"/>
                  </a:ext>
                </a:extLst>
              </a:tr>
              <a:tr h="8407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AE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2000</a:t>
                      </a:r>
                      <a:endParaRPr lang="en-U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16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MX000017004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TMIN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2605438028"/>
                  </a:ext>
                </a:extLst>
              </a:tr>
              <a:tr h="8407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chemeClr val="accent2"/>
                          </a:solidFill>
                          <a:effectLst/>
                        </a:rPr>
                        <a:t>AF</a:t>
                      </a:r>
                      <a:endParaRPr lang="en-US" sz="1800" b="0" i="0" u="none" strike="noStrike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2000</a:t>
                      </a:r>
                      <a:endParaRPr lang="en-US" sz="16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52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228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183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149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93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414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565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339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MX000017004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PRCP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-9999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303344021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6299030" y="2833992"/>
            <a:ext cx="5800206" cy="349812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3940" y="2894120"/>
            <a:ext cx="6077834" cy="343799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1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042097"/>
          </a:xfrm>
        </p:spPr>
        <p:txBody>
          <a:bodyPr>
            <a:normAutofit/>
          </a:bodyPr>
          <a:lstStyle/>
          <a:p>
            <a:r>
              <a:rPr lang="en-US" dirty="0"/>
              <a:t>Single observational unit is spread across multiple tables</a:t>
            </a:r>
          </a:p>
          <a:p>
            <a:pPr lvl="1"/>
            <a:r>
              <a:rPr lang="en-US" dirty="0"/>
              <a:t>Each month of weather data in its own data frame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91882"/>
              </p:ext>
            </p:extLst>
          </p:nvPr>
        </p:nvGraphicFramePr>
        <p:xfrm>
          <a:off x="200130" y="3437746"/>
          <a:ext cx="11791737" cy="1234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658">
                  <a:extLst>
                    <a:ext uri="{9D8B030D-6E8A-4147-A177-3AD203B41FA5}">
                      <a16:colId xmlns:a16="http://schemas.microsoft.com/office/drawing/2014/main" val="2378599374"/>
                    </a:ext>
                  </a:extLst>
                </a:gridCol>
                <a:gridCol w="853728">
                  <a:extLst>
                    <a:ext uri="{9D8B030D-6E8A-4147-A177-3AD203B41FA5}">
                      <a16:colId xmlns:a16="http://schemas.microsoft.com/office/drawing/2014/main" val="1740310827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288067625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504476741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1957619751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461542489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594325880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2348476039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270486188"/>
                    </a:ext>
                  </a:extLst>
                </a:gridCol>
              </a:tblGrid>
              <a:tr h="1496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month</a:t>
                      </a:r>
                      <a:endParaRPr lang="en-US" sz="20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element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d2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d3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d5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70492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TMAX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4260159252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-9999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2263342384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PRCP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410029426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517466"/>
              </p:ext>
            </p:extLst>
          </p:nvPr>
        </p:nvGraphicFramePr>
        <p:xfrm>
          <a:off x="200130" y="5220456"/>
          <a:ext cx="11791737" cy="1234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658">
                  <a:extLst>
                    <a:ext uri="{9D8B030D-6E8A-4147-A177-3AD203B41FA5}">
                      <a16:colId xmlns:a16="http://schemas.microsoft.com/office/drawing/2014/main" val="2378599374"/>
                    </a:ext>
                  </a:extLst>
                </a:gridCol>
                <a:gridCol w="853728">
                  <a:extLst>
                    <a:ext uri="{9D8B030D-6E8A-4147-A177-3AD203B41FA5}">
                      <a16:colId xmlns:a16="http://schemas.microsoft.com/office/drawing/2014/main" val="1740310827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288067625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504476741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1957619751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461542489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594325880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2348476039"/>
                    </a:ext>
                  </a:extLst>
                </a:gridCol>
                <a:gridCol w="1310193">
                  <a:extLst>
                    <a:ext uri="{9D8B030D-6E8A-4147-A177-3AD203B41FA5}">
                      <a16:colId xmlns:a16="http://schemas.microsoft.com/office/drawing/2014/main" val="3270486188"/>
                    </a:ext>
                  </a:extLst>
                </a:gridCol>
              </a:tblGrid>
              <a:tr h="1496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month</a:t>
                      </a:r>
                      <a:endParaRPr lang="en-US" sz="20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element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d2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d3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d4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d5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70492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TMAX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1712867997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-9999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4207666061"/>
                  </a:ext>
                </a:extLst>
              </a:tr>
              <a:tr h="2812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MX000017004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PRCP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39" marR="3939" marT="3939" marB="0" anchor="b"/>
                </a:tc>
                <a:extLst>
                  <a:ext uri="{0D108BD9-81ED-4DB2-BD59-A6C34878D82A}">
                    <a16:rowId xmlns:a16="http://schemas.microsoft.com/office/drawing/2014/main" val="2731585111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2544032" y="3336749"/>
            <a:ext cx="1846557" cy="152679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34194" y="5005303"/>
            <a:ext cx="1373979" cy="168041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3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214654" cy="3678303"/>
          </a:xfrm>
        </p:spPr>
        <p:txBody>
          <a:bodyPr/>
          <a:lstStyle/>
          <a:p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install.packages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(“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tidyverse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”)</a:t>
            </a:r>
          </a:p>
          <a:p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tidyverse_update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() 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gets latest version</a:t>
            </a:r>
            <a:endParaRPr lang="en-US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098" name="Picture 2" descr="Image result for tidyver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837" y="2061185"/>
            <a:ext cx="3819888" cy="440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454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Tibble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442" y="4478216"/>
            <a:ext cx="6651945" cy="20984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New data structure</a:t>
            </a:r>
          </a:p>
          <a:p>
            <a:pPr lvl="1"/>
            <a:r>
              <a:rPr lang="en-US" dirty="0"/>
              <a:t>Often interchangeable with data frames</a:t>
            </a:r>
          </a:p>
          <a:p>
            <a:pPr lvl="1"/>
            <a:r>
              <a:rPr lang="en-US" dirty="0" err="1"/>
              <a:t>Tidyverse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IMPLICITLY</a:t>
            </a:r>
            <a:r>
              <a:rPr lang="en-US" dirty="0"/>
              <a:t> converts data frames</a:t>
            </a:r>
          </a:p>
          <a:p>
            <a:pPr lvl="1"/>
            <a:r>
              <a:rPr lang="en-US" dirty="0"/>
              <a:t>Data frames still used because of support for data tables (</a:t>
            </a:r>
            <a:r>
              <a:rPr lang="en-US" dirty="0" err="1"/>
              <a:t>data.table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5124" name="Picture 4" descr="Image result for tibble 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8"/>
          <a:stretch/>
        </p:blipFill>
        <p:spPr bwMode="auto">
          <a:xfrm>
            <a:off x="3016005" y="1910860"/>
            <a:ext cx="5715000" cy="215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188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Tibble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660131" cy="43023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EXPLICITLY</a:t>
            </a:r>
            <a:r>
              <a:rPr lang="en-US" dirty="0"/>
              <a:t> convert data to a </a:t>
            </a:r>
            <a:r>
              <a:rPr lang="en-US" dirty="0" err="1"/>
              <a:t>tibble</a:t>
            </a:r>
            <a:endParaRPr lang="en-US" dirty="0"/>
          </a:p>
          <a:p>
            <a:pPr lvl="1"/>
            <a:r>
              <a:rPr lang="en-US" dirty="0" err="1"/>
              <a:t>as_tibble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builds </a:t>
            </a:r>
            <a:r>
              <a:rPr lang="en-US" dirty="0" err="1">
                <a:sym typeface="Wingdings" panose="05000000000000000000" pitchFamily="2" charset="2"/>
              </a:rPr>
              <a:t>tibble</a:t>
            </a:r>
            <a:r>
              <a:rPr lang="en-US" dirty="0">
                <a:sym typeface="Wingdings" panose="05000000000000000000" pitchFamily="2" charset="2"/>
              </a:rPr>
              <a:t> from existing data</a:t>
            </a:r>
          </a:p>
          <a:p>
            <a:pPr lvl="2"/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iris_tibble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&lt;-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as_tibble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(iris)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tibble</a:t>
            </a:r>
            <a:r>
              <a:rPr lang="en-US" dirty="0">
                <a:sym typeface="Wingdings" panose="05000000000000000000" pitchFamily="2" charset="2"/>
              </a:rPr>
              <a:t>()  builds a </a:t>
            </a:r>
            <a:r>
              <a:rPr lang="en-US" dirty="0" err="1">
                <a:sym typeface="Wingdings" panose="05000000000000000000" pitchFamily="2" charset="2"/>
              </a:rPr>
              <a:t>tibble</a:t>
            </a:r>
            <a:r>
              <a:rPr lang="en-US" dirty="0">
                <a:sym typeface="Wingdings" panose="05000000000000000000" pitchFamily="2" charset="2"/>
              </a:rPr>
              <a:t> from scratch</a:t>
            </a:r>
          </a:p>
          <a:p>
            <a:pPr lvl="2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name &lt;- c(“Mike”, “Renee”, “Matt”, “Chris”, “Ricky”)</a:t>
            </a:r>
          </a:p>
          <a:p>
            <a:pPr lvl="2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birthyear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&lt;- c(2000, 2001, 2002, 2003, 2004, 2005)</a:t>
            </a:r>
          </a:p>
          <a:p>
            <a:pPr lvl="2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eyecolor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&lt;- c(“blue”, “brown”, “hazel”, “green”, “brown”)</a:t>
            </a:r>
          </a:p>
          <a:p>
            <a:pPr lvl="2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	people &lt;-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tibble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(name,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birthyear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eyecolor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lvl="1"/>
            <a:r>
              <a:rPr lang="en-US" dirty="0"/>
              <a:t>Import with read_  files</a:t>
            </a:r>
          </a:p>
          <a:p>
            <a:pPr lvl="2"/>
            <a:r>
              <a:rPr lang="en-US" dirty="0" err="1"/>
              <a:t>read_csv</a:t>
            </a:r>
            <a:r>
              <a:rPr lang="en-US" dirty="0"/>
              <a:t>, </a:t>
            </a:r>
            <a:r>
              <a:rPr lang="en-US" dirty="0" err="1"/>
              <a:t>read_tsv</a:t>
            </a:r>
            <a:r>
              <a:rPr lang="en-US" dirty="0"/>
              <a:t>, </a:t>
            </a:r>
            <a:r>
              <a:rPr lang="en-US" dirty="0" err="1"/>
              <a:t>read_delim</a:t>
            </a:r>
            <a:r>
              <a:rPr lang="en-US" dirty="0"/>
              <a:t>, etc.</a:t>
            </a:r>
          </a:p>
          <a:p>
            <a:pPr lvl="2"/>
            <a:r>
              <a:rPr lang="en-US" dirty="0"/>
              <a:t>Base R uses .  (dot)   read.csv, </a:t>
            </a:r>
            <a:r>
              <a:rPr lang="en-US" dirty="0" err="1"/>
              <a:t>read.delim</a:t>
            </a:r>
            <a:r>
              <a:rPr lang="en-US" dirty="0"/>
              <a:t>, etc.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6146" name="Picture 2" descr="Image result for tib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933" y="2305146"/>
            <a:ext cx="357187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06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601516" cy="4419596"/>
          </a:xfrm>
        </p:spPr>
        <p:txBody>
          <a:bodyPr/>
          <a:lstStyle/>
          <a:p>
            <a:r>
              <a:rPr lang="en-US" dirty="0"/>
              <a:t>Manipulating messy data into tidy format</a:t>
            </a:r>
          </a:p>
          <a:p>
            <a:r>
              <a:rPr lang="en-US" dirty="0" err="1"/>
              <a:t>tidyr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Reshapes &amp; transforms data</a:t>
            </a:r>
          </a:p>
          <a:p>
            <a:r>
              <a:rPr lang="en-US" dirty="0" err="1"/>
              <a:t>dplyr</a:t>
            </a:r>
            <a:endParaRPr lang="en-US" dirty="0"/>
          </a:p>
          <a:p>
            <a:pPr lvl="1"/>
            <a:r>
              <a:rPr lang="en-US" dirty="0"/>
              <a:t>Workhorse for </a:t>
            </a:r>
            <a:r>
              <a:rPr lang="en-US" dirty="0" err="1"/>
              <a:t>subsetting</a:t>
            </a:r>
            <a:r>
              <a:rPr lang="en-US" dirty="0"/>
              <a:t>, filtering, summarizing data</a:t>
            </a:r>
          </a:p>
          <a:p>
            <a:pPr lvl="1"/>
            <a:r>
              <a:rPr lang="en-US" dirty="0"/>
              <a:t>Update from </a:t>
            </a:r>
            <a:r>
              <a:rPr lang="en-US" dirty="0" err="1"/>
              <a:t>plyr</a:t>
            </a:r>
            <a:r>
              <a:rPr lang="en-US" dirty="0"/>
              <a:t> library</a:t>
            </a:r>
          </a:p>
          <a:p>
            <a:pPr lvl="1"/>
            <a:r>
              <a:rPr lang="en-US" dirty="0"/>
              <a:t>Uses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%&gt;%</a:t>
            </a:r>
            <a:r>
              <a:rPr lang="en-US" dirty="0"/>
              <a:t> to link actions</a:t>
            </a:r>
          </a:p>
          <a:p>
            <a:pPr lvl="1"/>
            <a:r>
              <a:rPr lang="en-US" dirty="0"/>
              <a:t>Uses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%&lt;&gt;%</a:t>
            </a:r>
            <a:r>
              <a:rPr lang="en-US" dirty="0"/>
              <a:t> to </a:t>
            </a:r>
            <a:r>
              <a:rPr lang="en-US"/>
              <a:t>reassign and link </a:t>
            </a:r>
            <a:r>
              <a:rPr lang="en-US" dirty="0"/>
              <a:t>actions</a:t>
            </a:r>
          </a:p>
        </p:txBody>
      </p:sp>
      <p:pic>
        <p:nvPicPr>
          <p:cNvPr id="12290" name="Picture 2" descr="Image result for tidy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282" y="2180496"/>
            <a:ext cx="2004582" cy="232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Image result for dply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804" y="4019647"/>
            <a:ext cx="2004004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8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901" y="1957758"/>
            <a:ext cx="6605053" cy="4900242"/>
          </a:xfrm>
        </p:spPr>
        <p:txBody>
          <a:bodyPr/>
          <a:lstStyle/>
          <a:p>
            <a:r>
              <a:rPr lang="en-US" dirty="0" err="1"/>
              <a:t>readr</a:t>
            </a:r>
            <a:endParaRPr lang="en-US" dirty="0"/>
          </a:p>
          <a:p>
            <a:pPr lvl="1"/>
            <a:r>
              <a:rPr lang="en-US" dirty="0"/>
              <a:t>Import from .csv, .</a:t>
            </a:r>
            <a:r>
              <a:rPr lang="en-US" dirty="0" err="1"/>
              <a:t>tsv</a:t>
            </a:r>
            <a:r>
              <a:rPr lang="en-US" dirty="0"/>
              <a:t>, and .txt files</a:t>
            </a:r>
          </a:p>
          <a:p>
            <a:pPr lvl="1"/>
            <a:r>
              <a:rPr lang="en-US" dirty="0"/>
              <a:t>Faster than Base-R</a:t>
            </a:r>
          </a:p>
          <a:p>
            <a:pPr lvl="2"/>
            <a:r>
              <a:rPr lang="en-US" dirty="0"/>
              <a:t>Assumes tidy data</a:t>
            </a:r>
          </a:p>
          <a:p>
            <a:pPr lvl="1"/>
            <a:r>
              <a:rPr lang="en-US" dirty="0"/>
              <a:t>More intelligent</a:t>
            </a:r>
          </a:p>
          <a:p>
            <a:pPr lvl="2"/>
            <a:r>
              <a:rPr lang="en-US" dirty="0"/>
              <a:t>Dates import as dates</a:t>
            </a:r>
          </a:p>
          <a:p>
            <a:pPr lvl="2"/>
            <a:r>
              <a:rPr lang="en-US" dirty="0"/>
              <a:t>Does NOT convert strings to factors (Base-R)</a:t>
            </a:r>
          </a:p>
          <a:p>
            <a:pPr lvl="2"/>
            <a:r>
              <a:rPr lang="en-US" dirty="0"/>
              <a:t>Does NOT convert column names to “safe names”</a:t>
            </a:r>
          </a:p>
          <a:p>
            <a:pPr lvl="3"/>
            <a:r>
              <a:rPr lang="en-US" dirty="0"/>
              <a:t>Spaces allowed in column names but must use </a:t>
            </a:r>
            <a:r>
              <a:rPr lang="en-US" dirty="0" err="1"/>
              <a:t>backticks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86954" y="4431327"/>
            <a:ext cx="4893484" cy="1969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readxl</a:t>
            </a:r>
            <a:endParaRPr lang="en-US" dirty="0"/>
          </a:p>
          <a:p>
            <a:pPr lvl="1"/>
            <a:r>
              <a:rPr lang="en-US" dirty="0"/>
              <a:t>Import from Excel</a:t>
            </a:r>
          </a:p>
          <a:p>
            <a:r>
              <a:rPr lang="en-US" dirty="0"/>
              <a:t>haven</a:t>
            </a:r>
          </a:p>
          <a:p>
            <a:pPr lvl="1"/>
            <a:r>
              <a:rPr lang="en-US" dirty="0"/>
              <a:t>Import from SAS, SPSS, and STATA</a:t>
            </a:r>
          </a:p>
        </p:txBody>
      </p:sp>
      <p:pic>
        <p:nvPicPr>
          <p:cNvPr id="16386" name="Picture 2" descr="Image result for read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439" y="1957758"/>
            <a:ext cx="1750858" cy="202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Image result for readx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734" y="1998635"/>
            <a:ext cx="1815643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Image result for haven 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398" y="1899996"/>
            <a:ext cx="1921040" cy="222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03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1969477"/>
            <a:ext cx="5889946" cy="46540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ggplot2</a:t>
            </a:r>
          </a:p>
          <a:p>
            <a:pPr lvl="1"/>
            <a:r>
              <a:rPr lang="en-US" dirty="0"/>
              <a:t>Powerful and consistent graphics</a:t>
            </a:r>
          </a:p>
          <a:p>
            <a:pPr lvl="1"/>
            <a:r>
              <a:rPr lang="en-US" dirty="0"/>
              <a:t>Grammar of Graphics</a:t>
            </a:r>
          </a:p>
          <a:p>
            <a:r>
              <a:rPr lang="en-US" dirty="0" err="1"/>
              <a:t>htmlwidgets</a:t>
            </a:r>
            <a:endParaRPr lang="en-US" dirty="0"/>
          </a:p>
          <a:p>
            <a:pPr lvl="1"/>
            <a:r>
              <a:rPr lang="en-US" dirty="0"/>
              <a:t>Interactive/clickable charts</a:t>
            </a:r>
          </a:p>
          <a:p>
            <a:r>
              <a:rPr lang="en-US" dirty="0"/>
              <a:t>Shiny</a:t>
            </a:r>
          </a:p>
          <a:p>
            <a:pPr lvl="1"/>
            <a:r>
              <a:rPr lang="en-US" dirty="0"/>
              <a:t>Custom interactive web apps</a:t>
            </a:r>
          </a:p>
          <a:p>
            <a:pPr lvl="1"/>
            <a:r>
              <a:rPr lang="en-US" dirty="0"/>
              <a:t>Little knowledge of html &amp; </a:t>
            </a:r>
            <a:r>
              <a:rPr lang="en-US" dirty="0" err="1"/>
              <a:t>js</a:t>
            </a:r>
            <a:r>
              <a:rPr lang="en-US" dirty="0"/>
              <a:t> required</a:t>
            </a:r>
          </a:p>
          <a:p>
            <a:pPr lvl="1"/>
            <a:r>
              <a:rPr lang="en-US" dirty="0"/>
              <a:t>Easily embed </a:t>
            </a:r>
            <a:r>
              <a:rPr lang="en-US" dirty="0" err="1"/>
              <a:t>htmlwidgets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17410" name="Picture 2" descr="Image result for ggplot2 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231" y="1969477"/>
            <a:ext cx="2615548" cy="294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Image result for shin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512" y="4004990"/>
            <a:ext cx="2259379" cy="261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130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303793" cy="4302366"/>
          </a:xfrm>
        </p:spPr>
        <p:txBody>
          <a:bodyPr>
            <a:normAutofit/>
          </a:bodyPr>
          <a:lstStyle/>
          <a:p>
            <a:r>
              <a:rPr lang="en-US" dirty="0" err="1"/>
              <a:t>lubridate</a:t>
            </a:r>
            <a:endParaRPr lang="en-US" dirty="0"/>
          </a:p>
          <a:p>
            <a:pPr lvl="1"/>
            <a:r>
              <a:rPr lang="en-US" dirty="0"/>
              <a:t>Easily manage date variables</a:t>
            </a:r>
          </a:p>
          <a:p>
            <a:pPr lvl="1"/>
            <a:r>
              <a:rPr lang="en-US" dirty="0"/>
              <a:t>Parse dates</a:t>
            </a:r>
          </a:p>
          <a:p>
            <a:r>
              <a:rPr lang="en-US" dirty="0" err="1"/>
              <a:t>purrr</a:t>
            </a:r>
            <a:endParaRPr lang="en-US" dirty="0"/>
          </a:p>
          <a:p>
            <a:pPr lvl="1"/>
            <a:r>
              <a:rPr lang="en-US" dirty="0"/>
              <a:t>Works with functions and vectors</a:t>
            </a:r>
          </a:p>
          <a:p>
            <a:r>
              <a:rPr lang="en-US" dirty="0" err="1"/>
              <a:t>stringr</a:t>
            </a:r>
            <a:endParaRPr lang="en-US" dirty="0"/>
          </a:p>
          <a:p>
            <a:pPr lvl="1"/>
            <a:r>
              <a:rPr lang="en-US" dirty="0"/>
              <a:t>String manipulation</a:t>
            </a:r>
          </a:p>
        </p:txBody>
      </p:sp>
      <p:pic>
        <p:nvPicPr>
          <p:cNvPr id="18434" name="Picture 2" descr="Image result for purr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321" y="4243801"/>
            <a:ext cx="2180562" cy="252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6" name="Picture 14" descr="Image result for string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883" y="2336782"/>
            <a:ext cx="22860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50" name="Picture 18" descr="Image result for lubridat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17688" y="1853709"/>
            <a:ext cx="2257179" cy="270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347064"/>
      </p:ext>
    </p:extLst>
  </p:cSld>
  <p:clrMapOvr>
    <a:masterClrMapping/>
  </p:clrMapOvr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RTheme1</Template>
  <TotalTime>9955</TotalTime>
  <Words>1246</Words>
  <Application>Microsoft Office PowerPoint</Application>
  <PresentationFormat>Widescreen</PresentationFormat>
  <Paragraphs>613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Gill Sans MT</vt:lpstr>
      <vt:lpstr>Wingdings</vt:lpstr>
      <vt:lpstr>Wingdings 2</vt:lpstr>
      <vt:lpstr>RTheme1</vt:lpstr>
      <vt:lpstr>R in the Tidyverse</vt:lpstr>
      <vt:lpstr>Tidyverse Packages</vt:lpstr>
      <vt:lpstr>PowerPoint Presentation</vt:lpstr>
      <vt:lpstr>Tidyverse Developer</vt:lpstr>
      <vt:lpstr>Data Wrangling</vt:lpstr>
      <vt:lpstr>Messy Data</vt:lpstr>
      <vt:lpstr>Messy Data – Individual Incomes of people who affiliate with a Religion</vt:lpstr>
      <vt:lpstr>Messy data – Cases of Tuberculosis</vt:lpstr>
      <vt:lpstr>Messy data – Cases of Tuberculosis</vt:lpstr>
      <vt:lpstr>Messy Data – Weather Data from Mexican Weather Stations</vt:lpstr>
      <vt:lpstr>Messy Data – Weather Data from Mexican Weather Stations</vt:lpstr>
      <vt:lpstr>Messy Data</vt:lpstr>
      <vt:lpstr>Messy Data</vt:lpstr>
      <vt:lpstr>Installing Tidyverse</vt:lpstr>
      <vt:lpstr>Tibble</vt:lpstr>
      <vt:lpstr>Tibble</vt:lpstr>
      <vt:lpstr>Data Wrangling</vt:lpstr>
      <vt:lpstr>Importing Data</vt:lpstr>
      <vt:lpstr>Data Visualization</vt:lpstr>
      <vt:lpstr>Functional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 Davidson</dc:creator>
  <cp:lastModifiedBy>Kristi</cp:lastModifiedBy>
  <cp:revision>51</cp:revision>
  <cp:lastPrinted>2019-08-23T21:12:54Z</cp:lastPrinted>
  <dcterms:created xsi:type="dcterms:W3CDTF">2019-07-25T21:24:56Z</dcterms:created>
  <dcterms:modified xsi:type="dcterms:W3CDTF">2021-07-30T18:18:56Z</dcterms:modified>
</cp:coreProperties>
</file>