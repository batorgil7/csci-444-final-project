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8" r:id="rId3"/>
    <p:sldId id="259" r:id="rId4"/>
    <p:sldId id="283" r:id="rId5"/>
    <p:sldId id="261" r:id="rId6"/>
    <p:sldId id="260" r:id="rId7"/>
    <p:sldId id="263" r:id="rId8"/>
    <p:sldId id="264" r:id="rId9"/>
    <p:sldId id="268" r:id="rId10"/>
    <p:sldId id="267" r:id="rId11"/>
    <p:sldId id="266" r:id="rId12"/>
    <p:sldId id="273" r:id="rId13"/>
    <p:sldId id="270" r:id="rId14"/>
    <p:sldId id="271" r:id="rId15"/>
    <p:sldId id="272" r:id="rId16"/>
    <p:sldId id="285" r:id="rId17"/>
    <p:sldId id="282" r:id="rId18"/>
    <p:sldId id="284" r:id="rId19"/>
    <p:sldId id="269" r:id="rId20"/>
    <p:sldId id="274" r:id="rId21"/>
    <p:sldId id="275" r:id="rId22"/>
    <p:sldId id="276" r:id="rId23"/>
    <p:sldId id="278" r:id="rId24"/>
    <p:sldId id="277" r:id="rId25"/>
    <p:sldId id="265" r:id="rId26"/>
  </p:sldIdLst>
  <p:sldSz cx="12192000" cy="6858000"/>
  <p:notesSz cx="68580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9B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19" autoAdjust="0"/>
    <p:restoredTop sz="94660"/>
  </p:normalViewPr>
  <p:slideViewPr>
    <p:cSldViewPr snapToGrid="0">
      <p:cViewPr varScale="1">
        <p:scale>
          <a:sx n="84" d="100"/>
          <a:sy n="84" d="100"/>
        </p:scale>
        <p:origin x="69" y="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5:  R Programming - dplyr &amp; tidyr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1A062-3043-4534-8341-624A8BF1060F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03754-A1FC-432A-A88A-9A7E74472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954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Unit 5:  R Programming - dplyr &amp; tidyr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21BA1-7D0A-4D94-B2B3-E62B483958DC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13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60DE1-BD4E-4FD1-8A0B-DFDEC97BC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279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41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0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41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70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494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416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0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3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97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9/25/2024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7037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Dplyr</a:t>
            </a:r>
            <a:r>
              <a:rPr lang="en-US" dirty="0"/>
              <a:t> &amp; </a:t>
            </a:r>
            <a:r>
              <a:rPr lang="en-US" dirty="0" err="1"/>
              <a:t>Tidyr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CSCI 444</a:t>
            </a:r>
          </a:p>
        </p:txBody>
      </p:sp>
      <p:pic>
        <p:nvPicPr>
          <p:cNvPr id="4" name="Picture 8" descr="Image result for dply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4263" y="3493867"/>
            <a:ext cx="2004004" cy="232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tidy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102" y="3493197"/>
            <a:ext cx="2004582" cy="232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92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7795" y="3993300"/>
            <a:ext cx="4633792" cy="24504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Pipe operator implemented in </a:t>
            </a:r>
            <a:r>
              <a:rPr lang="en-US" dirty="0" err="1"/>
              <a:t>magrittr</a:t>
            </a:r>
            <a:r>
              <a:rPr lang="en-US" dirty="0"/>
              <a:t> package</a:t>
            </a:r>
          </a:p>
          <a:p>
            <a:r>
              <a:rPr lang="en-US" dirty="0"/>
              <a:t>Pronounce as </a:t>
            </a:r>
            <a:r>
              <a:rPr lang="en-US" b="1" i="1" dirty="0">
                <a:solidFill>
                  <a:schemeClr val="accent1"/>
                </a:solidFill>
              </a:rPr>
              <a:t>AND THEN</a:t>
            </a:r>
          </a:p>
          <a:p>
            <a:r>
              <a:rPr lang="en-US" b="1" i="1" dirty="0">
                <a:solidFill>
                  <a:schemeClr val="accent1"/>
                </a:solidFill>
              </a:rPr>
              <a:t>Shortcut:  </a:t>
            </a:r>
            <a:r>
              <a:rPr lang="en-US" b="1" i="1">
                <a:solidFill>
                  <a:schemeClr val="accent1"/>
                </a:solidFill>
              </a:rPr>
              <a:t>ctrl – shift – m </a:t>
            </a:r>
            <a:br>
              <a:rPr lang="en-US" b="1" i="1" dirty="0">
                <a:solidFill>
                  <a:schemeClr val="accent1"/>
                </a:solidFill>
              </a:rPr>
            </a:br>
            <a:r>
              <a:rPr lang="en-US" b="1" i="1" dirty="0">
                <a:solidFill>
                  <a:schemeClr val="accent1"/>
                </a:solidFill>
              </a:rPr>
              <a:t>                </a:t>
            </a:r>
            <a:r>
              <a:rPr lang="en-US" b="1" i="1" dirty="0" err="1">
                <a:solidFill>
                  <a:schemeClr val="accent1"/>
                </a:solidFill>
              </a:rPr>
              <a:t>cmd</a:t>
            </a:r>
            <a:r>
              <a:rPr lang="en-US" b="1" i="1" dirty="0">
                <a:solidFill>
                  <a:schemeClr val="accent1"/>
                </a:solidFill>
              </a:rPr>
              <a:t> – shift – m </a:t>
            </a:r>
          </a:p>
        </p:txBody>
      </p:sp>
      <p:pic>
        <p:nvPicPr>
          <p:cNvPr id="1026" name="Picture 2" descr="pip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665" y="2563954"/>
            <a:ext cx="5097975" cy="32497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gritt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795" y="2180496"/>
            <a:ext cx="3763638" cy="1579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13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945940"/>
            <a:ext cx="4620638" cy="4912059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What is %&gt;%</a:t>
            </a:r>
          </a:p>
          <a:p>
            <a:pPr lvl="1"/>
            <a:r>
              <a:rPr lang="en-US" sz="2400" dirty="0"/>
              <a:t>This %&gt;%</a:t>
            </a:r>
          </a:p>
          <a:p>
            <a:pPr lvl="1"/>
            <a:r>
              <a:rPr lang="en-US" sz="2400" dirty="0"/>
              <a:t>That %&gt;%</a:t>
            </a:r>
          </a:p>
          <a:p>
            <a:pPr lvl="1"/>
            <a:r>
              <a:rPr lang="en-US" sz="2400" dirty="0" err="1"/>
              <a:t>One_More_Thing</a:t>
            </a:r>
            <a:r>
              <a:rPr lang="en-US" sz="2400" dirty="0"/>
              <a:t> %&gt;%</a:t>
            </a:r>
          </a:p>
          <a:p>
            <a:pPr lvl="1"/>
            <a:r>
              <a:rPr lang="en-US" sz="2400" dirty="0"/>
              <a:t>Finished</a:t>
            </a:r>
          </a:p>
          <a:p>
            <a:r>
              <a:rPr lang="en-US" sz="2600" dirty="0"/>
              <a:t>Without %&gt;%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park(drive(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start_car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(find("keys")), 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   to = "campus"))</a:t>
            </a:r>
          </a:p>
          <a:p>
            <a:r>
              <a:rPr lang="en-US" sz="2400" dirty="0"/>
              <a:t>With %&gt;%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find("keys") %&gt;%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start_car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%&gt;%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drive(to = "campus")   %&gt;%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park()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356802" y="1945941"/>
            <a:ext cx="7668534" cy="4629997"/>
          </a:xfrm>
        </p:spPr>
        <p:txBody>
          <a:bodyPr numCol="2">
            <a:normAutofit fontScale="92500" lnSpcReduction="20000"/>
          </a:bodyPr>
          <a:lstStyle/>
          <a:p>
            <a:r>
              <a:rPr lang="en-US" sz="2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&lt;- c(1, 3, 5, 6, 11, 13, 17)</a:t>
            </a:r>
            <a:br>
              <a:rPr lang="en-US" sz="24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US" sz="24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800" dirty="0"/>
              <a:t>Without %&gt;%</a:t>
            </a:r>
          </a:p>
          <a:p>
            <a:pPr lvl="1"/>
            <a:r>
              <a:rPr lang="en-US" sz="24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mean(data)</a:t>
            </a:r>
          </a:p>
          <a:p>
            <a:pPr lvl="1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diff(data</a:t>
            </a:r>
            <a:r>
              <a:rPr lang="en-US" sz="2400" dirty="0"/>
              <a:t>)</a:t>
            </a:r>
          </a:p>
          <a:p>
            <a:pPr lvl="1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mean(diff(data</a:t>
            </a:r>
            <a:r>
              <a:rPr lang="en-US" sz="2400" dirty="0"/>
              <a:t>))</a:t>
            </a: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endParaRPr lang="en-US" sz="2200" dirty="0"/>
          </a:p>
          <a:p>
            <a:pPr marL="324000" lvl="1" indent="0">
              <a:buNone/>
            </a:pPr>
            <a:br>
              <a:rPr lang="en-US" sz="2200" dirty="0"/>
            </a:br>
            <a:endParaRPr lang="en-US" sz="2200" dirty="0"/>
          </a:p>
          <a:p>
            <a:r>
              <a:rPr lang="en-US" sz="2800" dirty="0"/>
              <a:t>With %&gt;%</a:t>
            </a:r>
          </a:p>
          <a:p>
            <a:pPr lvl="1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%&gt;%</a:t>
            </a:r>
            <a:b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mean()</a:t>
            </a:r>
          </a:p>
          <a:p>
            <a:pPr lvl="1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%&gt;%</a:t>
            </a:r>
            <a:b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diff()</a:t>
            </a:r>
          </a:p>
          <a:p>
            <a:pPr lvl="1"/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%&gt;%</a:t>
            </a:r>
            <a:b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diff()  %&gt;%</a:t>
            </a:r>
            <a:b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mean() %&gt;%</a:t>
            </a:r>
            <a:b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View()</a:t>
            </a:r>
          </a:p>
        </p:txBody>
      </p:sp>
      <p:pic>
        <p:nvPicPr>
          <p:cNvPr id="2050" name="Picture 2" descr="Image result for pipe operator 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6469" y="729658"/>
            <a:ext cx="915308" cy="106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parking a c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3"/>
          <a:stretch/>
        </p:blipFill>
        <p:spPr bwMode="auto">
          <a:xfrm>
            <a:off x="4620638" y="4401969"/>
            <a:ext cx="2404426" cy="2033308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80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41E3F-00C3-4DE3-91B5-2AB00617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Pipe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9F0F4-C28F-403F-9F5F-37C9D0837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197" y="1895415"/>
            <a:ext cx="7642728" cy="2743710"/>
          </a:xfrm>
        </p:spPr>
        <p:txBody>
          <a:bodyPr/>
          <a:lstStyle/>
          <a:p>
            <a:r>
              <a:rPr lang="en-US" dirty="0"/>
              <a:t>%&lt;&gt;%</a:t>
            </a:r>
          </a:p>
          <a:p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myiris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&lt;- 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iris</a:t>
            </a:r>
          </a:p>
          <a:p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myiris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%&lt;&gt;% select(Species == “</a:t>
            </a:r>
            <a:r>
              <a:rPr lang="en-US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setosa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”) %&gt;%</a:t>
            </a:r>
            <a:b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   print()</a:t>
            </a:r>
          </a:p>
        </p:txBody>
      </p:sp>
      <p:pic>
        <p:nvPicPr>
          <p:cNvPr id="1026" name="Picture 2" descr="Gentleman&amp;#39;s Ball Pipe 5in x 3in | Party City">
            <a:extLst>
              <a:ext uri="{FF2B5EF4-FFF2-40B4-BE49-F238E27FC236}">
                <a16:creationId xmlns:a16="http://schemas.microsoft.com/office/drawing/2014/main" id="{2B995E2F-0755-4C35-84D0-AA4DDB64B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431" y="2197969"/>
            <a:ext cx="3893775" cy="4498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ssignment Banner Template. Assignment Ribbon Label. Stock Vector -  Illustration of design, paper: 179665779">
            <a:extLst>
              <a:ext uri="{FF2B5EF4-FFF2-40B4-BE49-F238E27FC236}">
                <a16:creationId xmlns:a16="http://schemas.microsoft.com/office/drawing/2014/main" id="{B7ECA3C7-C95E-43DB-A689-39E5F0A3D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32589" y="4509525"/>
            <a:ext cx="5613241" cy="230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21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Glimpse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glimpse(</a:t>
            </a:r>
            <a:r>
              <a:rPr lang="en-US" i="1" dirty="0" err="1"/>
              <a:t>tibbleName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Observations</a:t>
            </a:r>
          </a:p>
          <a:p>
            <a:pPr lvl="1"/>
            <a:r>
              <a:rPr lang="en-US" dirty="0"/>
              <a:t>Variables</a:t>
            </a:r>
          </a:p>
          <a:p>
            <a:pPr lvl="1"/>
            <a:r>
              <a:rPr lang="en-US" dirty="0"/>
              <a:t>First seven observational units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3583" y="1924864"/>
            <a:ext cx="544023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glimpse(</a:t>
            </a:r>
            <a:r>
              <a:rPr lang="en-US" sz="20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french_fries</a:t>
            </a:r>
            <a:r>
              <a:rPr lang="en-US" sz="20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Observations: 696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Variables: 9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$ time      &lt;</a:t>
            </a:r>
            <a:r>
              <a:rPr lang="en-US" sz="2000" dirty="0" err="1">
                <a:solidFill>
                  <a:srgbClr val="C00000"/>
                </a:solidFill>
              </a:rPr>
              <a:t>fct</a:t>
            </a:r>
            <a:r>
              <a:rPr lang="en-US" sz="2000" dirty="0">
                <a:solidFill>
                  <a:srgbClr val="C00000"/>
                </a:solidFill>
              </a:rPr>
              <a:t>&gt; 1, 1, 1, 1, 1, 1, 1, 1, 1, 1, 1, 1...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$ treatment &lt;</a:t>
            </a:r>
            <a:r>
              <a:rPr lang="en-US" sz="2000" dirty="0" err="1">
                <a:solidFill>
                  <a:srgbClr val="C00000"/>
                </a:solidFill>
              </a:rPr>
              <a:t>fct</a:t>
            </a:r>
            <a:r>
              <a:rPr lang="en-US" sz="2000" dirty="0">
                <a:solidFill>
                  <a:srgbClr val="C00000"/>
                </a:solidFill>
              </a:rPr>
              <a:t>&gt; 1, 1, 1, 1, 1, 1, 1, 1, 1, 1, 1, 1...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$ subject   &lt;</a:t>
            </a:r>
            <a:r>
              <a:rPr lang="en-US" sz="2000" dirty="0" err="1">
                <a:solidFill>
                  <a:srgbClr val="C00000"/>
                </a:solidFill>
              </a:rPr>
              <a:t>fct</a:t>
            </a:r>
            <a:r>
              <a:rPr lang="en-US" sz="2000" dirty="0">
                <a:solidFill>
                  <a:srgbClr val="C00000"/>
                </a:solidFill>
              </a:rPr>
              <a:t>&gt; 3, 3, 10, 10, 15, 15, 16, 16, 19, ...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$ rep       &lt;</a:t>
            </a:r>
            <a:r>
              <a:rPr lang="en-US" sz="2000" dirty="0" err="1">
                <a:solidFill>
                  <a:srgbClr val="C00000"/>
                </a:solidFill>
              </a:rPr>
              <a:t>dbl</a:t>
            </a:r>
            <a:r>
              <a:rPr lang="en-US" sz="2000" dirty="0">
                <a:solidFill>
                  <a:srgbClr val="C00000"/>
                </a:solidFill>
              </a:rPr>
              <a:t>&gt; 1, 2, 1, 2, 1, 2, 1, 2, 1, 2, 1, 2...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$ potato    &lt;</a:t>
            </a:r>
            <a:r>
              <a:rPr lang="en-US" sz="2000" dirty="0" err="1">
                <a:solidFill>
                  <a:srgbClr val="C00000"/>
                </a:solidFill>
              </a:rPr>
              <a:t>dbl</a:t>
            </a:r>
            <a:r>
              <a:rPr lang="en-US" sz="2000" dirty="0">
                <a:solidFill>
                  <a:srgbClr val="C00000"/>
                </a:solidFill>
              </a:rPr>
              <a:t>&gt; 2.9, 14.0, 11.0, 9.9, 1.2, 8.8, 9....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$ buttery   &lt;</a:t>
            </a:r>
            <a:r>
              <a:rPr lang="en-US" sz="2000" dirty="0" err="1">
                <a:solidFill>
                  <a:srgbClr val="C00000"/>
                </a:solidFill>
              </a:rPr>
              <a:t>dbl</a:t>
            </a:r>
            <a:r>
              <a:rPr lang="en-US" sz="2000" dirty="0">
                <a:solidFill>
                  <a:srgbClr val="C00000"/>
                </a:solidFill>
              </a:rPr>
              <a:t>&gt; 0.0, 0.0, 6.4, 5.9, 0.1, 3.0, 2.6,...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$ grassy    &lt;</a:t>
            </a:r>
            <a:r>
              <a:rPr lang="en-US" sz="2000" dirty="0" err="1">
                <a:solidFill>
                  <a:srgbClr val="C00000"/>
                </a:solidFill>
              </a:rPr>
              <a:t>dbl</a:t>
            </a:r>
            <a:r>
              <a:rPr lang="en-US" sz="2000" dirty="0">
                <a:solidFill>
                  <a:srgbClr val="C00000"/>
                </a:solidFill>
              </a:rPr>
              <a:t>&gt; 0.0, 0.0, 0.0, 2.9, 0.0, 3.6, 0.4,...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$ rancid    &lt;</a:t>
            </a:r>
            <a:r>
              <a:rPr lang="en-US" sz="2000" dirty="0" err="1">
                <a:solidFill>
                  <a:srgbClr val="C00000"/>
                </a:solidFill>
              </a:rPr>
              <a:t>dbl</a:t>
            </a:r>
            <a:r>
              <a:rPr lang="en-US" sz="2000" dirty="0">
                <a:solidFill>
                  <a:srgbClr val="C00000"/>
                </a:solidFill>
              </a:rPr>
              <a:t>&gt; 0.0, 1.1, 0.0, 2.2, 1.1, 1.5, 0.1,...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$ </a:t>
            </a:r>
            <a:r>
              <a:rPr lang="en-US" sz="2000" dirty="0" err="1">
                <a:solidFill>
                  <a:srgbClr val="C00000"/>
                </a:solidFill>
              </a:rPr>
              <a:t>painty</a:t>
            </a:r>
            <a:r>
              <a:rPr lang="en-US" sz="2000" dirty="0">
                <a:solidFill>
                  <a:srgbClr val="C00000"/>
                </a:solidFill>
              </a:rPr>
              <a:t>    &lt;</a:t>
            </a:r>
            <a:r>
              <a:rPr lang="en-US" sz="2000" dirty="0" err="1">
                <a:solidFill>
                  <a:srgbClr val="C00000"/>
                </a:solidFill>
              </a:rPr>
              <a:t>dbl</a:t>
            </a:r>
            <a:r>
              <a:rPr lang="en-US" sz="2000" dirty="0">
                <a:solidFill>
                  <a:srgbClr val="C00000"/>
                </a:solidFill>
              </a:rPr>
              <a:t>&gt; 5.5, 0.0, 0.0, 0.0, 5.1, 2.3, 0.2,...</a:t>
            </a:r>
          </a:p>
          <a:p>
            <a:r>
              <a:rPr lang="en-US" sz="2000" dirty="0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357840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Dot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907963"/>
            <a:ext cx="5422390" cy="462999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 . (dot)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dirty="0"/>
              <a:t>When first argument of second function is NOT from the previous function</a:t>
            </a:r>
          </a:p>
          <a:p>
            <a:pPr lvl="1"/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library(praise)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rep(praise(), 10)  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data &lt;- c(1, 3, 4, 7, 11, 13, 17)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rep(praise(), 10)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data %&gt;%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diff %&gt;%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mean %&gt;%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rep(praise(), times=.)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730" y="2662343"/>
            <a:ext cx="5422392" cy="3633047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When data used in multiple places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When returning data as a vector</a:t>
            </a:r>
          </a:p>
          <a:p>
            <a:pPr lvl="1"/>
            <a:r>
              <a:rPr lang="en-US" dirty="0"/>
              <a:t>Display Midwestern states</a:t>
            </a:r>
          </a:p>
          <a:p>
            <a:pPr lvl="1"/>
            <a:r>
              <a:rPr lang="en-US" dirty="0"/>
              <a:t>"IL" "IN" "MI" "OH" "WI" </a:t>
            </a:r>
          </a:p>
          <a:p>
            <a:pPr lvl="1"/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select(state) %&gt;%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unique() %&gt;%</a:t>
            </a:r>
          </a:p>
          <a:p>
            <a:pPr marL="324000" lvl="1" indent="0">
              <a:buNone/>
            </a:pP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.[[1]]</a:t>
            </a:r>
          </a:p>
          <a:p>
            <a:pPr lvl="1"/>
            <a:endParaRPr lang="en-US" dirty="0"/>
          </a:p>
        </p:txBody>
      </p:sp>
      <p:sp>
        <p:nvSpPr>
          <p:cNvPr id="5" name="Down Arrow Callout 4"/>
          <p:cNvSpPr/>
          <p:nvPr/>
        </p:nvSpPr>
        <p:spPr>
          <a:xfrm>
            <a:off x="2735454" y="5094580"/>
            <a:ext cx="1563329" cy="766916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 the dot</a:t>
            </a:r>
          </a:p>
        </p:txBody>
      </p:sp>
      <p:sp>
        <p:nvSpPr>
          <p:cNvPr id="6" name="Left Arrow Callout 5"/>
          <p:cNvSpPr/>
          <p:nvPr/>
        </p:nvSpPr>
        <p:spPr>
          <a:xfrm>
            <a:off x="3224237" y="3108960"/>
            <a:ext cx="2871764" cy="1114001"/>
          </a:xfrm>
          <a:prstGeom prst="leftArrowCallout">
            <a:avLst>
              <a:gd name="adj1" fmla="val 13349"/>
              <a:gd name="adj2" fmla="val 13018"/>
              <a:gd name="adj3" fmla="val 34434"/>
              <a:gd name="adj4" fmla="val 497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Tells how many times to repeat</a:t>
            </a:r>
          </a:p>
        </p:txBody>
      </p:sp>
      <p:sp>
        <p:nvSpPr>
          <p:cNvPr id="8" name="Up Arrow Callout 7"/>
          <p:cNvSpPr/>
          <p:nvPr/>
        </p:nvSpPr>
        <p:spPr>
          <a:xfrm>
            <a:off x="6237730" y="5987844"/>
            <a:ext cx="1417320" cy="796414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Note the dot</a:t>
            </a:r>
          </a:p>
        </p:txBody>
      </p:sp>
    </p:spTree>
    <p:extLst>
      <p:ext uri="{BB962C8B-B14F-4D97-AF65-F5344CB8AC3E}">
        <p14:creationId xmlns:p14="http://schemas.microsoft.com/office/powerpoint/2010/main" val="123451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Dplyr</a:t>
            </a:r>
            <a:r>
              <a:rPr lang="en-US" dirty="0"/>
              <a:t> &amp; </a:t>
            </a:r>
            <a:r>
              <a:rPr lang="en-US" dirty="0" err="1"/>
              <a:t>Tidyr</a:t>
            </a:r>
            <a:r>
              <a:rPr lang="en-US"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785" y="1836774"/>
            <a:ext cx="6092426" cy="4880713"/>
          </a:xfrm>
        </p:spPr>
        <p:txBody>
          <a:bodyPr>
            <a:noAutofit/>
          </a:bodyPr>
          <a:lstStyle/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filter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 selects rows matching criteria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Use equality and relational operators</a:t>
            </a:r>
          </a:p>
          <a:p>
            <a:pPr lvl="1"/>
            <a:r>
              <a:rPr lang="en-US" sz="1800" dirty="0" err="1">
                <a:sym typeface="Wingdings" panose="05000000000000000000" pitchFamily="2" charset="2"/>
              </a:rPr>
              <a:t>Usefull</a:t>
            </a:r>
            <a:r>
              <a:rPr lang="en-US" sz="1800" dirty="0">
                <a:sym typeface="Wingdings" panose="05000000000000000000" pitchFamily="2" charset="2"/>
              </a:rPr>
              <a:t> for filtering NA values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select</a:t>
            </a:r>
            <a:r>
              <a:rPr lang="en-US" sz="2000" dirty="0">
                <a:sym typeface="Wingdings" panose="05000000000000000000" pitchFamily="2" charset="2"/>
              </a:rPr>
              <a:t>  selects columns using variable name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filter  applies a condition to columns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unique  selects distinct rows</a:t>
            </a:r>
          </a:p>
          <a:p>
            <a:pPr lvl="1"/>
            <a:r>
              <a:rPr lang="en-US" sz="1800" dirty="0">
                <a:sym typeface="Wingdings" panose="05000000000000000000" pitchFamily="2" charset="2"/>
              </a:rPr>
              <a:t>Use – (dash) to throw away columns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slice</a:t>
            </a:r>
            <a:r>
              <a:rPr lang="en-US" sz="2000" dirty="0">
                <a:sym typeface="Wingdings" panose="05000000000000000000" pitchFamily="2" charset="2"/>
              </a:rPr>
              <a:t>   selects rows using indexes/vectors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count</a:t>
            </a:r>
            <a:r>
              <a:rPr lang="en-US" sz="2000" dirty="0">
                <a:sym typeface="Wingdings" panose="05000000000000000000" pitchFamily="2" charset="2"/>
              </a:rPr>
              <a:t>  counts the number of items (returns n)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summarize</a:t>
            </a:r>
            <a:r>
              <a:rPr lang="en-US" sz="2000" dirty="0">
                <a:sym typeface="Wingdings" panose="05000000000000000000" pitchFamily="2" charset="2"/>
              </a:rPr>
              <a:t>  reduces variables to one value or one vector using descriptive statistics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arrange</a:t>
            </a:r>
            <a:r>
              <a:rPr lang="en-US" sz="2000" dirty="0">
                <a:sym typeface="Wingdings" panose="05000000000000000000" pitchFamily="2" charset="2"/>
              </a:rPr>
              <a:t>  order rows in ASC, DESC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7914" y="2049166"/>
            <a:ext cx="6061587" cy="4661835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separate</a:t>
            </a:r>
            <a:r>
              <a:rPr lang="en-US" sz="2000" dirty="0">
                <a:sym typeface="Wingdings" panose="05000000000000000000" pitchFamily="2" charset="2"/>
              </a:rPr>
              <a:t>  parses a column into several variables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Vector defines new column names  c( )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Specify separator  </a:t>
            </a:r>
            <a:r>
              <a:rPr lang="en-US" sz="2000" dirty="0" err="1">
                <a:sym typeface="Wingdings" panose="05000000000000000000" pitchFamily="2" charset="2"/>
              </a:rPr>
              <a:t>sep</a:t>
            </a:r>
            <a:r>
              <a:rPr lang="en-US" sz="2000" dirty="0">
                <a:sym typeface="Wingdings" panose="05000000000000000000" pitchFamily="2" charset="2"/>
              </a:rPr>
              <a:t> = ","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When more than one separator 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 extra = "merge"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distinct</a:t>
            </a:r>
            <a:r>
              <a:rPr lang="en-US" sz="2000" dirty="0">
                <a:sym typeface="Wingdings" panose="05000000000000000000" pitchFamily="2" charset="2"/>
              </a:rPr>
              <a:t>  filters for unique rows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</a:rPr>
              <a:t>mutate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creates a new column</a:t>
            </a:r>
          </a:p>
          <a:p>
            <a:r>
              <a:rPr lang="en-US" sz="2000" b="1" i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sample_n</a:t>
            </a:r>
            <a:r>
              <a:rPr lang="en-US" sz="2000" dirty="0">
                <a:sym typeface="Wingdings" panose="05000000000000000000" pitchFamily="2" charset="2"/>
              </a:rPr>
              <a:t>   randomly samples rows</a:t>
            </a:r>
          </a:p>
          <a:p>
            <a:r>
              <a:rPr lang="en-US" sz="2000" b="1" i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sample_frac</a:t>
            </a:r>
            <a:r>
              <a:rPr lang="en-US" sz="2000" dirty="0">
                <a:sym typeface="Wingdings" panose="05000000000000000000" pitchFamily="2" charset="2"/>
              </a:rPr>
              <a:t>   randomly samples a percentage of rows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extract</a:t>
            </a:r>
            <a:r>
              <a:rPr lang="en-US" sz="2000" dirty="0">
                <a:sym typeface="Wingdings" panose="05000000000000000000" pitchFamily="2" charset="2"/>
              </a:rPr>
              <a:t>  returns a </a:t>
            </a:r>
            <a:r>
              <a:rPr lang="en-US" sz="2000" dirty="0" err="1">
                <a:sym typeface="Wingdings" panose="05000000000000000000" pitchFamily="2" charset="2"/>
              </a:rPr>
              <a:t>tibble</a:t>
            </a:r>
            <a:r>
              <a:rPr lang="en-US" sz="2000" dirty="0">
                <a:sym typeface="Wingdings" panose="05000000000000000000" pitchFamily="2" charset="2"/>
              </a:rPr>
              <a:t> with specified columns</a:t>
            </a:r>
          </a:p>
          <a:p>
            <a:r>
              <a:rPr lang="en-US" sz="20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pull</a:t>
            </a:r>
            <a:r>
              <a:rPr lang="en-US" sz="2000" dirty="0">
                <a:sym typeface="Wingdings" panose="05000000000000000000" pitchFamily="2" charset="2"/>
              </a:rPr>
              <a:t>  returns a column as a vector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377371" y="1717990"/>
            <a:ext cx="769258" cy="66235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77371" y="2893032"/>
            <a:ext cx="914400" cy="66235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77371" y="5109028"/>
            <a:ext cx="914400" cy="4711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77371" y="5580128"/>
            <a:ext cx="1422400" cy="4711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77370" y="6343966"/>
            <a:ext cx="1045029" cy="4711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618512" y="1946212"/>
            <a:ext cx="1219202" cy="4711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618512" y="4085124"/>
            <a:ext cx="1074059" cy="47110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669313" y="4543350"/>
            <a:ext cx="994230" cy="40892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22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500"/>
                            </p:stCondLst>
                            <p:childTnLst>
                              <p:par>
                                <p:cTn id="9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 – Choose Rows Matching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6222" y="3512059"/>
            <a:ext cx="4019982" cy="3633047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library(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tidyverse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class(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glimpse(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28034" y="1857983"/>
            <a:ext cx="6182775" cy="5087566"/>
          </a:xfrm>
        </p:spPr>
        <p:txBody>
          <a:bodyPr>
            <a:normAutofit/>
          </a:bodyPr>
          <a:lstStyle/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ohio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filter(state=="OH")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ohio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ohioSmall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filter(state=="OH" &amp;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&lt; 25000)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ohiosmall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122" name="Picture 2" descr="Image result for midw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774" y="1970584"/>
            <a:ext cx="2876280" cy="202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Up Arrow Callout 5"/>
          <p:cNvSpPr/>
          <p:nvPr/>
        </p:nvSpPr>
        <p:spPr>
          <a:xfrm>
            <a:off x="7879405" y="5525310"/>
            <a:ext cx="1789890" cy="1099226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Only 1 character for AND</a:t>
            </a:r>
          </a:p>
        </p:txBody>
      </p:sp>
    </p:spTree>
    <p:extLst>
      <p:ext uri="{BB962C8B-B14F-4D97-AF65-F5344CB8AC3E}">
        <p14:creationId xmlns:p14="http://schemas.microsoft.com/office/powerpoint/2010/main" val="319979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Choose Columns by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7516" y="2403103"/>
            <a:ext cx="5422390" cy="36330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: to list a range of columns</a:t>
            </a:r>
            <a:br>
              <a:rPr lang="en-US" dirty="0"/>
            </a:br>
            <a:endParaRPr lang="en-US" dirty="0"/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ohioethnicity_2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filter(state=="OH" &amp;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&lt; 25000)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select(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poptotal:popother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View(ohioethnicity_2)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3" y="3726073"/>
            <a:ext cx="5422392" cy="3633047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ohioethnicity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filter(state=="OH" &amp;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&lt; 25000)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select(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popwhite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popblack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popamerindian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popasian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popother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ohioethnicity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endParaRPr lang="en-US" dirty="0"/>
          </a:p>
        </p:txBody>
      </p:sp>
      <p:pic>
        <p:nvPicPr>
          <p:cNvPr id="7174" name="Picture 6" descr="Image result for oh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688" y="1841228"/>
            <a:ext cx="2079401" cy="207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16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– Choose Columns by Name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Use minus ( – ) to omit columns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ohioSmall_2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filter(state=="OH" &amp;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&lt; 25000)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select(-state)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View(ohiosmall_2)</a:t>
            </a:r>
          </a:p>
        </p:txBody>
      </p:sp>
      <p:pic>
        <p:nvPicPr>
          <p:cNvPr id="5" name="Picture 2" descr="Image result for oh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624" y="2854227"/>
            <a:ext cx="3884521" cy="238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455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 – Choose Rows Using Indexes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25882" y="1323331"/>
            <a:ext cx="5770119" cy="3633047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ohioethnicity_3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slice(5, 7:11)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View(ohioethnicity_3)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443728" y="1520661"/>
            <a:ext cx="5422392" cy="3633047"/>
          </a:xfrm>
        </p:spPr>
        <p:txBody>
          <a:bodyPr>
            <a:normAutofit/>
          </a:bodyPr>
          <a:lstStyle/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lastEntry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slice((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nrow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(.)-1):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nrow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(.))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lastEntry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endParaRPr lang="en-US" dirty="0"/>
          </a:p>
        </p:txBody>
      </p:sp>
      <p:pic>
        <p:nvPicPr>
          <p:cNvPr id="8194" name="Picture 2" descr="Image result for ohio ethnic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473" y="4292161"/>
            <a:ext cx="6610350" cy="2286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Up Arrow Callout 5"/>
          <p:cNvSpPr/>
          <p:nvPr/>
        </p:nvSpPr>
        <p:spPr>
          <a:xfrm>
            <a:off x="9105350" y="3445855"/>
            <a:ext cx="1760442" cy="846306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Dot used in multiple places</a:t>
            </a:r>
          </a:p>
        </p:txBody>
      </p:sp>
    </p:spTree>
    <p:extLst>
      <p:ext uri="{BB962C8B-B14F-4D97-AF65-F5344CB8AC3E}">
        <p14:creationId xmlns:p14="http://schemas.microsoft.com/office/powerpoint/2010/main" val="354896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1668" y="3258766"/>
            <a:ext cx="5479140" cy="2590306"/>
          </a:xfrm>
        </p:spPr>
        <p:txBody>
          <a:bodyPr/>
          <a:lstStyle/>
          <a:p>
            <a:r>
              <a:rPr lang="en-US" dirty="0" err="1"/>
              <a:t>numCounties</a:t>
            </a:r>
            <a:r>
              <a:rPr lang="en-US" dirty="0"/>
              <a:t>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dirty="0"/>
              <a:t> </a:t>
            </a:r>
            <a:r>
              <a:rPr lang="en-US" dirty="0" err="1"/>
              <a:t>midwest</a:t>
            </a:r>
            <a:r>
              <a:rPr lang="en-US" dirty="0"/>
              <a:t> %&gt;%</a:t>
            </a:r>
          </a:p>
          <a:p>
            <a:r>
              <a:rPr lang="en-US" dirty="0"/>
              <a:t>  </a:t>
            </a:r>
            <a:r>
              <a:rPr lang="en-US" dirty="0" err="1"/>
              <a:t>group_by</a:t>
            </a:r>
            <a:r>
              <a:rPr lang="en-US" dirty="0"/>
              <a:t>(state) %&gt;%</a:t>
            </a:r>
          </a:p>
          <a:p>
            <a:r>
              <a:rPr lang="en-US" dirty="0"/>
              <a:t>  count(state)</a:t>
            </a:r>
          </a:p>
          <a:p>
            <a:r>
              <a:rPr lang="en-US" dirty="0"/>
              <a:t>View(</a:t>
            </a:r>
            <a:r>
              <a:rPr lang="en-US" dirty="0" err="1"/>
              <a:t>numCounties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12290" name="Picture 2" descr="Image result for midwest count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43" y="2170769"/>
            <a:ext cx="5881357" cy="414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082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 (Filters for Unique values) &amp; Arrange (Ordering)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1482" y="1985942"/>
            <a:ext cx="5255404" cy="3678303"/>
          </a:xfrm>
        </p:spPr>
        <p:txBody>
          <a:bodyPr/>
          <a:lstStyle/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stateName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distinct(state)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arrange(desc(state))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stateName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pic>
        <p:nvPicPr>
          <p:cNvPr id="6" name="Picture 2" descr="Image result for midw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873" y="2367441"/>
            <a:ext cx="3333750" cy="34385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04754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Summarize – Reduces Summary Statistics to 1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6267080" cy="3678303"/>
          </a:xfrm>
        </p:spPr>
        <p:txBody>
          <a:bodyPr>
            <a:normAutofit fontScale="92500" lnSpcReduction="20000"/>
          </a:bodyPr>
          <a:lstStyle/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ohiopopInfo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filter(state == "OH")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summarize(</a:t>
            </a:r>
            <a:r>
              <a:rPr lang="en-US" i="1" dirty="0" err="1">
                <a:solidFill>
                  <a:schemeClr val="accent6"/>
                </a:solidFill>
              </a:rPr>
              <a:t>popMean</a:t>
            </a:r>
            <a:r>
              <a:rPr lang="en-US" i="1" dirty="0">
                <a:solidFill>
                  <a:schemeClr val="accent6"/>
                </a:solidFill>
              </a:rPr>
              <a:t> = mean(</a:t>
            </a:r>
            <a:r>
              <a:rPr lang="en-US" i="1" dirty="0" err="1">
                <a:solidFill>
                  <a:schemeClr val="accent6"/>
                </a:solidFill>
              </a:rPr>
              <a:t>poptotal</a:t>
            </a:r>
            <a:r>
              <a:rPr lang="en-US" i="1" dirty="0">
                <a:solidFill>
                  <a:schemeClr val="accent6"/>
                </a:solidFill>
              </a:rPr>
              <a:t>)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 err="1">
                <a:solidFill>
                  <a:srgbClr val="C00000"/>
                </a:solidFill>
              </a:rPr>
              <a:t>popWhiteMean</a:t>
            </a:r>
            <a:r>
              <a:rPr lang="en-US" i="1" dirty="0">
                <a:solidFill>
                  <a:srgbClr val="C00000"/>
                </a:solidFill>
              </a:rPr>
              <a:t> = mean(</a:t>
            </a:r>
            <a:r>
              <a:rPr lang="en-US" i="1" dirty="0" err="1">
                <a:solidFill>
                  <a:srgbClr val="C00000"/>
                </a:solidFill>
              </a:rPr>
              <a:t>popwhite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), 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 err="1">
                <a:solidFill>
                  <a:srgbClr val="7030A0"/>
                </a:solidFill>
              </a:rPr>
              <a:t>popBlackMean</a:t>
            </a:r>
            <a:r>
              <a:rPr lang="en-US" i="1" dirty="0">
                <a:solidFill>
                  <a:srgbClr val="7030A0"/>
                </a:solidFill>
              </a:rPr>
              <a:t> = mean(</a:t>
            </a:r>
            <a:r>
              <a:rPr lang="en-US" i="1" dirty="0" err="1">
                <a:solidFill>
                  <a:srgbClr val="7030A0"/>
                </a:solidFill>
              </a:rPr>
              <a:t>popblack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), 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popAmerIndMean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mean(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popamerindian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popAsianMean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mean(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popasian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), 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i="1" dirty="0" err="1">
                <a:solidFill>
                  <a:srgbClr val="DF9B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popOtherMean</a:t>
            </a:r>
            <a:r>
              <a:rPr lang="en-US" i="1" dirty="0">
                <a:solidFill>
                  <a:srgbClr val="DF9B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mean(</a:t>
            </a:r>
            <a:r>
              <a:rPr lang="en-US" i="1" dirty="0" err="1">
                <a:solidFill>
                  <a:srgbClr val="DF9B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popother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View(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ohiopopInfo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pic>
        <p:nvPicPr>
          <p:cNvPr id="4098" name="Picture 2" descr="Image result for oh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061" y="2180496"/>
            <a:ext cx="3251475" cy="358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630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Summarize – Reduces Summary Statistics to 1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631" y="2268045"/>
            <a:ext cx="6728297" cy="425921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popInfo</a:t>
            </a:r>
            <a:r>
              <a:rPr lang="en-US" dirty="0"/>
              <a:t>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dirty="0"/>
              <a:t> </a:t>
            </a:r>
            <a:r>
              <a:rPr lang="en-US" dirty="0" err="1"/>
              <a:t>midwest</a:t>
            </a:r>
            <a:r>
              <a:rPr lang="en-US" dirty="0"/>
              <a:t> %&gt;%</a:t>
            </a:r>
          </a:p>
          <a:p>
            <a:r>
              <a:rPr lang="en-US" dirty="0"/>
              <a:t>  </a:t>
            </a:r>
            <a:r>
              <a:rPr lang="en-US" dirty="0" err="1"/>
              <a:t>group_by</a:t>
            </a:r>
            <a:r>
              <a:rPr lang="en-US" dirty="0"/>
              <a:t>(state) %&gt;%</a:t>
            </a:r>
          </a:p>
          <a:p>
            <a:r>
              <a:rPr lang="en-US" dirty="0"/>
              <a:t>  summarize(</a:t>
            </a:r>
            <a:r>
              <a:rPr lang="en-US" sz="2600" i="1" dirty="0" err="1">
                <a:solidFill>
                  <a:schemeClr val="accent6"/>
                </a:solidFill>
              </a:rPr>
              <a:t>popMean</a:t>
            </a:r>
            <a:r>
              <a:rPr lang="en-US" sz="2600" i="1" dirty="0">
                <a:solidFill>
                  <a:schemeClr val="accent6"/>
                </a:solidFill>
              </a:rPr>
              <a:t> =</a:t>
            </a:r>
            <a:r>
              <a:rPr lang="en-US" dirty="0"/>
              <a:t> </a:t>
            </a:r>
            <a:r>
              <a:rPr lang="en-US" sz="2600" i="1" dirty="0">
                <a:solidFill>
                  <a:schemeClr val="accent6"/>
                </a:solidFill>
              </a:rPr>
              <a:t>mean(</a:t>
            </a:r>
            <a:r>
              <a:rPr lang="en-US" sz="2600" i="1" dirty="0" err="1">
                <a:solidFill>
                  <a:schemeClr val="accent6"/>
                </a:solidFill>
              </a:rPr>
              <a:t>poptotal</a:t>
            </a:r>
            <a:r>
              <a:rPr lang="en-US" dirty="0"/>
              <a:t>), </a:t>
            </a:r>
            <a:br>
              <a:rPr lang="en-US" dirty="0"/>
            </a:br>
            <a:r>
              <a:rPr lang="en-US" sz="2600" i="1" dirty="0" err="1">
                <a:solidFill>
                  <a:srgbClr val="C00000"/>
                </a:solidFill>
              </a:rPr>
              <a:t>popWhiteMean</a:t>
            </a:r>
            <a:r>
              <a:rPr lang="en-US" sz="2600" i="1" dirty="0">
                <a:solidFill>
                  <a:srgbClr val="C00000"/>
                </a:solidFill>
              </a:rPr>
              <a:t> = mean(</a:t>
            </a:r>
            <a:r>
              <a:rPr lang="en-US" sz="2600" i="1" dirty="0" err="1">
                <a:solidFill>
                  <a:srgbClr val="C00000"/>
                </a:solidFill>
              </a:rPr>
              <a:t>popwhite</a:t>
            </a:r>
            <a:r>
              <a:rPr lang="en-US" dirty="0"/>
              <a:t>), </a:t>
            </a:r>
            <a:br>
              <a:rPr lang="en-US" dirty="0"/>
            </a:br>
            <a:r>
              <a:rPr lang="en-US" sz="2600" i="1" dirty="0" err="1">
                <a:solidFill>
                  <a:srgbClr val="7030A0"/>
                </a:solidFill>
              </a:rPr>
              <a:t>popBlackMean</a:t>
            </a:r>
            <a:r>
              <a:rPr lang="en-US" sz="2600" i="1" dirty="0">
                <a:solidFill>
                  <a:srgbClr val="7030A0"/>
                </a:solidFill>
              </a:rPr>
              <a:t> = mean(</a:t>
            </a:r>
            <a:r>
              <a:rPr lang="en-US" sz="2600" i="1" dirty="0" err="1">
                <a:solidFill>
                  <a:srgbClr val="7030A0"/>
                </a:solidFill>
              </a:rPr>
              <a:t>popblack</a:t>
            </a:r>
            <a:r>
              <a:rPr lang="en-US" dirty="0"/>
              <a:t>), </a:t>
            </a:r>
            <a:br>
              <a:rPr lang="en-US" dirty="0"/>
            </a:br>
            <a:r>
              <a:rPr lang="en-US" sz="2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popAmerIndMean</a:t>
            </a:r>
            <a:r>
              <a:rPr lang="en-US" sz="2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= mean(</a:t>
            </a:r>
            <a:r>
              <a:rPr lang="en-US" sz="2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popamerindian</a:t>
            </a:r>
            <a:r>
              <a:rPr lang="en-US" dirty="0"/>
              <a:t>), </a:t>
            </a:r>
            <a:br>
              <a:rPr lang="en-US" dirty="0"/>
            </a:br>
            <a:r>
              <a:rPr lang="en-US" sz="26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popAsianMean</a:t>
            </a:r>
            <a:r>
              <a:rPr lang="en-US" sz="26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mean(</a:t>
            </a:r>
            <a:r>
              <a:rPr lang="en-US" sz="26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popasian</a:t>
            </a:r>
            <a:r>
              <a:rPr lang="en-US" dirty="0"/>
              <a:t>), </a:t>
            </a:r>
            <a:br>
              <a:rPr lang="en-US" dirty="0"/>
            </a:br>
            <a:r>
              <a:rPr lang="en-US" sz="2600" i="1" dirty="0" err="1">
                <a:solidFill>
                  <a:srgbClr val="DF9B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popOtherMean</a:t>
            </a:r>
            <a:r>
              <a:rPr lang="en-US" sz="2600" i="1" dirty="0">
                <a:solidFill>
                  <a:srgbClr val="DF9B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mean(</a:t>
            </a:r>
            <a:r>
              <a:rPr lang="en-US" sz="2600" i="1" dirty="0" err="1">
                <a:solidFill>
                  <a:srgbClr val="DF9B3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popother</a:t>
            </a:r>
            <a:r>
              <a:rPr lang="en-US" dirty="0"/>
              <a:t>))</a:t>
            </a:r>
          </a:p>
          <a:p>
            <a:r>
              <a:rPr lang="en-US" dirty="0"/>
              <a:t>View(</a:t>
            </a:r>
            <a:r>
              <a:rPr lang="en-US" dirty="0" err="1"/>
              <a:t>popInfo</a:t>
            </a:r>
            <a:r>
              <a:rPr lang="en-US" dirty="0"/>
              <a:t>)</a:t>
            </a:r>
          </a:p>
        </p:txBody>
      </p:sp>
      <p:pic>
        <p:nvPicPr>
          <p:cNvPr id="10242" name="Picture 2" descr="Image result for midw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835" y="2663115"/>
            <a:ext cx="4817701" cy="3056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474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0F6FB-63DE-4226-AF4D-36F325C5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Mutate – Creates a New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4016A-530F-40E4-BB48-DDBD8E1FE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01135"/>
          </a:xfrm>
        </p:spPr>
        <p:txBody>
          <a:bodyPr/>
          <a:lstStyle/>
          <a:p>
            <a:r>
              <a:rPr lang="en-US" dirty="0"/>
              <a:t>Use mutate instead of $ to add a column</a:t>
            </a:r>
          </a:p>
          <a:p>
            <a:r>
              <a:rPr lang="en-US" sz="2600" i="1" dirty="0" err="1">
                <a:solidFill>
                  <a:schemeClr val="accent2">
                    <a:lumMod val="75000"/>
                  </a:schemeClr>
                </a:solidFill>
              </a:rPr>
              <a:t>ohiostats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 &lt;- </a:t>
            </a:r>
            <a:r>
              <a:rPr lang="en-US" sz="2600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 %&gt;%  </a:t>
            </a:r>
          </a:p>
          <a:p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filter(state == "OH") %&gt;%  </a:t>
            </a:r>
          </a:p>
          <a:p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mutate(</a:t>
            </a:r>
            <a:r>
              <a:rPr lang="en-US" sz="2600" b="1" i="1" dirty="0" err="1">
                <a:solidFill>
                  <a:schemeClr val="accent5">
                    <a:lumMod val="50000"/>
                  </a:schemeClr>
                </a:solidFill>
              </a:rPr>
              <a:t>popwhitedensity</a:t>
            </a:r>
            <a:r>
              <a:rPr lang="en-US" sz="2600" b="1" i="1" dirty="0">
                <a:solidFill>
                  <a:schemeClr val="accent5">
                    <a:lumMod val="50000"/>
                  </a:schemeClr>
                </a:solidFill>
              </a:rPr>
              <a:t> = </a:t>
            </a:r>
            <a:r>
              <a:rPr lang="en-US" sz="2600" b="1" i="1" dirty="0" err="1">
                <a:solidFill>
                  <a:schemeClr val="accent5">
                    <a:lumMod val="50000"/>
                  </a:schemeClr>
                </a:solidFill>
              </a:rPr>
              <a:t>popwhite</a:t>
            </a:r>
            <a:r>
              <a:rPr lang="en-US" sz="2600" b="1" i="1" dirty="0">
                <a:solidFill>
                  <a:schemeClr val="accent5">
                    <a:lumMod val="50000"/>
                  </a:schemeClr>
                </a:solidFill>
              </a:rPr>
              <a:t>/area/1000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b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          </a:t>
            </a:r>
            <a:r>
              <a:rPr lang="en-US" sz="2600" b="1" i="1" dirty="0" err="1">
                <a:solidFill>
                  <a:srgbClr val="7030A0"/>
                </a:solidFill>
              </a:rPr>
              <a:t>popblackdensity</a:t>
            </a:r>
            <a:r>
              <a:rPr lang="en-US" sz="2600" b="1" i="1" dirty="0">
                <a:solidFill>
                  <a:srgbClr val="7030A0"/>
                </a:solidFill>
              </a:rPr>
              <a:t> = </a:t>
            </a:r>
            <a:r>
              <a:rPr lang="en-US" sz="2600" b="1" i="1" dirty="0" err="1">
                <a:solidFill>
                  <a:srgbClr val="7030A0"/>
                </a:solidFill>
              </a:rPr>
              <a:t>popblack</a:t>
            </a:r>
            <a:r>
              <a:rPr lang="en-US" sz="2600" b="1" i="1" dirty="0">
                <a:solidFill>
                  <a:srgbClr val="7030A0"/>
                </a:solidFill>
              </a:rPr>
              <a:t>/area/1000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b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          </a:t>
            </a:r>
            <a:r>
              <a:rPr lang="en-US" sz="2600" b="1" i="1" dirty="0" err="1">
                <a:solidFill>
                  <a:schemeClr val="accent2">
                    <a:lumMod val="75000"/>
                  </a:schemeClr>
                </a:solidFill>
              </a:rPr>
              <a:t>popamerindiandensity</a:t>
            </a:r>
            <a:r>
              <a:rPr lang="en-US" sz="2600" b="1" i="1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US" sz="2600" b="1" i="1" dirty="0" err="1">
                <a:solidFill>
                  <a:schemeClr val="accent2">
                    <a:lumMod val="75000"/>
                  </a:schemeClr>
                </a:solidFill>
              </a:rPr>
              <a:t>popamerindian</a:t>
            </a:r>
            <a:r>
              <a:rPr lang="en-US" sz="2600" b="1" i="1" dirty="0">
                <a:solidFill>
                  <a:schemeClr val="accent2">
                    <a:lumMod val="75000"/>
                  </a:schemeClr>
                </a:solidFill>
              </a:rPr>
              <a:t>/area/1000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b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          </a:t>
            </a:r>
            <a:r>
              <a:rPr lang="en-US" sz="2600" b="1" i="1" dirty="0" err="1">
                <a:solidFill>
                  <a:srgbClr val="C00000"/>
                </a:solidFill>
              </a:rPr>
              <a:t>popasiandensity</a:t>
            </a:r>
            <a:r>
              <a:rPr lang="en-US" sz="2600" b="1" i="1" dirty="0">
                <a:solidFill>
                  <a:srgbClr val="C00000"/>
                </a:solidFill>
              </a:rPr>
              <a:t> = </a:t>
            </a:r>
            <a:r>
              <a:rPr lang="en-US" sz="2600" b="1" i="1" dirty="0" err="1">
                <a:solidFill>
                  <a:srgbClr val="C00000"/>
                </a:solidFill>
              </a:rPr>
              <a:t>popasian</a:t>
            </a:r>
            <a:r>
              <a:rPr lang="en-US" sz="2600" b="1" i="1" dirty="0">
                <a:solidFill>
                  <a:srgbClr val="C00000"/>
                </a:solidFill>
              </a:rPr>
              <a:t>/area/1000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b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          </a:t>
            </a:r>
            <a:r>
              <a:rPr lang="en-US" sz="2600" b="1" i="1" dirty="0" err="1">
                <a:solidFill>
                  <a:schemeClr val="tx1"/>
                </a:solidFill>
              </a:rPr>
              <a:t>popotherdensity</a:t>
            </a:r>
            <a:r>
              <a:rPr lang="en-US" sz="2600" b="1" i="1" dirty="0">
                <a:solidFill>
                  <a:schemeClr val="tx1"/>
                </a:solidFill>
              </a:rPr>
              <a:t> = </a:t>
            </a:r>
            <a:r>
              <a:rPr lang="en-US" sz="2600" b="1" i="1" dirty="0" err="1">
                <a:solidFill>
                  <a:schemeClr val="tx1"/>
                </a:solidFill>
              </a:rPr>
              <a:t>popother</a:t>
            </a:r>
            <a:r>
              <a:rPr lang="en-US" sz="2600" b="1" i="1" dirty="0">
                <a:solidFill>
                  <a:schemeClr val="tx1"/>
                </a:solidFill>
              </a:rPr>
              <a:t>/area/1000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A31B8C-E67F-4E71-B333-305A95337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371" y="2371387"/>
            <a:ext cx="3706436" cy="176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91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Mutate across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38528"/>
            <a:ext cx="11419219" cy="5019472"/>
          </a:xfrm>
        </p:spPr>
        <p:txBody>
          <a:bodyPr>
            <a:normAutofit fontScale="92500"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countyInfo_2 </a:t>
            </a:r>
            <a:r>
              <a:rPr lang="en-US" sz="31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group_by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(state) %&gt;%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select(state,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popdensity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mutate(across(.cols= everything(), list(mean,=mean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sd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=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sd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n-distinct=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n_distinct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)))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distinct(state,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poptotal_mean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popdensity_mean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popdensity_n_distinct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rename(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</a:rPr>
              <a:t>mean_population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 = 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</a:rPr>
              <a:t>poptotal_mean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</a:t>
            </a:r>
            <a:r>
              <a:rPr lang="en-US" i="1" dirty="0" err="1">
                <a:solidFill>
                  <a:srgbClr val="7030A0"/>
                </a:solidFill>
              </a:rPr>
              <a:t>mean_population_density</a:t>
            </a:r>
            <a:r>
              <a:rPr lang="en-US" i="1" dirty="0">
                <a:solidFill>
                  <a:srgbClr val="7030A0"/>
                </a:solidFill>
              </a:rPr>
              <a:t> = </a:t>
            </a:r>
            <a:r>
              <a:rPr lang="en-US" i="1" dirty="0" err="1">
                <a:solidFill>
                  <a:srgbClr val="7030A0"/>
                </a:solidFill>
              </a:rPr>
              <a:t>popdensity_mean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</a:t>
            </a:r>
            <a:r>
              <a:rPr lang="en-US" i="1" dirty="0" err="1">
                <a:solidFill>
                  <a:srgbClr val="C00000"/>
                </a:solidFill>
              </a:rPr>
              <a:t>number_of_counties</a:t>
            </a:r>
            <a:r>
              <a:rPr lang="en-US" i="1" dirty="0">
                <a:solidFill>
                  <a:srgbClr val="C00000"/>
                </a:solidFill>
              </a:rPr>
              <a:t> = </a:t>
            </a:r>
            <a:r>
              <a:rPr lang="en-US" i="1" dirty="0" err="1">
                <a:solidFill>
                  <a:srgbClr val="C00000"/>
                </a:solidFill>
              </a:rPr>
              <a:t>popdensity_n_distinct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View(countyInfo_2)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5996" y="3527272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%&gt;%</a:t>
            </a:r>
          </a:p>
        </p:txBody>
      </p:sp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490115BA-422C-437B-9777-86D1B8EB2A19}"/>
              </a:ext>
            </a:extLst>
          </p:cNvPr>
          <p:cNvSpPr/>
          <p:nvPr/>
        </p:nvSpPr>
        <p:spPr>
          <a:xfrm>
            <a:off x="7245531" y="2429692"/>
            <a:ext cx="4365276" cy="1236618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Summary Statistics:</a:t>
            </a:r>
          </a:p>
          <a:p>
            <a:pPr algn="ctr"/>
            <a:r>
              <a:rPr lang="en-US" dirty="0"/>
              <a:t>mean, </a:t>
            </a:r>
            <a:r>
              <a:rPr lang="en-US" dirty="0" err="1"/>
              <a:t>sd</a:t>
            </a:r>
            <a:r>
              <a:rPr lang="en-US" dirty="0"/>
              <a:t>, median, min, max, </a:t>
            </a:r>
            <a:r>
              <a:rPr lang="en-US" dirty="0" err="1"/>
              <a:t>n_distinct</a:t>
            </a:r>
            <a:endParaRPr lang="en-US" dirty="0"/>
          </a:p>
          <a:p>
            <a:pPr algn="ctr"/>
            <a:r>
              <a:rPr lang="en-US" dirty="0"/>
              <a:t>and more …</a:t>
            </a:r>
          </a:p>
        </p:txBody>
      </p:sp>
    </p:spTree>
    <p:extLst>
      <p:ext uri="{BB962C8B-B14F-4D97-AF65-F5344CB8AC3E}">
        <p14:creationId xmlns:p14="http://schemas.microsoft.com/office/powerpoint/2010/main" val="131727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Mutate across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38528"/>
            <a:ext cx="11419219" cy="501947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Can also use with a lambda function when needing to do the same action across many columns</a:t>
            </a:r>
          </a:p>
          <a:p>
            <a:pPr lvl="1"/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~   tells R this is a lambda function</a:t>
            </a:r>
          </a:p>
          <a:p>
            <a:pPr lvl="1"/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.x   refers to each column</a:t>
            </a:r>
          </a:p>
          <a:p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num1 &lt;- c(3, 9, -1, 14, 2)</a:t>
            </a:r>
          </a:p>
          <a:p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num2 &lt;- c(20, 70, -32, 116, 20)</a:t>
            </a:r>
          </a:p>
          <a:p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df &lt;- tibble(num1 = num1,</a:t>
            </a:r>
          </a:p>
          <a:p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             num2 = num2)</a:t>
            </a:r>
          </a:p>
          <a:p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update_num &lt;- df %&gt;%</a:t>
            </a:r>
          </a:p>
          <a:p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  mutate(across(num1:num2, </a:t>
            </a:r>
            <a:r>
              <a:rPr lang="pt-BR" b="1" i="1" dirty="0">
                <a:solidFill>
                  <a:srgbClr val="FF0000"/>
                </a:solidFill>
              </a:rPr>
              <a:t>~ .x / mean(.x)</a:t>
            </a:r>
            <a:r>
              <a:rPr lang="pt-BR" i="1" dirty="0">
                <a:solidFill>
                  <a:schemeClr val="accent2">
                    <a:lumMod val="75000"/>
                  </a:schemeClr>
                </a:solidFill>
              </a:rPr>
              <a:t>))</a:t>
            </a: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45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– Divides a Column Into Several Columns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 lnSpcReduction="10000"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schools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c("University of Mississippi, University, MS", "Mississippi State, Starkville, MS", "Southern, Hattiesburg, MS")</a:t>
            </a:r>
          </a:p>
          <a:p>
            <a:endParaRPr lang="en-US" dirty="0"/>
          </a:p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msSchools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tibble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(schools)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separate(schools, c("</a:t>
            </a: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School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", "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Location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"),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sep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=",", extra = "merge")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separate(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Location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, c("</a:t>
            </a:r>
            <a:r>
              <a:rPr lang="en-US" i="1" dirty="0">
                <a:solidFill>
                  <a:schemeClr val="tx1"/>
                </a:solidFill>
              </a:rPr>
              <a:t>City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", "</a:t>
            </a:r>
            <a:r>
              <a:rPr lang="en-US" i="1" dirty="0">
                <a:solidFill>
                  <a:srgbClr val="7030A0"/>
                </a:solidFill>
              </a:rPr>
              <a:t>State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"),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sep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=",")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msSchools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4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Mutate – Case 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38528"/>
            <a:ext cx="11029615" cy="5019472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countyInfo_2 </a:t>
            </a:r>
            <a:r>
              <a:rPr lang="en-US" sz="31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group_by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(state) %&gt;%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select(state,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popdensity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mutate(across(.cols= everything(), list(mean,=mean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sd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=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sd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n-distinct=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n_distinct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)))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distinct(state,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poptotal_mean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popdensity_mean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popdensity_n_distinct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rename(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</a:rPr>
              <a:t>mean_population</a:t>
            </a:r>
            <a:r>
              <a:rPr lang="en-US" i="1" dirty="0">
                <a:solidFill>
                  <a:schemeClr val="accent5">
                    <a:lumMod val="50000"/>
                  </a:schemeClr>
                </a:solidFill>
              </a:rPr>
              <a:t> = </a:t>
            </a:r>
            <a:r>
              <a:rPr lang="en-US" i="1" dirty="0" err="1">
                <a:solidFill>
                  <a:schemeClr val="accent5">
                    <a:lumMod val="50000"/>
                  </a:schemeClr>
                </a:solidFill>
              </a:rPr>
              <a:t>poptotal_mean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</a:t>
            </a:r>
            <a:r>
              <a:rPr lang="en-US" i="1" dirty="0" err="1">
                <a:solidFill>
                  <a:srgbClr val="7030A0"/>
                </a:solidFill>
              </a:rPr>
              <a:t>mean_population_density</a:t>
            </a:r>
            <a:r>
              <a:rPr lang="en-US" i="1" dirty="0">
                <a:solidFill>
                  <a:srgbClr val="7030A0"/>
                </a:solidFill>
              </a:rPr>
              <a:t> = </a:t>
            </a:r>
            <a:r>
              <a:rPr lang="en-US" i="1" dirty="0" err="1">
                <a:solidFill>
                  <a:srgbClr val="7030A0"/>
                </a:solidFill>
              </a:rPr>
              <a:t>popdensity_mean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,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</a:t>
            </a:r>
            <a:r>
              <a:rPr lang="en-US" i="1" dirty="0" err="1">
                <a:solidFill>
                  <a:srgbClr val="C00000"/>
                </a:solidFill>
              </a:rPr>
              <a:t>number_of_counties</a:t>
            </a:r>
            <a:r>
              <a:rPr lang="en-US" i="1" dirty="0">
                <a:solidFill>
                  <a:srgbClr val="C00000"/>
                </a:solidFill>
              </a:rPr>
              <a:t> = </a:t>
            </a:r>
            <a:r>
              <a:rPr lang="en-US" i="1" dirty="0" err="1">
                <a:solidFill>
                  <a:srgbClr val="C00000"/>
                </a:solidFill>
              </a:rPr>
              <a:t>popdensity_n_distinct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mutate(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properState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US" i="1" dirty="0" err="1">
                <a:solidFill>
                  <a:schemeClr val="tx1"/>
                </a:solidFill>
              </a:rPr>
              <a:t>case_when</a:t>
            </a:r>
            <a:r>
              <a:rPr lang="en-US" i="1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state == "IL" ~ "Illinois", state == "IN" ~ "Indiana", state == "MI" ~ "Michigan", state == "OH" ~ "Ohio", state == "WI" ~ "Wisconsin"</a:t>
            </a:r>
            <a:r>
              <a:rPr lang="en-US" b="1" i="1" dirty="0">
                <a:solidFill>
                  <a:schemeClr val="tx1"/>
                </a:solidFill>
              </a:rPr>
              <a:t>)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View(countyInfo_2)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57102" y="3275575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%&gt;%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2764" y="5044766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chemeClr val="accent2">
                    <a:lumMod val="75000"/>
                  </a:schemeClr>
                </a:solidFill>
              </a:rPr>
              <a:t>%&gt;%</a:t>
            </a:r>
          </a:p>
        </p:txBody>
      </p:sp>
      <p:sp>
        <p:nvSpPr>
          <p:cNvPr id="4" name="Oval 3"/>
          <p:cNvSpPr/>
          <p:nvPr/>
        </p:nvSpPr>
        <p:spPr>
          <a:xfrm>
            <a:off x="369167" y="5475041"/>
            <a:ext cx="11478275" cy="1101823"/>
          </a:xfrm>
          <a:prstGeom prst="ellipse">
            <a:avLst/>
          </a:prstGeom>
          <a:noFill/>
          <a:ln w="476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4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Case_When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case_when</a:t>
            </a:r>
            <a:r>
              <a:rPr lang="en-US" dirty="0"/>
              <a:t>(logical test ~ value)</a:t>
            </a:r>
          </a:p>
          <a:p>
            <a:r>
              <a:rPr lang="en-US" dirty="0"/>
              <a:t>Must account for all possible values</a:t>
            </a:r>
          </a:p>
          <a:p>
            <a:pPr lvl="1"/>
            <a:r>
              <a:rPr lang="en-US" dirty="0"/>
              <a:t>Data not found set to NA</a:t>
            </a:r>
          </a:p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studentData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tibble</a:t>
            </a:r>
            <a:r>
              <a:rPr lang="en-US" dirty="0"/>
              <a:t>(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students = c("John", "Susie", "Joe", "Ryan", "Jane"),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                           </a:t>
            </a:r>
            <a:r>
              <a:rPr lang="en-US" dirty="0">
                <a:solidFill>
                  <a:srgbClr val="7030A0"/>
                </a:solidFill>
              </a:rPr>
              <a:t>grades = c("B", "A", "D", "F", "C"))</a:t>
            </a:r>
          </a:p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studentData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&lt;-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studentData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mutate(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passFail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case_when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(grades == "A" ~ "Pass“))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endParaRPr lang="en-US" i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studentData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6" name="Left Arrow Callout 5"/>
          <p:cNvSpPr/>
          <p:nvPr/>
        </p:nvSpPr>
        <p:spPr>
          <a:xfrm>
            <a:off x="8090168" y="4404514"/>
            <a:ext cx="3735421" cy="1001949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9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but A’s will list as NA</a:t>
            </a:r>
          </a:p>
        </p:txBody>
      </p:sp>
    </p:spTree>
    <p:extLst>
      <p:ext uri="{BB962C8B-B14F-4D97-AF65-F5344CB8AC3E}">
        <p14:creationId xmlns:p14="http://schemas.microsoft.com/office/powerpoint/2010/main" val="172718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Case_When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4023" y="1891243"/>
            <a:ext cx="12340045" cy="468873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case_when</a:t>
            </a:r>
            <a:r>
              <a:rPr lang="en-US" dirty="0"/>
              <a:t>(logical test ~ value)</a:t>
            </a:r>
          </a:p>
          <a:p>
            <a:r>
              <a:rPr lang="en-US" dirty="0"/>
              <a:t>Must account for all possible values</a:t>
            </a:r>
          </a:p>
          <a:p>
            <a:pPr lvl="1"/>
            <a:r>
              <a:rPr lang="en-US" dirty="0"/>
              <a:t>Data not found set to NA</a:t>
            </a:r>
          </a:p>
          <a:p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studentData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31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tibble</a:t>
            </a:r>
            <a:r>
              <a:rPr lang="en-US" dirty="0"/>
              <a:t>(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students = c("John", "Susie", "Joe", "Ryan", "Jane"),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                           </a:t>
            </a:r>
            <a:r>
              <a:rPr lang="en-US" dirty="0">
                <a:solidFill>
                  <a:srgbClr val="7030A0"/>
                </a:solidFill>
              </a:rPr>
              <a:t>grades = c("B", "A", "D", "F", "C"))</a:t>
            </a:r>
          </a:p>
          <a:p>
            <a:r>
              <a:rPr lang="en-US" sz="2600" dirty="0" err="1"/>
              <a:t>studentData</a:t>
            </a:r>
            <a:r>
              <a:rPr lang="en-US" sz="2600" dirty="0"/>
              <a:t>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sz="2600" dirty="0"/>
              <a:t> </a:t>
            </a:r>
            <a:r>
              <a:rPr lang="en-US" sz="2600" dirty="0" err="1"/>
              <a:t>studentData</a:t>
            </a:r>
            <a:r>
              <a:rPr lang="en-US" sz="2600" dirty="0"/>
              <a:t> %&gt;%</a:t>
            </a:r>
          </a:p>
          <a:p>
            <a:r>
              <a:rPr lang="en-US" sz="2600" dirty="0"/>
              <a:t>  mutate(</a:t>
            </a:r>
            <a:r>
              <a:rPr lang="en-US" sz="2600" dirty="0" err="1"/>
              <a:t>passFail</a:t>
            </a:r>
            <a:r>
              <a:rPr lang="en-US" sz="2600" dirty="0"/>
              <a:t> = </a:t>
            </a:r>
            <a:r>
              <a:rPr lang="en-US" sz="2600" dirty="0" err="1"/>
              <a:t>case_when</a:t>
            </a:r>
            <a:r>
              <a:rPr lang="en-US" sz="2600" dirty="0"/>
              <a:t>(grades == "A" | grades == “B” | grades == “C” ~ "Pass", </a:t>
            </a:r>
            <a:br>
              <a:rPr lang="en-US" sz="2600" dirty="0"/>
            </a:br>
            <a:r>
              <a:rPr lang="en-US" sz="2600" dirty="0"/>
              <a:t>                                              TRUE ~ "Fail"))</a:t>
            </a:r>
            <a:br>
              <a:rPr lang="en-US" dirty="0"/>
            </a:br>
            <a:endParaRPr lang="en-US" dirty="0"/>
          </a:p>
          <a:p>
            <a:r>
              <a:rPr lang="en-US" dirty="0"/>
              <a:t>View(</a:t>
            </a:r>
            <a:r>
              <a:rPr lang="en-US" dirty="0" err="1"/>
              <a:t>studentData</a:t>
            </a:r>
            <a:r>
              <a:rPr lang="en-US" dirty="0"/>
              <a:t>)</a:t>
            </a:r>
          </a:p>
        </p:txBody>
      </p:sp>
      <p:sp>
        <p:nvSpPr>
          <p:cNvPr id="6" name="Left Arrow Callout 5"/>
          <p:cNvSpPr/>
          <p:nvPr/>
        </p:nvSpPr>
        <p:spPr>
          <a:xfrm>
            <a:off x="6284257" y="5249500"/>
            <a:ext cx="3567587" cy="383177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59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Only D and F are Failing</a:t>
            </a:r>
          </a:p>
        </p:txBody>
      </p:sp>
    </p:spTree>
    <p:extLst>
      <p:ext uri="{BB962C8B-B14F-4D97-AF65-F5344CB8AC3E}">
        <p14:creationId xmlns:p14="http://schemas.microsoft.com/office/powerpoint/2010/main" val="246058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948981"/>
            <a:ext cx="11029615" cy="3678303"/>
          </a:xfrm>
        </p:spPr>
        <p:txBody>
          <a:bodyPr/>
          <a:lstStyle/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mutate(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properState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US" i="1" dirty="0" err="1">
                <a:solidFill>
                  <a:schemeClr val="tx1"/>
                </a:solidFill>
              </a:rPr>
              <a:t>case_when</a:t>
            </a:r>
            <a:r>
              <a:rPr lang="en-US" i="1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state == "IL" ~ "Illinois",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  state == "IN" ~ "Indiana",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  state == "MI" ~ "Michigan",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  state == "OH" ~ "Ohio", </a:t>
            </a:r>
            <a:br>
              <a:rPr lang="en-US" i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                                            state == "WI" ~ "Wisconsin"</a:t>
            </a:r>
            <a:r>
              <a:rPr lang="en-US" b="1" i="1" dirty="0">
                <a:solidFill>
                  <a:schemeClr val="tx1"/>
                </a:solidFill>
              </a:rPr>
              <a:t>)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4" name="Down Arrow Callout 3"/>
          <p:cNvSpPr/>
          <p:nvPr/>
        </p:nvSpPr>
        <p:spPr>
          <a:xfrm>
            <a:off x="5661498" y="2130358"/>
            <a:ext cx="2762655" cy="982493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states in </a:t>
            </a:r>
            <a:r>
              <a:rPr lang="en-US" dirty="0" err="1"/>
              <a:t>midwest</a:t>
            </a:r>
            <a:r>
              <a:rPr lang="en-US" dirty="0"/>
              <a:t> accounted for</a:t>
            </a:r>
          </a:p>
        </p:txBody>
      </p:sp>
    </p:spTree>
    <p:extLst>
      <p:ext uri="{BB962C8B-B14F-4D97-AF65-F5344CB8AC3E}">
        <p14:creationId xmlns:p14="http://schemas.microsoft.com/office/powerpoint/2010/main" val="44718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Sample_n</a:t>
            </a:r>
            <a:r>
              <a:rPr lang="en-US" dirty="0"/>
              <a:t> – Randomly selects from a </a:t>
            </a:r>
            <a:r>
              <a:rPr lang="en-US" dirty="0" err="1"/>
              <a:t>tibble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3219" y="2268045"/>
            <a:ext cx="4730110" cy="3678303"/>
          </a:xfrm>
        </p:spPr>
        <p:txBody>
          <a:bodyPr/>
          <a:lstStyle/>
          <a:p>
            <a:r>
              <a:rPr lang="en-US" dirty="0"/>
              <a:t>Randomly select 100 Midwestern counties: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state100 </a:t>
            </a:r>
            <a:r>
              <a:rPr lang="en-US" sz="26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i="1" dirty="0" err="1">
                <a:solidFill>
                  <a:schemeClr val="accent2">
                    <a:lumMod val="75000"/>
                  </a:schemeClr>
                </a:solidFill>
              </a:rPr>
              <a:t>sample_n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(100)</a:t>
            </a:r>
          </a:p>
          <a:p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View(state100)</a:t>
            </a:r>
          </a:p>
        </p:txBody>
      </p:sp>
      <p:pic>
        <p:nvPicPr>
          <p:cNvPr id="13314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46714" y="2005398"/>
            <a:ext cx="3353762" cy="451602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5034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– Return a Column as a Vector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07004" y="1964987"/>
            <a:ext cx="5896579" cy="4134256"/>
          </a:xfrm>
        </p:spPr>
        <p:txBody>
          <a:bodyPr>
            <a:normAutofit fontScale="70000" lnSpcReduction="20000"/>
          </a:bodyPr>
          <a:lstStyle/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glimpse(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pPr lvl="1"/>
            <a:r>
              <a:rPr lang="en-US" dirty="0"/>
              <a:t>How many observations?</a:t>
            </a:r>
          </a:p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7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dirty="0"/>
              <a:t>  </a:t>
            </a:r>
            <a:r>
              <a:rPr lang="en-US" sz="26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summarize(</a:t>
            </a:r>
            <a:r>
              <a:rPr lang="en-US" sz="26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popMean</a:t>
            </a:r>
            <a:r>
              <a:rPr lang="en-US" sz="26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mean(</a:t>
            </a:r>
            <a:r>
              <a:rPr lang="en-US" sz="2600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poptotal</a:t>
            </a:r>
            <a:r>
              <a:rPr lang="en-US" sz="26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))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belowMean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7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filter(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belowMean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How many observations in </a:t>
            </a:r>
            <a:r>
              <a:rPr lang="en-US" dirty="0" err="1">
                <a:solidFill>
                  <a:schemeClr val="tx1"/>
                </a:solidFill>
              </a:rPr>
              <a:t>belowMean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88417" y="1935803"/>
            <a:ext cx="5422392" cy="497083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What is the issue as to why all observations listed?</a:t>
            </a:r>
          </a:p>
          <a:p>
            <a:pPr lvl="1"/>
            <a:r>
              <a:rPr lang="en-US" dirty="0" err="1"/>
              <a:t>popMean</a:t>
            </a:r>
            <a:r>
              <a:rPr lang="en-US" dirty="0"/>
              <a:t> is a </a:t>
            </a:r>
            <a:r>
              <a:rPr lang="en-US" dirty="0" err="1"/>
              <a:t>tibble</a:t>
            </a:r>
            <a:r>
              <a:rPr lang="en-US" dirty="0"/>
              <a:t>, not a vector</a:t>
            </a:r>
          </a:p>
          <a:p>
            <a:pPr lvl="1"/>
            <a:r>
              <a:rPr lang="en-US" dirty="0"/>
              <a:t>Use pull to convert mean to a vector before determining the number below the mean</a:t>
            </a:r>
          </a:p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7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summarize(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= mean(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))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pull()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  <a:b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US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belowMean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700" i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&lt;-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midwest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%&gt;%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filter(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poptotal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&lt; 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popMean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View(</a:t>
            </a:r>
            <a:r>
              <a:rPr lang="en-US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belowMean</a:t>
            </a:r>
            <a:r>
              <a:rPr lang="en-US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39711" y="4474723"/>
            <a:ext cx="1147863" cy="525294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3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RTheme1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Theme1" id="{6F74742C-CA52-48C0-9269-F86BBCC36A7B}" vid="{131DD306-3EC2-4718-82F0-6A5603621A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RTheme1</Template>
  <TotalTime>25096</TotalTime>
  <Words>2152</Words>
  <Application>Microsoft Office PowerPoint</Application>
  <PresentationFormat>Widescreen</PresentationFormat>
  <Paragraphs>241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</vt:lpstr>
      <vt:lpstr>Consolas</vt:lpstr>
      <vt:lpstr>Gill Sans MT</vt:lpstr>
      <vt:lpstr>Wingdings</vt:lpstr>
      <vt:lpstr>Wingdings 2</vt:lpstr>
      <vt:lpstr>RTheme1</vt:lpstr>
      <vt:lpstr>Dplyr &amp; Tidyr</vt:lpstr>
      <vt:lpstr>PowerPoint Presentation</vt:lpstr>
      <vt:lpstr>Pipe Operator</vt:lpstr>
      <vt:lpstr>Assignment Pipe</vt:lpstr>
      <vt:lpstr>Glimpse Function</vt:lpstr>
      <vt:lpstr>Dot Operator</vt:lpstr>
      <vt:lpstr>Dplyr &amp; Tidyr Functions</vt:lpstr>
      <vt:lpstr>Filter – Choose Rows Matching Criteria</vt:lpstr>
      <vt:lpstr>Select – Choose Columns by Name</vt:lpstr>
      <vt:lpstr>Select – Choose Columns by Name</vt:lpstr>
      <vt:lpstr>Slice – Choose Rows Using Indexes</vt:lpstr>
      <vt:lpstr>Count</vt:lpstr>
      <vt:lpstr>Distinct (Filters for Unique values) &amp; Arrange (Ordering)</vt:lpstr>
      <vt:lpstr>Summarize – Reduces Summary Statistics to 1 Value</vt:lpstr>
      <vt:lpstr>Summarize – Reduces Summary Statistics to 1 Value</vt:lpstr>
      <vt:lpstr>Mutate – Creates a New Column</vt:lpstr>
      <vt:lpstr>Mutate across</vt:lpstr>
      <vt:lpstr>Mutate across</vt:lpstr>
      <vt:lpstr>Separate – Divides a Column Into Several Columns</vt:lpstr>
      <vt:lpstr>Mutate – Case When</vt:lpstr>
      <vt:lpstr>Case_When</vt:lpstr>
      <vt:lpstr>Case_When</vt:lpstr>
      <vt:lpstr>PowerPoint Presentation</vt:lpstr>
      <vt:lpstr>Sample_n – Randomly selects from a tibble</vt:lpstr>
      <vt:lpstr>Pull – Return a Column as a Vector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dplyr</dc:title>
  <dc:creator>Kristin Davidson</dc:creator>
  <cp:lastModifiedBy>kristi</cp:lastModifiedBy>
  <cp:revision>86</cp:revision>
  <cp:lastPrinted>2019-08-23T21:12:24Z</cp:lastPrinted>
  <dcterms:created xsi:type="dcterms:W3CDTF">2019-07-27T18:35:01Z</dcterms:created>
  <dcterms:modified xsi:type="dcterms:W3CDTF">2024-09-25T14:35:51Z</dcterms:modified>
</cp:coreProperties>
</file>