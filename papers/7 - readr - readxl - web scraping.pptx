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handoutMasterIdLst>
    <p:handoutMasterId r:id="rId30"/>
  </p:handoutMasterIdLst>
  <p:sldIdLst>
    <p:sldId id="258" r:id="rId2"/>
    <p:sldId id="259" r:id="rId3"/>
    <p:sldId id="260" r:id="rId4"/>
    <p:sldId id="281" r:id="rId5"/>
    <p:sldId id="261" r:id="rId6"/>
    <p:sldId id="264" r:id="rId7"/>
    <p:sldId id="262" r:id="rId8"/>
    <p:sldId id="266" r:id="rId9"/>
    <p:sldId id="263" r:id="rId10"/>
    <p:sldId id="265" r:id="rId11"/>
    <p:sldId id="268" r:id="rId12"/>
    <p:sldId id="286" r:id="rId13"/>
    <p:sldId id="270" r:id="rId14"/>
    <p:sldId id="278" r:id="rId15"/>
    <p:sldId id="279" r:id="rId16"/>
    <p:sldId id="280" r:id="rId17"/>
    <p:sldId id="269" r:id="rId18"/>
    <p:sldId id="271" r:id="rId19"/>
    <p:sldId id="272" r:id="rId20"/>
    <p:sldId id="285" r:id="rId21"/>
    <p:sldId id="273" r:id="rId22"/>
    <p:sldId id="288" r:id="rId23"/>
    <p:sldId id="274" r:id="rId24"/>
    <p:sldId id="287" r:id="rId25"/>
    <p:sldId id="275" r:id="rId26"/>
    <p:sldId id="289" r:id="rId27"/>
    <p:sldId id="284" r:id="rId28"/>
  </p:sldIdLst>
  <p:sldSz cx="12192000" cy="6858000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44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64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Unit 7:  R Programming - readr &amp; readxl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64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6025D-9058-4D6D-8A5F-FBBFD331419C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71800" cy="466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967"/>
            <a:ext cx="2971800" cy="466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57FFBE-455B-49D3-A512-6A84FBFD3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998268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64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Unit 7:  R Programming - readr &amp; readxl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64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9762CB-DD2F-417C-94A7-73A8A1FFFB1A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413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73892"/>
            <a:ext cx="5486400" cy="366045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71800" cy="466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7"/>
            <a:ext cx="2971800" cy="466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4E1414-03E6-4934-AE97-178643F05C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950608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A3260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A3260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8471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5193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A3260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A3260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1351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5263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4735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7400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0519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A3260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A3260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1738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616CA0-919D-4A49-9C8A-62FDFB3A5183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7E5644-1E61-4311-A31E-84CB9C7AA8A9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2742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8905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A3260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A3260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5143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12548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yetanothermathprogrammingconsultant.blogspot.com/2016/12/reading-csv-files-in-r-readcsv-vs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analyticsvidhya.com/blog/2017/03/beginners-guide-on-web-scraping-in-r-using-rvest-with-hands-on-knowledge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js_htmldom.asp" TargetMode="External"/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chrome.google.com/webstore/detail/selectorgadget/mhjhnkcfbdhnjickkkdbjoemdmbfginb?hl=en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microsoft.com/office/2007/relationships/hdphoto" Target="../media/hdphoto1.wdp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Readr</a:t>
            </a:r>
            <a:r>
              <a:rPr lang="en-US" dirty="0"/>
              <a:t>, </a:t>
            </a:r>
            <a:r>
              <a:rPr lang="en-US" dirty="0" err="1"/>
              <a:t>readxl</a:t>
            </a:r>
            <a:r>
              <a:rPr lang="en-US" dirty="0"/>
              <a:t>, and </a:t>
            </a:r>
            <a:r>
              <a:rPr lang="en-US" dirty="0" err="1"/>
              <a:t>rvest</a:t>
            </a:r>
            <a:r>
              <a:rPr lang="en-US" dirty="0"/>
              <a:t> (Web Scraping)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CSCI 444</a:t>
            </a:r>
          </a:p>
        </p:txBody>
      </p:sp>
      <p:pic>
        <p:nvPicPr>
          <p:cNvPr id="6" name="Picture 2" descr="Image result for read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2544" y="3635648"/>
            <a:ext cx="1750858" cy="202944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Image result for readx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0219" y="3613923"/>
            <a:ext cx="1815643" cy="210312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1856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180496"/>
            <a:ext cx="6913302" cy="4238233"/>
          </a:xfrm>
        </p:spPr>
        <p:txBody>
          <a:bodyPr/>
          <a:lstStyle/>
          <a:p>
            <a:r>
              <a:rPr lang="en-US" dirty="0"/>
              <a:t>Base R offers many functions for importing</a:t>
            </a:r>
          </a:p>
          <a:p>
            <a:pPr lvl="1"/>
            <a:r>
              <a:rPr lang="en-US" dirty="0"/>
              <a:t>Imported as a data frame</a:t>
            </a:r>
          </a:p>
          <a:p>
            <a:pPr lvl="1"/>
            <a:r>
              <a:rPr lang="en-US" dirty="0"/>
              <a:t>Uses . (dot)</a:t>
            </a:r>
          </a:p>
          <a:p>
            <a:pPr lvl="1"/>
            <a:r>
              <a:rPr lang="en-US" dirty="0"/>
              <a:t>read.csv </a:t>
            </a:r>
            <a:r>
              <a:rPr lang="en-US" dirty="0">
                <a:sym typeface="Wingdings" panose="05000000000000000000" pitchFamily="2" charset="2"/>
              </a:rPr>
              <a:t> , (comma) separated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read.csv2   ; (semicolon) delimited</a:t>
            </a:r>
          </a:p>
          <a:p>
            <a:pPr lvl="1"/>
            <a:r>
              <a:rPr lang="en-US" dirty="0" err="1">
                <a:sym typeface="Wingdings" panose="05000000000000000000" pitchFamily="2" charset="2"/>
              </a:rPr>
              <a:t>read.delim</a:t>
            </a:r>
            <a:r>
              <a:rPr lang="en-US" dirty="0">
                <a:sym typeface="Wingdings" panose="05000000000000000000" pitchFamily="2" charset="2"/>
              </a:rPr>
              <a:t>   specify delimiter</a:t>
            </a:r>
          </a:p>
          <a:p>
            <a:pPr lvl="1"/>
            <a:r>
              <a:rPr lang="en-US" dirty="0" err="1">
                <a:sym typeface="Wingdings" panose="05000000000000000000" pitchFamily="2" charset="2"/>
              </a:rPr>
              <a:t>read.table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dirty="0"/>
          </a:p>
        </p:txBody>
      </p:sp>
      <p:pic>
        <p:nvPicPr>
          <p:cNvPr id="6" name="Picture 10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2037" y="2333161"/>
            <a:ext cx="3971925" cy="308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6158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Readr</a:t>
            </a:r>
            <a:r>
              <a:rPr lang="en-US" dirty="0"/>
              <a:t>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2074333"/>
            <a:ext cx="8195193" cy="470746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Preferred over Base R</a:t>
            </a:r>
          </a:p>
          <a:p>
            <a:pPr lvl="1"/>
            <a:r>
              <a:rPr lang="en-US" dirty="0"/>
              <a:t>Much faster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up to 10x</a:t>
            </a:r>
          </a:p>
          <a:p>
            <a:pPr lvl="1"/>
            <a:r>
              <a:rPr lang="en-US" dirty="0"/>
              <a:t>Uses consistent naming scheme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Arguments: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col_names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 </a:t>
            </a:r>
            <a:r>
              <a:rPr lang="en-US" dirty="0"/>
              <a:t>and 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col_types</a:t>
            </a:r>
            <a:r>
              <a:rPr lang="en-US" dirty="0"/>
              <a:t> instead of 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header</a:t>
            </a:r>
            <a:r>
              <a:rPr lang="en-US" dirty="0"/>
              <a:t> and 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colClasses</a:t>
            </a:r>
            <a:endParaRPr lang="en-US" i="1" dirty="0">
              <a:solidFill>
                <a:schemeClr val="accent2">
                  <a:lumMod val="75000"/>
                </a:schemeClr>
              </a:solidFill>
            </a:endParaRPr>
          </a:p>
          <a:p>
            <a:pPr lvl="3"/>
            <a:r>
              <a:rPr lang="fr-FR" i="1" dirty="0" err="1">
                <a:solidFill>
                  <a:schemeClr val="accent2">
                    <a:lumMod val="75000"/>
                  </a:schemeClr>
                </a:solidFill>
              </a:rPr>
              <a:t>names</a:t>
            </a:r>
            <a:r>
              <a:rPr lang="fr-FR" i="1" dirty="0">
                <a:solidFill>
                  <a:schemeClr val="accent2">
                    <a:lumMod val="75000"/>
                  </a:schemeClr>
                </a:solidFill>
              </a:rPr>
              <a:t> &lt;- c("Q1", "Q2", "Q3", "Q4", "Q5", "Q6", "Q7", "Q8", "Q9","Q10")</a:t>
            </a:r>
            <a:br>
              <a:rPr lang="fr-FR" i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read_csv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i="1" dirty="0">
                <a:solidFill>
                  <a:srgbClr val="C00000"/>
                </a:solidFill>
              </a:rPr>
              <a:t>"data/myFile.csv"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n-US" i="1" dirty="0" err="1">
                <a:solidFill>
                  <a:schemeClr val="accent5">
                    <a:lumMod val="50000"/>
                  </a:schemeClr>
                </a:solidFill>
              </a:rPr>
              <a:t>col_names</a:t>
            </a:r>
            <a:r>
              <a:rPr lang="en-US" i="1" dirty="0">
                <a:solidFill>
                  <a:schemeClr val="accent5">
                    <a:lumMod val="50000"/>
                  </a:schemeClr>
                </a:solidFill>
              </a:rPr>
              <a:t> = names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n-US" i="1" dirty="0" err="1">
                <a:solidFill>
                  <a:srgbClr val="7030A0"/>
                </a:solidFill>
              </a:rPr>
              <a:t>col_types</a:t>
            </a:r>
            <a:r>
              <a:rPr lang="en-US" i="1" dirty="0">
                <a:solidFill>
                  <a:srgbClr val="7030A0"/>
                </a:solidFill>
              </a:rPr>
              <a:t> = cols(.default="c")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)</a:t>
            </a:r>
            <a:br>
              <a:rPr lang="en-US" i="1" dirty="0">
                <a:solidFill>
                  <a:srgbClr val="7030A0"/>
                </a:solidFill>
              </a:rPr>
            </a:b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read_csv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i="1" dirty="0">
                <a:solidFill>
                  <a:srgbClr val="C00000"/>
                </a:solidFill>
              </a:rPr>
              <a:t>"data/myFile2.csv"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n-US" i="1" dirty="0" err="1">
                <a:solidFill>
                  <a:schemeClr val="accent5">
                    <a:lumMod val="50000"/>
                  </a:schemeClr>
                </a:solidFill>
              </a:rPr>
              <a:t>col_names</a:t>
            </a:r>
            <a:r>
              <a:rPr lang="en-US" i="1" dirty="0">
                <a:solidFill>
                  <a:schemeClr val="accent5">
                    <a:lumMod val="50000"/>
                  </a:schemeClr>
                </a:solidFill>
              </a:rPr>
              <a:t> = names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n-US" i="1" dirty="0" err="1">
                <a:solidFill>
                  <a:srgbClr val="7030A0"/>
                </a:solidFill>
              </a:rPr>
              <a:t>col_types</a:t>
            </a:r>
            <a:r>
              <a:rPr lang="en-US" i="1" dirty="0">
                <a:solidFill>
                  <a:srgbClr val="7030A0"/>
                </a:solidFill>
              </a:rPr>
              <a:t> = cols(.default="c“, Q1="d", Q10 = "</a:t>
            </a:r>
            <a:r>
              <a:rPr lang="en-US" i="1" dirty="0" err="1">
                <a:solidFill>
                  <a:srgbClr val="7030A0"/>
                </a:solidFill>
              </a:rPr>
              <a:t>i</a:t>
            </a:r>
            <a:r>
              <a:rPr lang="en-US" i="1" dirty="0">
                <a:solidFill>
                  <a:srgbClr val="7030A0"/>
                </a:solidFill>
              </a:rPr>
              <a:t>“)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)</a:t>
            </a:r>
          </a:p>
          <a:p>
            <a:pPr lvl="3"/>
            <a:r>
              <a:rPr lang="en-US" dirty="0"/>
              <a:t>Allows for spaces in header names </a:t>
            </a:r>
            <a:r>
              <a:rPr lang="en-US" dirty="0">
                <a:sym typeface="Wingdings" panose="05000000000000000000" pitchFamily="2" charset="2"/>
              </a:rPr>
              <a:t> encloses in `  ` (</a:t>
            </a:r>
            <a:r>
              <a:rPr lang="en-US" dirty="0" err="1">
                <a:sym typeface="Wingdings" panose="05000000000000000000" pitchFamily="2" charset="2"/>
              </a:rPr>
              <a:t>backticks</a:t>
            </a:r>
            <a:r>
              <a:rPr lang="en-US" dirty="0">
                <a:sym typeface="Wingdings" panose="05000000000000000000" pitchFamily="2" charset="2"/>
              </a:rPr>
              <a:t>)</a:t>
            </a:r>
            <a:endParaRPr lang="en-US" i="1" dirty="0">
              <a:solidFill>
                <a:schemeClr val="accent2">
                  <a:lumMod val="75000"/>
                </a:schemeClr>
              </a:solidFill>
            </a:endParaRPr>
          </a:p>
          <a:p>
            <a:pPr lvl="0"/>
            <a:r>
              <a:rPr lang="en-US" dirty="0"/>
              <a:t>Imports strings as strings</a:t>
            </a:r>
          </a:p>
          <a:p>
            <a:pPr lvl="1"/>
            <a:r>
              <a:rPr lang="en-US" dirty="0"/>
              <a:t>Use </a:t>
            </a:r>
            <a:r>
              <a:rPr lang="en-US" b="1" i="1" dirty="0" err="1">
                <a:solidFill>
                  <a:schemeClr val="accent2">
                    <a:lumMod val="75000"/>
                  </a:schemeClr>
                </a:solidFill>
              </a:rPr>
              <a:t>stringr</a:t>
            </a:r>
            <a:r>
              <a:rPr lang="en-US" b="1" i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/>
              <a:t>package to manipulate</a:t>
            </a:r>
          </a:p>
          <a:p>
            <a:pPr lvl="0"/>
            <a:r>
              <a:rPr lang="en-US" dirty="0"/>
              <a:t>Parses common date/time formats</a:t>
            </a:r>
          </a:p>
          <a:p>
            <a:pPr lvl="0"/>
            <a:r>
              <a:rPr lang="en-US" dirty="0"/>
              <a:t>Progress bar for large file imports</a:t>
            </a:r>
          </a:p>
          <a:p>
            <a:pPr lvl="0"/>
            <a:r>
              <a:rPr lang="en-US" dirty="0"/>
              <a:t>Slower for data tables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Use Base R’s </a:t>
            </a:r>
            <a:r>
              <a:rPr lang="en-US" dirty="0" err="1"/>
              <a:t>data.table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60612" y="6508327"/>
            <a:ext cx="8390964" cy="2734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u="sng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http://yetanothermathprogrammingconsultant.blogspot.com/2016/12/reading-csv-files-in-r-readcsv-vs.html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Image result for read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5193" y="1955119"/>
            <a:ext cx="2032975" cy="2356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 descr="Image result for string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1576" y="3746362"/>
            <a:ext cx="1953185" cy="2262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7387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Helpful </a:t>
            </a:r>
            <a:r>
              <a:rPr lang="en-US" dirty="0" err="1"/>
              <a:t>stringr</a:t>
            </a:r>
            <a:r>
              <a:rPr lang="en-US" dirty="0"/>
              <a:t> Functions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sz="half" idx="1"/>
          </p:nvPr>
        </p:nvSpPr>
        <p:spPr bwMode="auto">
          <a:xfrm>
            <a:off x="76200" y="2505085"/>
            <a:ext cx="6307015" cy="40010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457056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0" indent="0" defTabSz="914400">
              <a:buClrTx/>
              <a:buSzTx/>
              <a:buNone/>
            </a:pPr>
            <a:r>
              <a:rPr lang="en-US" altLang="en-US" sz="2000" dirty="0" err="1">
                <a:solidFill>
                  <a:srgbClr val="00193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str_subset</a:t>
            </a:r>
            <a:r>
              <a:rPr lang="en-US" altLang="en-US" sz="2000" dirty="0">
                <a:solidFill>
                  <a:srgbClr val="00193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(x, </a:t>
            </a:r>
            <a:r>
              <a:rPr lang="en-US" altLang="en-US" sz="2000" dirty="0">
                <a:solidFill>
                  <a:srgbClr val="0048A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"[</a:t>
            </a:r>
            <a:r>
              <a:rPr lang="en-US" altLang="en-US" sz="2000" dirty="0" err="1">
                <a:solidFill>
                  <a:srgbClr val="0048A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aeiou</a:t>
            </a:r>
            <a:r>
              <a:rPr lang="en-US" altLang="en-US" sz="2000" dirty="0">
                <a:solidFill>
                  <a:srgbClr val="0048A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]"</a:t>
            </a:r>
            <a:r>
              <a:rPr lang="en-US" altLang="en-US" sz="2000" dirty="0">
                <a:solidFill>
                  <a:srgbClr val="00193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altLang="en-US" sz="2000" dirty="0"/>
          </a:p>
          <a:p>
            <a:pPr marL="0" lvl="0" indent="0" defTabSz="914400">
              <a:buClrTx/>
              <a:buSzTx/>
              <a:buNone/>
            </a:pPr>
            <a:r>
              <a:rPr lang="en-US" altLang="en-US" sz="2000" dirty="0">
                <a:solidFill>
                  <a:srgbClr val="73819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#&gt; [1] "video"     "cross"     "extra"     "deal"      "authority"</a:t>
            </a:r>
            <a:br>
              <a:rPr lang="en-US" altLang="en-US" sz="2000" dirty="0">
                <a:solidFill>
                  <a:srgbClr val="73819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</a:br>
            <a:br>
              <a:rPr lang="en-US" altLang="en-US" sz="2000" dirty="0">
                <a:solidFill>
                  <a:srgbClr val="73819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</a:br>
            <a:endParaRPr lang="en-US" altLang="en-US" sz="2000" dirty="0"/>
          </a:p>
          <a:p>
            <a:pPr marL="0" lvl="0" indent="0" defTabSz="914400">
              <a:buClrTx/>
              <a:buSzTx/>
              <a:buNone/>
            </a:pPr>
            <a:r>
              <a:rPr lang="en-US" altLang="en-US" sz="2000" dirty="0" err="1">
                <a:solidFill>
                  <a:srgbClr val="00193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str_replace</a:t>
            </a:r>
            <a:r>
              <a:rPr lang="en-US" altLang="en-US" sz="2000" dirty="0">
                <a:solidFill>
                  <a:srgbClr val="00193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(x, </a:t>
            </a:r>
            <a:r>
              <a:rPr lang="en-US" altLang="en-US" sz="2000" dirty="0">
                <a:solidFill>
                  <a:srgbClr val="0048A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"[</a:t>
            </a:r>
            <a:r>
              <a:rPr lang="en-US" altLang="en-US" sz="2000" dirty="0" err="1">
                <a:solidFill>
                  <a:srgbClr val="0048A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aeiou</a:t>
            </a:r>
            <a:r>
              <a:rPr lang="en-US" altLang="en-US" sz="2000" dirty="0">
                <a:solidFill>
                  <a:srgbClr val="0048A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]"</a:t>
            </a:r>
            <a:r>
              <a:rPr lang="en-US" altLang="en-US" sz="2000" dirty="0">
                <a:solidFill>
                  <a:srgbClr val="00193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altLang="en-US" sz="2000" dirty="0">
                <a:solidFill>
                  <a:srgbClr val="0048A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"?"</a:t>
            </a:r>
            <a:r>
              <a:rPr lang="en-US" altLang="en-US" sz="2000" dirty="0">
                <a:solidFill>
                  <a:srgbClr val="00193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altLang="en-US" sz="2000" dirty="0">
              <a:solidFill>
                <a:srgbClr val="00193A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914400">
              <a:buClrTx/>
              <a:buSzTx/>
              <a:buNone/>
            </a:pPr>
            <a:r>
              <a:rPr lang="en-US" altLang="en-US" sz="2000" dirty="0">
                <a:solidFill>
                  <a:srgbClr val="73819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#&gt; [1] "why"       "</a:t>
            </a:r>
            <a:r>
              <a:rPr lang="en-US" altLang="en-US" sz="2000" dirty="0" err="1">
                <a:solidFill>
                  <a:srgbClr val="73819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v?deo</a:t>
            </a:r>
            <a:r>
              <a:rPr lang="en-US" altLang="en-US" sz="2000" dirty="0">
                <a:solidFill>
                  <a:srgbClr val="73819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     "</a:t>
            </a:r>
            <a:r>
              <a:rPr lang="en-US" altLang="en-US" sz="2000" dirty="0" err="1">
                <a:solidFill>
                  <a:srgbClr val="73819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cr?ss</a:t>
            </a:r>
            <a:r>
              <a:rPr lang="en-US" altLang="en-US" sz="2000" dirty="0">
                <a:solidFill>
                  <a:srgbClr val="73819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     "?</a:t>
            </a:r>
            <a:r>
              <a:rPr lang="en-US" altLang="en-US" sz="2000" dirty="0" err="1">
                <a:solidFill>
                  <a:srgbClr val="73819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xtra</a:t>
            </a:r>
            <a:r>
              <a:rPr lang="en-US" altLang="en-US" sz="2000" dirty="0">
                <a:solidFill>
                  <a:srgbClr val="73819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     "</a:t>
            </a:r>
            <a:r>
              <a:rPr lang="en-US" altLang="en-US" sz="2000" dirty="0" err="1">
                <a:solidFill>
                  <a:srgbClr val="73819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d?al</a:t>
            </a:r>
            <a:r>
              <a:rPr lang="en-US" altLang="en-US" sz="2000" dirty="0">
                <a:solidFill>
                  <a:srgbClr val="73819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      "?</a:t>
            </a:r>
            <a:r>
              <a:rPr lang="en-US" altLang="en-US" sz="2000" dirty="0" err="1">
                <a:solidFill>
                  <a:srgbClr val="73819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uthority</a:t>
            </a:r>
            <a:r>
              <a:rPr lang="en-US" altLang="en-US" sz="2000" dirty="0">
                <a:solidFill>
                  <a:srgbClr val="73819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br>
              <a:rPr lang="en-US" altLang="en-US" sz="2000" dirty="0">
                <a:solidFill>
                  <a:srgbClr val="73819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</a:br>
            <a:br>
              <a:rPr lang="en-US" altLang="en-US" sz="2000" dirty="0">
                <a:solidFill>
                  <a:srgbClr val="73819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</a:br>
            <a:endParaRPr lang="en-US" altLang="en-US" sz="2000" dirty="0">
              <a:solidFill>
                <a:srgbClr val="00193A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914400">
              <a:buClrTx/>
              <a:buSzTx/>
              <a:buNone/>
            </a:pPr>
            <a:r>
              <a:rPr lang="en-US" altLang="en-US" sz="2000" dirty="0" err="1">
                <a:solidFill>
                  <a:srgbClr val="00193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str_remove</a:t>
            </a:r>
            <a:r>
              <a:rPr lang="en-US" altLang="en-US" sz="2000" dirty="0">
                <a:solidFill>
                  <a:srgbClr val="00193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(x, </a:t>
            </a:r>
            <a:r>
              <a:rPr lang="en-US" altLang="en-US" sz="2000" dirty="0">
                <a:solidFill>
                  <a:srgbClr val="0048A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"e"</a:t>
            </a:r>
            <a:r>
              <a:rPr lang="en-US" altLang="en-US" sz="2000" dirty="0">
                <a:solidFill>
                  <a:srgbClr val="00193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altLang="en-US" sz="2000" dirty="0">
              <a:solidFill>
                <a:srgbClr val="00193A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914400">
              <a:buClrTx/>
              <a:buSzTx/>
              <a:buNone/>
            </a:pPr>
            <a:r>
              <a:rPr lang="en-US" altLang="en-US" sz="2000" dirty="0">
                <a:solidFill>
                  <a:srgbClr val="73819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#&gt; [1] "why"       "</a:t>
            </a:r>
            <a:r>
              <a:rPr lang="en-US" altLang="en-US" sz="2000" dirty="0" err="1">
                <a:solidFill>
                  <a:srgbClr val="73819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vido</a:t>
            </a:r>
            <a:r>
              <a:rPr lang="en-US" altLang="en-US" sz="2000" dirty="0">
                <a:solidFill>
                  <a:srgbClr val="73819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     "cross"     "</a:t>
            </a:r>
            <a:r>
              <a:rPr lang="en-US" altLang="en-US" sz="2000" dirty="0" err="1">
                <a:solidFill>
                  <a:srgbClr val="73819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xtra</a:t>
            </a:r>
            <a:r>
              <a:rPr lang="en-US" altLang="en-US" sz="2000" dirty="0">
                <a:solidFill>
                  <a:srgbClr val="73819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     "dial"      "authority"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193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467817" y="2583601"/>
            <a:ext cx="5422392" cy="3633047"/>
          </a:xfrm>
        </p:spPr>
        <p:txBody>
          <a:bodyPr>
            <a:normAutofit fontScale="77500" lnSpcReduction="20000"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altLang="en-US" dirty="0" err="1">
                <a:solidFill>
                  <a:srgbClr val="00193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str_detect</a:t>
            </a:r>
            <a:r>
              <a:rPr lang="en-US" altLang="en-US" dirty="0">
                <a:solidFill>
                  <a:srgbClr val="00193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(x, </a:t>
            </a:r>
            <a:r>
              <a:rPr lang="en-US" altLang="en-US" dirty="0">
                <a:solidFill>
                  <a:srgbClr val="0048A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"[</a:t>
            </a:r>
            <a:r>
              <a:rPr lang="en-US" altLang="en-US" dirty="0" err="1">
                <a:solidFill>
                  <a:srgbClr val="0048A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aeiou</a:t>
            </a:r>
            <a:r>
              <a:rPr lang="en-US" altLang="en-US" dirty="0">
                <a:solidFill>
                  <a:srgbClr val="0048A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]"</a:t>
            </a:r>
            <a:r>
              <a:rPr lang="en-US" altLang="en-US" dirty="0">
                <a:solidFill>
                  <a:srgbClr val="00193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altLang="en-US" sz="4000" dirty="0">
              <a:solidFill>
                <a:srgbClr val="00193A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altLang="en-US" dirty="0">
                <a:solidFill>
                  <a:srgbClr val="73819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#&gt; [1] FALSE  TRUE  </a:t>
            </a:r>
            <a:r>
              <a:rPr lang="en-US" altLang="en-US" dirty="0" err="1">
                <a:solidFill>
                  <a:srgbClr val="73819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TRUE</a:t>
            </a:r>
            <a:r>
              <a:rPr lang="en-US" altLang="en-US" dirty="0">
                <a:solidFill>
                  <a:srgbClr val="73819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r>
              <a:rPr lang="en-US" altLang="en-US" dirty="0" err="1">
                <a:solidFill>
                  <a:srgbClr val="73819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TRUE</a:t>
            </a:r>
            <a:r>
              <a:rPr lang="en-US" altLang="en-US" dirty="0">
                <a:solidFill>
                  <a:srgbClr val="73819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r>
              <a:rPr lang="en-US" altLang="en-US" dirty="0" err="1">
                <a:solidFill>
                  <a:srgbClr val="73819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TRUE</a:t>
            </a:r>
            <a:r>
              <a:rPr lang="en-US" altLang="en-US" dirty="0">
                <a:solidFill>
                  <a:srgbClr val="73819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r>
              <a:rPr lang="en-US" altLang="en-US" dirty="0" err="1">
                <a:solidFill>
                  <a:srgbClr val="73819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TRUE</a:t>
            </a:r>
            <a:br>
              <a:rPr lang="en-US" altLang="en-US" dirty="0">
                <a:solidFill>
                  <a:srgbClr val="73819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</a:br>
            <a:br>
              <a:rPr lang="en-US" altLang="en-US" dirty="0">
                <a:solidFill>
                  <a:srgbClr val="73819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</a:br>
            <a:endParaRPr lang="en-US" altLang="en-US" sz="2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altLang="en-US" dirty="0" err="1">
                <a:solidFill>
                  <a:srgbClr val="00193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str_count</a:t>
            </a:r>
            <a:r>
              <a:rPr lang="en-US" altLang="en-US" dirty="0">
                <a:solidFill>
                  <a:srgbClr val="00193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(x, </a:t>
            </a:r>
            <a:r>
              <a:rPr lang="en-US" altLang="en-US" dirty="0">
                <a:solidFill>
                  <a:srgbClr val="0048A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"[</a:t>
            </a:r>
            <a:r>
              <a:rPr lang="en-US" altLang="en-US" dirty="0" err="1">
                <a:solidFill>
                  <a:srgbClr val="0048A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aeiou</a:t>
            </a:r>
            <a:r>
              <a:rPr lang="en-US" altLang="en-US" dirty="0">
                <a:solidFill>
                  <a:srgbClr val="0048A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]"</a:t>
            </a:r>
            <a:r>
              <a:rPr lang="en-US" altLang="en-US" dirty="0">
                <a:solidFill>
                  <a:srgbClr val="00193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br>
              <a:rPr lang="en-US" altLang="en-US" dirty="0">
                <a:solidFill>
                  <a:srgbClr val="00193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73819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#&gt; [1] 0 3 1 2 2 4</a:t>
            </a:r>
            <a:br>
              <a:rPr lang="en-US" altLang="en-US" dirty="0">
                <a:solidFill>
                  <a:srgbClr val="73819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</a:br>
            <a:br>
              <a:rPr lang="en-US" altLang="en-US" dirty="0">
                <a:solidFill>
                  <a:srgbClr val="73819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dirty="0" err="1">
                <a:solidFill>
                  <a:srgbClr val="00193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str_length</a:t>
            </a:r>
            <a:r>
              <a:rPr lang="en-US" altLang="en-US" dirty="0">
                <a:solidFill>
                  <a:srgbClr val="00193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(x) </a:t>
            </a:r>
            <a:r>
              <a:rPr lang="en-US" altLang="en-US" dirty="0">
                <a:solidFill>
                  <a:srgbClr val="73819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#&gt; [1] 3 5 5 5 4 9</a:t>
            </a:r>
            <a:br>
              <a:rPr lang="en-US" altLang="en-US" dirty="0">
                <a:solidFill>
                  <a:srgbClr val="73819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</a:br>
            <a:br>
              <a:rPr lang="en-US" altLang="en-US" dirty="0">
                <a:solidFill>
                  <a:srgbClr val="73819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dirty="0" err="1">
                <a:solidFill>
                  <a:srgbClr val="00193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str_extract</a:t>
            </a:r>
            <a:r>
              <a:rPr lang="en-US" altLang="en-US" dirty="0">
                <a:solidFill>
                  <a:srgbClr val="00193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(x, </a:t>
            </a:r>
            <a:r>
              <a:rPr lang="en-US" altLang="en-US" dirty="0">
                <a:solidFill>
                  <a:srgbClr val="0048A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"[</a:t>
            </a:r>
            <a:r>
              <a:rPr lang="en-US" altLang="en-US" dirty="0" err="1">
                <a:solidFill>
                  <a:srgbClr val="0048A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aeiou</a:t>
            </a:r>
            <a:r>
              <a:rPr lang="en-US" altLang="en-US" dirty="0">
                <a:solidFill>
                  <a:srgbClr val="0048A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]"</a:t>
            </a:r>
            <a:r>
              <a:rPr lang="en-US" altLang="en-US" dirty="0">
                <a:solidFill>
                  <a:srgbClr val="00193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br>
              <a:rPr lang="en-US" altLang="en-US" dirty="0">
                <a:solidFill>
                  <a:srgbClr val="00193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73819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#&gt; [1] NA  "</a:t>
            </a:r>
            <a:r>
              <a:rPr lang="en-US" altLang="en-US" dirty="0" err="1">
                <a:solidFill>
                  <a:srgbClr val="73819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</a:t>
            </a:r>
            <a:r>
              <a:rPr lang="en-US" altLang="en-US" dirty="0">
                <a:solidFill>
                  <a:srgbClr val="73819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 "o" "e" "e" "a"</a:t>
            </a:r>
            <a:r>
              <a:rPr lang="en-US" altLang="en-US" sz="3200" dirty="0">
                <a:solidFill>
                  <a:schemeClr val="tx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endParaRPr lang="en-US" altLang="en-US" sz="6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81193" y="1895706"/>
            <a:ext cx="7869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en-US" dirty="0">
                <a:solidFill>
                  <a:srgbClr val="00193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x &lt;- c(</a:t>
            </a:r>
            <a:r>
              <a:rPr lang="en-US" altLang="en-US" dirty="0">
                <a:solidFill>
                  <a:srgbClr val="0048A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"why"</a:t>
            </a:r>
            <a:r>
              <a:rPr lang="en-US" altLang="en-US" dirty="0">
                <a:solidFill>
                  <a:srgbClr val="00193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altLang="en-US" dirty="0">
                <a:solidFill>
                  <a:srgbClr val="0048A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"video"</a:t>
            </a:r>
            <a:r>
              <a:rPr lang="en-US" altLang="en-US" dirty="0">
                <a:solidFill>
                  <a:srgbClr val="00193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altLang="en-US" dirty="0">
                <a:solidFill>
                  <a:srgbClr val="0048A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"cross"</a:t>
            </a:r>
            <a:r>
              <a:rPr lang="en-US" altLang="en-US" dirty="0">
                <a:solidFill>
                  <a:srgbClr val="00193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altLang="en-US" dirty="0">
                <a:solidFill>
                  <a:srgbClr val="0048A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"extra"</a:t>
            </a:r>
            <a:r>
              <a:rPr lang="en-US" altLang="en-US" dirty="0">
                <a:solidFill>
                  <a:srgbClr val="00193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altLang="en-US" dirty="0">
                <a:solidFill>
                  <a:srgbClr val="0048A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"deal"</a:t>
            </a:r>
            <a:r>
              <a:rPr lang="en-US" altLang="en-US" dirty="0">
                <a:solidFill>
                  <a:srgbClr val="00193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altLang="en-US" dirty="0">
                <a:solidFill>
                  <a:srgbClr val="0048AB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"authority"</a:t>
            </a:r>
            <a:r>
              <a:rPr lang="en-US" altLang="en-US" dirty="0">
                <a:solidFill>
                  <a:srgbClr val="00193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altLang="en-US" dirty="0"/>
          </a:p>
          <a:p>
            <a:endParaRPr lang="en-US" dirty="0"/>
          </a:p>
        </p:txBody>
      </p:sp>
      <p:sp>
        <p:nvSpPr>
          <p:cNvPr id="9" name="Down Arrow Callout 8"/>
          <p:cNvSpPr/>
          <p:nvPr/>
        </p:nvSpPr>
        <p:spPr>
          <a:xfrm>
            <a:off x="1380124" y="2229262"/>
            <a:ext cx="3553691" cy="405245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Regular expression (regex)</a:t>
            </a:r>
          </a:p>
        </p:txBody>
      </p:sp>
    </p:spTree>
    <p:extLst>
      <p:ext uri="{BB962C8B-B14F-4D97-AF65-F5344CB8AC3E}">
        <p14:creationId xmlns:p14="http://schemas.microsoft.com/office/powerpoint/2010/main" val="4294127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Readr</a:t>
            </a:r>
            <a:r>
              <a:rPr lang="en-US" dirty="0"/>
              <a:t> CSV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180496"/>
            <a:ext cx="8438116" cy="4292022"/>
          </a:xfrm>
        </p:spPr>
        <p:txBody>
          <a:bodyPr>
            <a:normAutofit fontScale="85000" lnSpcReduction="10000"/>
          </a:bodyPr>
          <a:lstStyle/>
          <a:p>
            <a:pPr lvl="0"/>
            <a:r>
              <a:rPr lang="en-US" dirty="0"/>
              <a:t>Read csv, </a:t>
            </a:r>
            <a:r>
              <a:rPr lang="en-US" dirty="0" err="1"/>
              <a:t>tsv</a:t>
            </a:r>
            <a:r>
              <a:rPr lang="en-US" dirty="0"/>
              <a:t>, and txt as a </a:t>
            </a:r>
            <a:r>
              <a:rPr lang="en-US" dirty="0" err="1"/>
              <a:t>tibble</a:t>
            </a:r>
            <a:endParaRPr lang="en-US" dirty="0"/>
          </a:p>
          <a:p>
            <a:pPr lvl="0"/>
            <a:r>
              <a:rPr lang="en-US" dirty="0" err="1"/>
              <a:t>read_csv</a:t>
            </a:r>
            <a:r>
              <a:rPr lang="en-US" dirty="0"/>
              <a:t>(“</a:t>
            </a:r>
            <a:r>
              <a:rPr lang="en-US" i="1" dirty="0"/>
              <a:t>filename.csv</a:t>
            </a:r>
            <a:r>
              <a:rPr lang="en-US" dirty="0"/>
              <a:t>”) </a:t>
            </a:r>
            <a:r>
              <a:rPr lang="en-US" dirty="0">
                <a:sym typeface="Wingdings" panose="05000000000000000000" pitchFamily="2" charset="2"/>
              </a:rPr>
              <a:t> raw </a:t>
            </a:r>
            <a:r>
              <a:rPr lang="en-US" i="1" dirty="0">
                <a:sym typeface="Wingdings" panose="05000000000000000000" pitchFamily="2" charset="2"/>
              </a:rPr>
              <a:t>csv</a:t>
            </a:r>
            <a:r>
              <a:rPr lang="en-US" dirty="0">
                <a:sym typeface="Wingdings" panose="05000000000000000000" pitchFamily="2" charset="2"/>
              </a:rPr>
              <a:t> file</a:t>
            </a:r>
            <a:endParaRPr lang="en-US" dirty="0"/>
          </a:p>
          <a:p>
            <a:r>
              <a:rPr lang="en-US" dirty="0" err="1"/>
              <a:t>read_csv</a:t>
            </a:r>
            <a:r>
              <a:rPr lang="en-US" dirty="0"/>
              <a:t>(“</a:t>
            </a:r>
            <a:r>
              <a:rPr lang="en-US" i="1" dirty="0"/>
              <a:t>filename.csv.zip</a:t>
            </a:r>
            <a:r>
              <a:rPr lang="en-US" dirty="0"/>
              <a:t>”) </a:t>
            </a:r>
            <a:r>
              <a:rPr lang="en-US" dirty="0">
                <a:sym typeface="Wingdings" panose="05000000000000000000" pitchFamily="2" charset="2"/>
              </a:rPr>
              <a:t> zipped </a:t>
            </a:r>
            <a:r>
              <a:rPr lang="en-US" i="1" dirty="0">
                <a:sym typeface="Wingdings" panose="05000000000000000000" pitchFamily="2" charset="2"/>
              </a:rPr>
              <a:t>csv</a:t>
            </a:r>
            <a:r>
              <a:rPr lang="en-US" dirty="0">
                <a:sym typeface="Wingdings" panose="05000000000000000000" pitchFamily="2" charset="2"/>
              </a:rPr>
              <a:t> file</a:t>
            </a:r>
            <a:endParaRPr lang="en-US" dirty="0"/>
          </a:p>
          <a:p>
            <a:pPr lvl="0"/>
            <a:r>
              <a:rPr lang="en-US" dirty="0" err="1"/>
              <a:t>read_csv</a:t>
            </a:r>
            <a:r>
              <a:rPr lang="en-US" dirty="0"/>
              <a:t>(“</a:t>
            </a:r>
            <a:r>
              <a:rPr lang="en-US" i="1" dirty="0"/>
              <a:t>URL of csv file location</a:t>
            </a:r>
            <a:r>
              <a:rPr lang="en-US" dirty="0"/>
              <a:t>”) </a:t>
            </a:r>
            <a:r>
              <a:rPr lang="en-US" dirty="0">
                <a:sym typeface="Wingdings" panose="05000000000000000000" pitchFamily="2" charset="2"/>
              </a:rPr>
              <a:t> remote </a:t>
            </a:r>
            <a:r>
              <a:rPr lang="en-US" i="1" dirty="0">
                <a:sym typeface="Wingdings" panose="05000000000000000000" pitchFamily="2" charset="2"/>
              </a:rPr>
              <a:t>csv</a:t>
            </a:r>
            <a:r>
              <a:rPr lang="en-US" dirty="0">
                <a:sym typeface="Wingdings" panose="05000000000000000000" pitchFamily="2" charset="2"/>
              </a:rPr>
              <a:t> file</a:t>
            </a:r>
            <a:endParaRPr lang="en-US" dirty="0"/>
          </a:p>
          <a:p>
            <a:pPr lvl="0"/>
            <a:r>
              <a:rPr lang="en-US" dirty="0" err="1"/>
              <a:t>read_csv</a:t>
            </a:r>
            <a:r>
              <a:rPr lang="en-US" dirty="0"/>
              <a:t>(“filename.csv”, skip = 1)  </a:t>
            </a:r>
          </a:p>
          <a:p>
            <a:pPr lvl="1"/>
            <a:r>
              <a:rPr lang="en-US" dirty="0"/>
              <a:t>Skips first row </a:t>
            </a:r>
            <a:r>
              <a:rPr lang="en-US" dirty="0">
                <a:sym typeface="Wingdings" panose="05000000000000000000" pitchFamily="2" charset="2"/>
              </a:rPr>
              <a:t> imported file’s header row ignored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Can also specify </a:t>
            </a:r>
            <a:r>
              <a:rPr lang="en-US" dirty="0" err="1">
                <a:sym typeface="Wingdings" panose="05000000000000000000" pitchFamily="2" charset="2"/>
              </a:rPr>
              <a:t>col_names</a:t>
            </a:r>
            <a:r>
              <a:rPr lang="en-US" dirty="0">
                <a:sym typeface="Wingdings" panose="05000000000000000000" pitchFamily="2" charset="2"/>
              </a:rPr>
              <a:t> = TRUE to use imported file’s header row</a:t>
            </a:r>
            <a:endParaRPr lang="en-US" dirty="0"/>
          </a:p>
          <a:p>
            <a:pPr lvl="0"/>
            <a:r>
              <a:rPr lang="en-US" dirty="0" err="1"/>
              <a:t>write_csv</a:t>
            </a:r>
            <a:r>
              <a:rPr lang="en-US" dirty="0"/>
              <a:t>(data, path = “data/filename.csv”, append = TRUE ) </a:t>
            </a:r>
          </a:p>
          <a:p>
            <a:pPr lvl="1"/>
            <a:r>
              <a:rPr lang="en-US" dirty="0"/>
              <a:t>default for append is FALSE</a:t>
            </a:r>
          </a:p>
          <a:p>
            <a:endParaRPr lang="en-US" dirty="0"/>
          </a:p>
        </p:txBody>
      </p:sp>
      <p:pic>
        <p:nvPicPr>
          <p:cNvPr id="2050" name="Picture 2" descr="Image result for csv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3308" y="2473036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3776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00518"/>
            <a:ext cx="11029615" cy="5181600"/>
          </a:xfrm>
        </p:spPr>
        <p:txBody>
          <a:bodyPr>
            <a:normAutofit fontScale="85000" lnSpcReduction="20000"/>
          </a:bodyPr>
          <a:lstStyle/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inspections &lt;-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read_csv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("data/inspections.csv",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col_names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= TRUE)</a:t>
            </a:r>
          </a:p>
          <a:p>
            <a:endParaRPr lang="en-US" dirty="0"/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inspections &lt;- inspections %&gt;%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rename(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inspectionID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= `Inspection ID`,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       DBA = `DBA Name`,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       AKA = `AKA Name`,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       license = `License #`,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       facility = `Facility Type`,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      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inspectionDate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= `Inspection Date`,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      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inspectionType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= `Inspection Type`)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glimpse(inspections)</a:t>
            </a:r>
          </a:p>
          <a:p>
            <a:endParaRPr lang="en-US" dirty="0"/>
          </a:p>
        </p:txBody>
      </p:sp>
      <p:pic>
        <p:nvPicPr>
          <p:cNvPr id="3074" name="Picture 2" descr="Image result for csv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7420" y="2888673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8755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Readr</a:t>
            </a:r>
            <a:r>
              <a:rPr lang="en-US" dirty="0"/>
              <a:t> TSV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041010"/>
          </a:xfrm>
        </p:spPr>
        <p:txBody>
          <a:bodyPr>
            <a:normAutofit lnSpcReduction="10000"/>
          </a:bodyPr>
          <a:lstStyle/>
          <a:p>
            <a:pPr lvl="0"/>
            <a:r>
              <a:rPr lang="en-US" dirty="0"/>
              <a:t>Same as CSV </a:t>
            </a:r>
            <a:r>
              <a:rPr lang="en-US" dirty="0">
                <a:sym typeface="Wingdings" panose="05000000000000000000" pitchFamily="2" charset="2"/>
              </a:rPr>
              <a:t> use TSV instead</a:t>
            </a:r>
            <a:endParaRPr lang="en-US" dirty="0"/>
          </a:p>
          <a:p>
            <a:pPr lvl="0"/>
            <a:r>
              <a:rPr lang="en-US" dirty="0" err="1"/>
              <a:t>read_tsv</a:t>
            </a:r>
            <a:r>
              <a:rPr lang="en-US" dirty="0"/>
              <a:t>(“</a:t>
            </a:r>
            <a:r>
              <a:rPr lang="en-US" i="1" dirty="0" err="1"/>
              <a:t>filename.tsv</a:t>
            </a:r>
            <a:r>
              <a:rPr lang="en-US" dirty="0"/>
              <a:t>”) </a:t>
            </a:r>
            <a:r>
              <a:rPr lang="en-US" dirty="0">
                <a:sym typeface="Wingdings" panose="05000000000000000000" pitchFamily="2" charset="2"/>
              </a:rPr>
              <a:t> raw </a:t>
            </a:r>
            <a:r>
              <a:rPr lang="en-US" i="1" dirty="0" err="1">
                <a:sym typeface="Wingdings" panose="05000000000000000000" pitchFamily="2" charset="2"/>
              </a:rPr>
              <a:t>tsv</a:t>
            </a:r>
            <a:r>
              <a:rPr lang="en-US" dirty="0">
                <a:sym typeface="Wingdings" panose="05000000000000000000" pitchFamily="2" charset="2"/>
              </a:rPr>
              <a:t> file</a:t>
            </a:r>
            <a:endParaRPr lang="en-US" dirty="0"/>
          </a:p>
          <a:p>
            <a:r>
              <a:rPr lang="en-US" dirty="0" err="1"/>
              <a:t>read_tsv</a:t>
            </a:r>
            <a:r>
              <a:rPr lang="en-US" dirty="0"/>
              <a:t>(“</a:t>
            </a:r>
            <a:r>
              <a:rPr lang="en-US" i="1" dirty="0"/>
              <a:t>filename.tsv.zip</a:t>
            </a:r>
            <a:r>
              <a:rPr lang="en-US" dirty="0"/>
              <a:t>”) </a:t>
            </a:r>
            <a:r>
              <a:rPr lang="en-US" dirty="0">
                <a:sym typeface="Wingdings" panose="05000000000000000000" pitchFamily="2" charset="2"/>
              </a:rPr>
              <a:t> zipped </a:t>
            </a:r>
            <a:r>
              <a:rPr lang="en-US" i="1" dirty="0" err="1">
                <a:sym typeface="Wingdings" panose="05000000000000000000" pitchFamily="2" charset="2"/>
              </a:rPr>
              <a:t>tsv</a:t>
            </a:r>
            <a:r>
              <a:rPr lang="en-US" dirty="0">
                <a:sym typeface="Wingdings" panose="05000000000000000000" pitchFamily="2" charset="2"/>
              </a:rPr>
              <a:t> file</a:t>
            </a:r>
            <a:endParaRPr lang="en-US" dirty="0"/>
          </a:p>
          <a:p>
            <a:pPr lvl="0"/>
            <a:r>
              <a:rPr lang="en-US" dirty="0" err="1"/>
              <a:t>read_tsv</a:t>
            </a:r>
            <a:r>
              <a:rPr lang="en-US" dirty="0"/>
              <a:t>(“</a:t>
            </a:r>
            <a:r>
              <a:rPr lang="en-US" i="1" dirty="0"/>
              <a:t>URL of </a:t>
            </a:r>
            <a:r>
              <a:rPr lang="en-US" i="1" dirty="0" err="1"/>
              <a:t>tsv</a:t>
            </a:r>
            <a:r>
              <a:rPr lang="en-US" i="1" dirty="0"/>
              <a:t> file location</a:t>
            </a:r>
            <a:r>
              <a:rPr lang="en-US" dirty="0"/>
              <a:t>”) </a:t>
            </a:r>
            <a:r>
              <a:rPr lang="en-US" dirty="0">
                <a:sym typeface="Wingdings" panose="05000000000000000000" pitchFamily="2" charset="2"/>
              </a:rPr>
              <a:t> remote </a:t>
            </a:r>
            <a:r>
              <a:rPr lang="en-US" i="1" dirty="0" err="1">
                <a:sym typeface="Wingdings" panose="05000000000000000000" pitchFamily="2" charset="2"/>
              </a:rPr>
              <a:t>tsv</a:t>
            </a:r>
            <a:r>
              <a:rPr lang="en-US" dirty="0">
                <a:sym typeface="Wingdings" panose="05000000000000000000" pitchFamily="2" charset="2"/>
              </a:rPr>
              <a:t> file</a:t>
            </a:r>
            <a:endParaRPr lang="en-US" dirty="0"/>
          </a:p>
          <a:p>
            <a:pPr lvl="0"/>
            <a:r>
              <a:rPr lang="en-US" dirty="0" err="1"/>
              <a:t>read_tsv</a:t>
            </a:r>
            <a:r>
              <a:rPr lang="en-US" dirty="0"/>
              <a:t>(“</a:t>
            </a:r>
            <a:r>
              <a:rPr lang="en-US" dirty="0" err="1"/>
              <a:t>filename.tsv</a:t>
            </a:r>
            <a:r>
              <a:rPr lang="en-US" dirty="0"/>
              <a:t>”, skip = 1)  </a:t>
            </a:r>
          </a:p>
          <a:p>
            <a:pPr lvl="0"/>
            <a:r>
              <a:rPr lang="en-US" dirty="0" err="1"/>
              <a:t>write_tsv</a:t>
            </a:r>
            <a:r>
              <a:rPr lang="en-US" dirty="0"/>
              <a:t>(data, path = “data/</a:t>
            </a:r>
            <a:r>
              <a:rPr lang="en-US" dirty="0" err="1"/>
              <a:t>filename.tsv</a:t>
            </a:r>
            <a:r>
              <a:rPr lang="en-US" dirty="0"/>
              <a:t>”, append = TRUE ) </a:t>
            </a:r>
          </a:p>
          <a:p>
            <a:pPr lvl="1"/>
            <a:r>
              <a:rPr lang="en-US" dirty="0"/>
              <a:t>default for append is FALSE</a:t>
            </a:r>
          </a:p>
          <a:p>
            <a:endParaRPr lang="en-US" dirty="0"/>
          </a:p>
        </p:txBody>
      </p:sp>
      <p:pic>
        <p:nvPicPr>
          <p:cNvPr id="4098" name="Picture 2" descr="Image result for excel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7380" y="2275609"/>
            <a:ext cx="2483427" cy="2483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3626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548242"/>
            <a:ext cx="11029615" cy="3292244"/>
          </a:xfrm>
        </p:spPr>
        <p:txBody>
          <a:bodyPr/>
          <a:lstStyle/>
          <a:p>
            <a:r>
              <a:rPr lang="fr-FR" i="1" dirty="0" err="1">
                <a:solidFill>
                  <a:schemeClr val="accent2">
                    <a:lumMod val="75000"/>
                  </a:schemeClr>
                </a:solidFill>
              </a:rPr>
              <a:t>inpatient</a:t>
            </a:r>
            <a:r>
              <a:rPr lang="fr-FR" i="1" dirty="0">
                <a:solidFill>
                  <a:schemeClr val="accent2">
                    <a:lumMod val="75000"/>
                  </a:schemeClr>
                </a:solidFill>
              </a:rPr>
              <a:t> &lt;- </a:t>
            </a:r>
            <a:r>
              <a:rPr lang="fr-FR" i="1" dirty="0" err="1">
                <a:solidFill>
                  <a:schemeClr val="accent2">
                    <a:lumMod val="75000"/>
                  </a:schemeClr>
                </a:solidFill>
              </a:rPr>
              <a:t>read_tsv</a:t>
            </a:r>
            <a:r>
              <a:rPr lang="fr-FR" i="1" dirty="0">
                <a:solidFill>
                  <a:schemeClr val="accent2">
                    <a:lumMod val="75000"/>
                  </a:schemeClr>
                </a:solidFill>
              </a:rPr>
              <a:t>("http://594442.youcanlearnit.net/</a:t>
            </a:r>
            <a:r>
              <a:rPr lang="fr-FR" i="1" dirty="0" err="1">
                <a:solidFill>
                  <a:schemeClr val="accent2">
                    <a:lumMod val="75000"/>
                  </a:schemeClr>
                </a:solidFill>
              </a:rPr>
              <a:t>inpatient.tsv</a:t>
            </a:r>
            <a:r>
              <a:rPr lang="fr-FR" i="1" dirty="0">
                <a:solidFill>
                  <a:schemeClr val="accent2">
                    <a:lumMod val="75000"/>
                  </a:schemeClr>
                </a:solidFill>
              </a:rPr>
              <a:t>", </a:t>
            </a:r>
            <a:r>
              <a:rPr lang="fr-FR" i="1" dirty="0" err="1">
                <a:solidFill>
                  <a:schemeClr val="accent2">
                    <a:lumMod val="75000"/>
                  </a:schemeClr>
                </a:solidFill>
              </a:rPr>
              <a:t>col_names</a:t>
            </a:r>
            <a:r>
              <a:rPr lang="fr-FR" i="1" dirty="0">
                <a:solidFill>
                  <a:schemeClr val="accent2">
                    <a:lumMod val="75000"/>
                  </a:schemeClr>
                </a:solidFill>
              </a:rPr>
              <a:t> = TRUE)</a:t>
            </a:r>
          </a:p>
          <a:p>
            <a:r>
              <a:rPr lang="fr-FR" i="1" dirty="0" err="1">
                <a:solidFill>
                  <a:schemeClr val="accent2">
                    <a:lumMod val="75000"/>
                  </a:schemeClr>
                </a:solidFill>
              </a:rPr>
              <a:t>glimpse</a:t>
            </a:r>
            <a:r>
              <a:rPr lang="fr-FR" i="1" dirty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fr-FR" i="1" dirty="0" err="1">
                <a:solidFill>
                  <a:schemeClr val="accent2">
                    <a:lumMod val="75000"/>
                  </a:schemeClr>
                </a:solidFill>
              </a:rPr>
              <a:t>inpatient</a:t>
            </a:r>
            <a:r>
              <a:rPr lang="fr-FR" i="1" dirty="0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en-US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Picture 2" descr="Image result for excel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4998" y="3194364"/>
            <a:ext cx="2483427" cy="2483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3644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Readr</a:t>
            </a:r>
            <a:r>
              <a:rPr lang="en-US" dirty="0"/>
              <a:t> Generic Delimited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101" y="2845515"/>
            <a:ext cx="11029615" cy="1799222"/>
          </a:xfrm>
        </p:spPr>
        <p:txBody>
          <a:bodyPr/>
          <a:lstStyle/>
          <a:p>
            <a:pPr lvl="0"/>
            <a:r>
              <a:rPr lang="en-US" dirty="0" err="1"/>
              <a:t>read_delim</a:t>
            </a:r>
            <a:r>
              <a:rPr lang="en-US" dirty="0"/>
              <a:t>(“filename.txt”, </a:t>
            </a:r>
            <a:r>
              <a:rPr lang="en-US" dirty="0" err="1"/>
              <a:t>delim</a:t>
            </a:r>
            <a:r>
              <a:rPr lang="en-US" dirty="0"/>
              <a:t> = “separator”)</a:t>
            </a:r>
          </a:p>
          <a:p>
            <a:pPr lvl="0"/>
            <a:r>
              <a:rPr lang="en-US" dirty="0" err="1"/>
              <a:t>read_delim</a:t>
            </a:r>
            <a:r>
              <a:rPr lang="en-US" dirty="0"/>
              <a:t>(“URL of file location”, </a:t>
            </a:r>
            <a:r>
              <a:rPr lang="en-US" dirty="0" err="1"/>
              <a:t>delim</a:t>
            </a:r>
            <a:r>
              <a:rPr lang="en-US" dirty="0"/>
              <a:t> = “separator”)</a:t>
            </a:r>
          </a:p>
          <a:p>
            <a:r>
              <a:rPr lang="en-US" dirty="0" err="1"/>
              <a:t>read_delim</a:t>
            </a:r>
            <a:r>
              <a:rPr lang="en-US" dirty="0"/>
              <a:t>(“filename.txt”, </a:t>
            </a:r>
            <a:r>
              <a:rPr lang="en-US" dirty="0" err="1"/>
              <a:t>delim</a:t>
            </a:r>
            <a:r>
              <a:rPr lang="en-US" dirty="0"/>
              <a:t> = “^”, skip = 1) </a:t>
            </a:r>
          </a:p>
        </p:txBody>
      </p:sp>
    </p:spTree>
    <p:extLst>
      <p:ext uri="{BB962C8B-B14F-4D97-AF65-F5344CB8AC3E}">
        <p14:creationId xmlns:p14="http://schemas.microsoft.com/office/powerpoint/2010/main" val="904462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1923913"/>
          </a:xfrm>
        </p:spPr>
        <p:txBody>
          <a:bodyPr/>
          <a:lstStyle/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death &lt;- 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read_delim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("data/drugdeaths.txt",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delim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= "^",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col_names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= TRUE)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glimpse(death)</a:t>
            </a:r>
          </a:p>
        </p:txBody>
      </p:sp>
      <p:sp>
        <p:nvSpPr>
          <p:cNvPr id="4" name="Oval 3"/>
          <p:cNvSpPr/>
          <p:nvPr/>
        </p:nvSpPr>
        <p:spPr>
          <a:xfrm>
            <a:off x="6606541" y="2210014"/>
            <a:ext cx="2057400" cy="1288474"/>
          </a:xfrm>
          <a:prstGeom prst="ellipse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081" y="4181041"/>
            <a:ext cx="7610475" cy="20288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1117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readxl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534608" cy="4583986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Use </a:t>
            </a:r>
            <a:r>
              <a:rPr lang="en-US" sz="2400" dirty="0" err="1"/>
              <a:t>readxl</a:t>
            </a:r>
            <a:r>
              <a:rPr lang="en-US" sz="2400" dirty="0"/>
              <a:t> package for reading Excel files</a:t>
            </a:r>
          </a:p>
          <a:p>
            <a:pPr lvl="0"/>
            <a:r>
              <a:rPr lang="en-US" sz="2400" dirty="0" err="1"/>
              <a:t>read_excel</a:t>
            </a:r>
            <a:r>
              <a:rPr lang="en-US" sz="2400" dirty="0"/>
              <a:t>(“filename.xlsx”,</a:t>
            </a:r>
            <a:br>
              <a:rPr lang="en-US" sz="2400" dirty="0"/>
            </a:br>
            <a:r>
              <a:rPr lang="en-US" sz="2400" dirty="0"/>
              <a:t>                       sheet = “name”,                            Default is first sheet</a:t>
            </a:r>
            <a:br>
              <a:rPr lang="en-US" sz="2400" dirty="0"/>
            </a:br>
            <a:r>
              <a:rPr lang="en-US" sz="2400" dirty="0"/>
              <a:t>                       range = “B1:C7”,                           Range of cells.  </a:t>
            </a:r>
            <a:br>
              <a:rPr lang="en-US" sz="2400" dirty="0"/>
            </a:br>
            <a:r>
              <a:rPr lang="en-US" sz="2400" dirty="0"/>
              <a:t>                                                                          Could also be range = </a:t>
            </a:r>
            <a:r>
              <a:rPr lang="en-US" sz="2400" dirty="0" err="1"/>
              <a:t>cell_cols</a:t>
            </a:r>
            <a:r>
              <a:rPr lang="en-US" sz="2400" dirty="0"/>
              <a:t>(“B:C”)</a:t>
            </a:r>
            <a:br>
              <a:rPr lang="en-US" sz="2400" dirty="0"/>
            </a:br>
            <a:r>
              <a:rPr lang="en-US" sz="2400" dirty="0"/>
              <a:t>                       </a:t>
            </a:r>
            <a:r>
              <a:rPr lang="en-US" sz="2400" dirty="0" err="1"/>
              <a:t>col_names</a:t>
            </a:r>
            <a:r>
              <a:rPr lang="en-US" sz="2400" dirty="0"/>
              <a:t> = c(“n1”, “n2”  ))          Names of columns</a:t>
            </a:r>
            <a:br>
              <a:rPr lang="en-US" sz="2400" dirty="0"/>
            </a:br>
            <a:r>
              <a:rPr lang="en-US" sz="2400" dirty="0"/>
              <a:t>                                                                           or TRUE to use first row </a:t>
            </a:r>
          </a:p>
          <a:p>
            <a:r>
              <a:rPr lang="en-US" sz="2400" dirty="0"/>
              <a:t> </a:t>
            </a:r>
            <a:r>
              <a:rPr lang="en-US" sz="2400" i="1" dirty="0">
                <a:solidFill>
                  <a:schemeClr val="accent2">
                    <a:lumMod val="75000"/>
                  </a:schemeClr>
                </a:solidFill>
              </a:rPr>
              <a:t>breakfast &lt;- </a:t>
            </a:r>
            <a:r>
              <a:rPr lang="en-US" sz="2400" i="1" dirty="0" err="1">
                <a:solidFill>
                  <a:schemeClr val="accent2">
                    <a:lumMod val="75000"/>
                  </a:schemeClr>
                </a:solidFill>
              </a:rPr>
              <a:t>read_excel</a:t>
            </a:r>
            <a:r>
              <a:rPr lang="en-US" sz="2400" i="1" dirty="0">
                <a:solidFill>
                  <a:schemeClr val="accent2">
                    <a:lumMod val="75000"/>
                  </a:schemeClr>
                </a:solidFill>
              </a:rPr>
              <a:t>("F:/R/_Lectures/data/Breakfast.xls",</a:t>
            </a:r>
          </a:p>
          <a:p>
            <a:r>
              <a:rPr lang="en-US" sz="2400" i="1" dirty="0">
                <a:solidFill>
                  <a:schemeClr val="accent2">
                    <a:lumMod val="75000"/>
                  </a:schemeClr>
                </a:solidFill>
              </a:rPr>
              <a:t>                        skip = 5,</a:t>
            </a:r>
          </a:p>
          <a:p>
            <a:r>
              <a:rPr lang="en-US" sz="2400" i="1" dirty="0">
                <a:solidFill>
                  <a:schemeClr val="accent2">
                    <a:lumMod val="75000"/>
                  </a:schemeClr>
                </a:solidFill>
              </a:rPr>
              <a:t>                        </a:t>
            </a:r>
            <a:r>
              <a:rPr lang="en-US" sz="2400" i="1" dirty="0" err="1">
                <a:solidFill>
                  <a:schemeClr val="accent2">
                    <a:lumMod val="75000"/>
                  </a:schemeClr>
                </a:solidFill>
              </a:rPr>
              <a:t>col_names</a:t>
            </a:r>
            <a:r>
              <a:rPr lang="en-US" sz="2400" i="1" dirty="0">
                <a:solidFill>
                  <a:schemeClr val="accent2">
                    <a:lumMod val="75000"/>
                  </a:schemeClr>
                </a:solidFill>
              </a:rPr>
              <a:t> = c("Year", "Free", "Reduced", "Paid", "Total", "</a:t>
            </a:r>
            <a:r>
              <a:rPr lang="en-US" sz="2400" i="1" dirty="0" err="1">
                <a:solidFill>
                  <a:schemeClr val="accent2">
                    <a:lumMod val="75000"/>
                  </a:schemeClr>
                </a:solidFill>
              </a:rPr>
              <a:t>NumMeals</a:t>
            </a:r>
            <a:r>
              <a:rPr lang="en-US" sz="2400" i="1" dirty="0">
                <a:solidFill>
                  <a:schemeClr val="accent2">
                    <a:lumMod val="75000"/>
                  </a:schemeClr>
                </a:solidFill>
              </a:rPr>
              <a:t>", "</a:t>
            </a:r>
            <a:r>
              <a:rPr lang="en-US" sz="2400" i="1" dirty="0" err="1">
                <a:solidFill>
                  <a:schemeClr val="accent2">
                    <a:lumMod val="75000"/>
                  </a:schemeClr>
                </a:solidFill>
              </a:rPr>
              <a:t>PercentFree</a:t>
            </a:r>
            <a:r>
              <a:rPr lang="en-US" sz="2400" i="1" dirty="0">
                <a:solidFill>
                  <a:schemeClr val="accent2">
                    <a:lumMod val="75000"/>
                  </a:schemeClr>
                </a:solidFill>
              </a:rPr>
              <a:t>"))</a:t>
            </a:r>
          </a:p>
          <a:p>
            <a:r>
              <a:rPr lang="en-US" sz="2400" i="1" dirty="0">
                <a:solidFill>
                  <a:schemeClr val="accent2">
                    <a:lumMod val="75000"/>
                  </a:schemeClr>
                </a:solidFill>
              </a:rPr>
              <a:t>View(breakfast)</a:t>
            </a:r>
          </a:p>
        </p:txBody>
      </p:sp>
    </p:spTree>
    <p:extLst>
      <p:ext uri="{BB962C8B-B14F-4D97-AF65-F5344CB8AC3E}">
        <p14:creationId xmlns:p14="http://schemas.microsoft.com/office/powerpoint/2010/main" val="182078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Xlsx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534608" cy="4583986"/>
          </a:xfrm>
        </p:spPr>
        <p:txBody>
          <a:bodyPr>
            <a:normAutofit/>
          </a:bodyPr>
          <a:lstStyle/>
          <a:p>
            <a:r>
              <a:rPr lang="en-US" sz="2400" dirty="0"/>
              <a:t>Use xlsx package </a:t>
            </a:r>
            <a:r>
              <a:rPr lang="en-US" sz="2400"/>
              <a:t>for writing Excel </a:t>
            </a:r>
            <a:r>
              <a:rPr lang="en-US" sz="2400" dirty="0"/>
              <a:t>files</a:t>
            </a:r>
          </a:p>
          <a:p>
            <a:pPr lvl="0"/>
            <a:r>
              <a:rPr lang="en-US" sz="2400" dirty="0"/>
              <a:t>write.xlsx(</a:t>
            </a:r>
            <a:r>
              <a:rPr lang="en-US" sz="2400" dirty="0" err="1"/>
              <a:t>as.data.frame</a:t>
            </a:r>
            <a:r>
              <a:rPr lang="en-US" sz="2400" dirty="0"/>
              <a:t>(data), </a:t>
            </a:r>
            <a:br>
              <a:rPr lang="en-US" sz="2400" dirty="0"/>
            </a:br>
            <a:r>
              <a:rPr lang="en-US" sz="2400" dirty="0"/>
              <a:t>                “data/filename.xlsx”, </a:t>
            </a:r>
            <a:br>
              <a:rPr lang="en-US" sz="2400" dirty="0"/>
            </a:br>
            <a:r>
              <a:rPr lang="en-US" sz="2400" dirty="0"/>
              <a:t>                </a:t>
            </a:r>
            <a:r>
              <a:rPr lang="en-US" sz="2400" dirty="0" err="1"/>
              <a:t>sheetName</a:t>
            </a:r>
            <a:r>
              <a:rPr lang="en-US" sz="2400" dirty="0"/>
              <a:t> = “Data”,</a:t>
            </a:r>
            <a:br>
              <a:rPr lang="en-US" sz="2400" dirty="0"/>
            </a:br>
            <a:r>
              <a:rPr lang="en-US" sz="2400" dirty="0"/>
              <a:t>                </a:t>
            </a:r>
            <a:r>
              <a:rPr lang="en-US" sz="2400" dirty="0" err="1"/>
              <a:t>col.names</a:t>
            </a:r>
            <a:r>
              <a:rPr lang="en-US" sz="2400" dirty="0"/>
              <a:t> = TRUE, </a:t>
            </a:r>
            <a:br>
              <a:rPr lang="en-US" sz="2400" dirty="0"/>
            </a:br>
            <a:r>
              <a:rPr lang="en-US" sz="2400" dirty="0"/>
              <a:t>                </a:t>
            </a:r>
            <a:r>
              <a:rPr lang="en-US" sz="2400" dirty="0" err="1"/>
              <a:t>row.names</a:t>
            </a:r>
            <a:r>
              <a:rPr lang="en-US" sz="2400" dirty="0"/>
              <a:t> = FALSE)</a:t>
            </a:r>
          </a:p>
          <a:p>
            <a:pPr lvl="0"/>
            <a:r>
              <a:rPr lang="en-US" sz="2400" i="1" dirty="0">
                <a:solidFill>
                  <a:schemeClr val="accent2">
                    <a:lumMod val="75000"/>
                  </a:schemeClr>
                </a:solidFill>
              </a:rPr>
              <a:t>write.xlsx(breakfast, “Free Breakfast.xlsx”,</a:t>
            </a:r>
            <a:br>
              <a:rPr lang="en-US" sz="2400" i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2400" i="1" dirty="0">
                <a:solidFill>
                  <a:schemeClr val="accent2">
                    <a:lumMod val="75000"/>
                  </a:schemeClr>
                </a:solidFill>
              </a:rPr>
              <a:t>                            </a:t>
            </a:r>
            <a:r>
              <a:rPr lang="en-US" sz="2400" i="1" dirty="0" err="1">
                <a:solidFill>
                  <a:schemeClr val="accent2">
                    <a:lumMod val="75000"/>
                  </a:schemeClr>
                </a:solidFill>
              </a:rPr>
              <a:t>sheetName</a:t>
            </a:r>
            <a:r>
              <a:rPr lang="en-US" sz="2400" i="1" dirty="0">
                <a:solidFill>
                  <a:schemeClr val="accent2">
                    <a:lumMod val="75000"/>
                  </a:schemeClr>
                </a:solidFill>
              </a:rPr>
              <a:t> = “Breakfast”,</a:t>
            </a:r>
            <a:br>
              <a:rPr lang="en-US" sz="2400" i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2400" i="1" dirty="0">
                <a:solidFill>
                  <a:schemeClr val="accent2">
                    <a:lumMod val="75000"/>
                  </a:schemeClr>
                </a:solidFill>
              </a:rPr>
              <a:t>                            </a:t>
            </a:r>
            <a:r>
              <a:rPr lang="en-US" sz="2400" i="1" dirty="0" err="1">
                <a:solidFill>
                  <a:schemeClr val="accent2">
                    <a:lumMod val="75000"/>
                  </a:schemeClr>
                </a:solidFill>
              </a:rPr>
              <a:t>col.names</a:t>
            </a:r>
            <a:r>
              <a:rPr lang="en-US" sz="2400" i="1" dirty="0">
                <a:solidFill>
                  <a:schemeClr val="accent2">
                    <a:lumMod val="75000"/>
                  </a:schemeClr>
                </a:solidFill>
              </a:rPr>
              <a:t> = TRUE,</a:t>
            </a:r>
            <a:br>
              <a:rPr lang="en-US" sz="2400" i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2400" i="1" dirty="0">
                <a:solidFill>
                  <a:schemeClr val="accent2">
                    <a:lumMod val="75000"/>
                  </a:schemeClr>
                </a:solidFill>
              </a:rPr>
              <a:t>                            </a:t>
            </a:r>
            <a:r>
              <a:rPr lang="en-US" sz="2400" i="1" dirty="0" err="1">
                <a:solidFill>
                  <a:schemeClr val="accent2">
                    <a:lumMod val="75000"/>
                  </a:schemeClr>
                </a:solidFill>
              </a:rPr>
              <a:t>row.names</a:t>
            </a:r>
            <a:r>
              <a:rPr lang="en-US" sz="2400" i="1" dirty="0">
                <a:solidFill>
                  <a:schemeClr val="accent2">
                    <a:lumMod val="75000"/>
                  </a:schemeClr>
                </a:solidFill>
              </a:rPr>
              <a:t> = TRUE)</a:t>
            </a:r>
          </a:p>
        </p:txBody>
      </p:sp>
      <p:sp>
        <p:nvSpPr>
          <p:cNvPr id="4" name="Callout: Left Arrow 3">
            <a:extLst>
              <a:ext uri="{FF2B5EF4-FFF2-40B4-BE49-F238E27FC236}">
                <a16:creationId xmlns:a16="http://schemas.microsoft.com/office/drawing/2014/main" id="{4079E033-DE22-47B7-9557-3E41C45D6DBC}"/>
              </a:ext>
            </a:extLst>
          </p:cNvPr>
          <p:cNvSpPr/>
          <p:nvPr/>
        </p:nvSpPr>
        <p:spPr>
          <a:xfrm>
            <a:off x="5563092" y="3869977"/>
            <a:ext cx="4530704" cy="1032387"/>
          </a:xfrm>
          <a:prstGeom prst="lef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File has column headers</a:t>
            </a:r>
          </a:p>
          <a:p>
            <a:pPr algn="ctr"/>
            <a:r>
              <a:rPr lang="en-US" dirty="0"/>
              <a:t>Rows should not have row numbers added</a:t>
            </a:r>
          </a:p>
        </p:txBody>
      </p:sp>
    </p:spTree>
    <p:extLst>
      <p:ext uri="{BB962C8B-B14F-4D97-AF65-F5344CB8AC3E}">
        <p14:creationId xmlns:p14="http://schemas.microsoft.com/office/powerpoint/2010/main" val="467286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Wide v. Long 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750838"/>
            <a:ext cx="5457372" cy="5177781"/>
          </a:xfrm>
        </p:spPr>
        <p:txBody>
          <a:bodyPr>
            <a:noAutofit/>
          </a:bodyPr>
          <a:lstStyle/>
          <a:p>
            <a:r>
              <a:rPr lang="en-US" sz="2000" dirty="0" err="1"/>
              <a:t>Tidyverse</a:t>
            </a:r>
            <a:r>
              <a:rPr lang="en-US" sz="2000" dirty="0"/>
              <a:t> assumes LONG</a:t>
            </a:r>
          </a:p>
          <a:p>
            <a:r>
              <a:rPr lang="en-US" sz="2000" dirty="0" err="1"/>
              <a:t>pivot_longer</a:t>
            </a:r>
            <a:r>
              <a:rPr lang="en-US" sz="2000" dirty="0"/>
              <a:t> function </a:t>
            </a:r>
            <a:r>
              <a:rPr lang="en-US" sz="2000" dirty="0">
                <a:sym typeface="Wingdings" panose="05000000000000000000" pitchFamily="2" charset="2"/>
              </a:rPr>
              <a:t> makes wide data set long</a:t>
            </a:r>
          </a:p>
          <a:p>
            <a:pPr lvl="0"/>
            <a:r>
              <a:rPr lang="en-US" sz="2000" dirty="0" err="1"/>
              <a:t>pivot_longer</a:t>
            </a:r>
            <a:r>
              <a:rPr lang="en-US" sz="2000" dirty="0"/>
              <a:t>(data, cols, </a:t>
            </a:r>
            <a:r>
              <a:rPr lang="en-US" sz="2000" dirty="0" err="1">
                <a:solidFill>
                  <a:srgbClr val="7030A0"/>
                </a:solidFill>
              </a:rPr>
              <a:t>names_to</a:t>
            </a:r>
            <a:r>
              <a:rPr lang="en-US" sz="2000" dirty="0"/>
              <a:t>, </a:t>
            </a:r>
            <a:r>
              <a:rPr lang="en-US" sz="2000" dirty="0" err="1">
                <a:solidFill>
                  <a:schemeClr val="accent5">
                    <a:lumMod val="50000"/>
                  </a:schemeClr>
                </a:solidFill>
              </a:rPr>
              <a:t>values_to</a:t>
            </a:r>
            <a:r>
              <a:rPr lang="en-US" sz="2000" dirty="0"/>
              <a:t>)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Cols are columns to include in &lt;</a:t>
            </a:r>
            <a:r>
              <a:rPr lang="en-US" sz="2000" dirty="0">
                <a:solidFill>
                  <a:srgbClr val="7030A0"/>
                </a:solidFill>
              </a:rPr>
              <a:t>key</a:t>
            </a:r>
            <a:r>
              <a:rPr lang="en-US" sz="2000" dirty="0">
                <a:solidFill>
                  <a:schemeClr val="tx1"/>
                </a:solidFill>
              </a:rPr>
              <a:t>, </a:t>
            </a:r>
            <a:r>
              <a:rPr lang="en-US" sz="2000" i="1" dirty="0">
                <a:solidFill>
                  <a:schemeClr val="accent5">
                    <a:lumMod val="50000"/>
                  </a:schemeClr>
                </a:solidFill>
              </a:rPr>
              <a:t>value</a:t>
            </a:r>
            <a:r>
              <a:rPr lang="en-US" sz="2000" dirty="0">
                <a:solidFill>
                  <a:schemeClr val="tx1"/>
                </a:solidFill>
              </a:rPr>
              <a:t>&gt; pairs – use colon ( : ) for multiple columns</a:t>
            </a:r>
          </a:p>
          <a:p>
            <a:pPr lvl="2"/>
            <a:r>
              <a:rPr lang="en-US" sz="1600" dirty="0">
                <a:solidFill>
                  <a:schemeClr val="tx1"/>
                </a:solidFill>
              </a:rPr>
              <a:t>May use minus ( - ) to exclude cols</a:t>
            </a:r>
          </a:p>
          <a:p>
            <a:pPr lvl="2"/>
            <a:r>
              <a:rPr lang="en-US" sz="1600" dirty="0">
                <a:solidFill>
                  <a:schemeClr val="tx1"/>
                </a:solidFill>
              </a:rPr>
              <a:t>Each column’s OU becomes new OBSERVATIONAL UNIT</a:t>
            </a:r>
          </a:p>
          <a:p>
            <a:pPr lvl="1"/>
            <a:r>
              <a:rPr lang="en-US" sz="2000" dirty="0" err="1">
                <a:solidFill>
                  <a:srgbClr val="7030A0"/>
                </a:solidFill>
              </a:rPr>
              <a:t>names_to</a:t>
            </a:r>
            <a:r>
              <a:rPr lang="en-US" sz="2000" dirty="0"/>
              <a:t> is/are the new </a:t>
            </a:r>
            <a:r>
              <a:rPr lang="en-US" sz="2000" u="sng" dirty="0">
                <a:solidFill>
                  <a:srgbClr val="7030A0"/>
                </a:solidFill>
              </a:rPr>
              <a:t>column name(s)</a:t>
            </a:r>
          </a:p>
          <a:p>
            <a:pPr lvl="2"/>
            <a:r>
              <a:rPr lang="en-US" dirty="0"/>
              <a:t>Column header is now an OBSERVATIONAL UNIT</a:t>
            </a:r>
          </a:p>
          <a:p>
            <a:pPr lvl="2"/>
            <a:r>
              <a:rPr lang="en-US" dirty="0"/>
              <a:t>Used for each value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02514" y="1832622"/>
            <a:ext cx="6595752" cy="3116752"/>
          </a:xfrm>
        </p:spPr>
        <p:txBody>
          <a:bodyPr>
            <a:normAutofit fontScale="25000" lnSpcReduction="20000"/>
          </a:bodyPr>
          <a:lstStyle/>
          <a:p>
            <a:r>
              <a:rPr lang="en-US" sz="8000" b="1" dirty="0" err="1">
                <a:solidFill>
                  <a:schemeClr val="accent5">
                    <a:lumMod val="50000"/>
                  </a:schemeClr>
                </a:solidFill>
              </a:rPr>
              <a:t>values_to</a:t>
            </a:r>
            <a:r>
              <a:rPr lang="en-US" sz="8000" i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8000" dirty="0">
                <a:solidFill>
                  <a:schemeClr val="tx1"/>
                </a:solidFill>
              </a:rPr>
              <a:t>is/are the new </a:t>
            </a:r>
            <a:r>
              <a:rPr lang="en-US" sz="8000" b="1" u="sng" dirty="0">
                <a:solidFill>
                  <a:schemeClr val="accent5">
                    <a:lumMod val="50000"/>
                  </a:schemeClr>
                </a:solidFill>
              </a:rPr>
              <a:t>column value(s)</a:t>
            </a:r>
          </a:p>
          <a:p>
            <a:pPr lvl="1"/>
            <a:r>
              <a:rPr lang="en-US" sz="8000" dirty="0">
                <a:solidFill>
                  <a:schemeClr val="tx1"/>
                </a:solidFill>
              </a:rPr>
              <a:t>Observational Unit is still an OBSERVATIONAL UNIT</a:t>
            </a:r>
          </a:p>
          <a:p>
            <a:r>
              <a:rPr lang="en-US" sz="8000" i="1" dirty="0" err="1">
                <a:solidFill>
                  <a:schemeClr val="accent2">
                    <a:lumMod val="75000"/>
                  </a:schemeClr>
                </a:solidFill>
              </a:rPr>
              <a:t>pew.long</a:t>
            </a:r>
            <a:r>
              <a:rPr lang="en-US" sz="8000" i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8000" i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&lt;-</a:t>
            </a:r>
            <a:r>
              <a:rPr lang="en-US" sz="8000" i="1" dirty="0">
                <a:solidFill>
                  <a:schemeClr val="accent2">
                    <a:lumMod val="75000"/>
                  </a:schemeClr>
                </a:solidFill>
              </a:rPr>
              <a:t>  pew %&gt;%</a:t>
            </a:r>
            <a:br>
              <a:rPr lang="en-US" sz="8000" i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8000" i="1" dirty="0">
                <a:solidFill>
                  <a:schemeClr val="accent2">
                    <a:lumMod val="75000"/>
                  </a:schemeClr>
                </a:solidFill>
              </a:rPr>
              <a:t>                  </a:t>
            </a:r>
            <a:r>
              <a:rPr lang="en-US" sz="8000" i="1" dirty="0" err="1">
                <a:solidFill>
                  <a:schemeClr val="accent2">
                    <a:lumMod val="75000"/>
                  </a:schemeClr>
                </a:solidFill>
              </a:rPr>
              <a:t>pivot_longer</a:t>
            </a:r>
            <a:r>
              <a:rPr lang="en-US" sz="8000" i="1" dirty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8000" i="1" dirty="0">
                <a:solidFill>
                  <a:schemeClr val="tx1"/>
                </a:solidFill>
              </a:rPr>
              <a:t>cols = -religion</a:t>
            </a:r>
            <a:r>
              <a:rPr lang="en-US" sz="8000" i="1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n-US" sz="8000" i="1" dirty="0" err="1">
                <a:solidFill>
                  <a:srgbClr val="7030A0"/>
                </a:solidFill>
              </a:rPr>
              <a:t>names_to</a:t>
            </a:r>
            <a:r>
              <a:rPr lang="en-US" sz="8000" i="1" dirty="0">
                <a:solidFill>
                  <a:srgbClr val="7030A0"/>
                </a:solidFill>
              </a:rPr>
              <a:t> = “income”</a:t>
            </a:r>
            <a:r>
              <a:rPr lang="en-US" sz="8000" i="1" dirty="0">
                <a:solidFill>
                  <a:schemeClr val="accent2">
                    <a:lumMod val="75000"/>
                  </a:schemeClr>
                </a:solidFill>
              </a:rPr>
              <a:t>,</a:t>
            </a:r>
            <a:br>
              <a:rPr lang="en-US" sz="8000" i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8000" i="1" dirty="0">
                <a:solidFill>
                  <a:schemeClr val="accent2">
                    <a:lumMod val="75000"/>
                  </a:schemeClr>
                </a:solidFill>
              </a:rPr>
              <a:t>                                    </a:t>
            </a:r>
            <a:r>
              <a:rPr lang="en-US" sz="8000" i="1" dirty="0" err="1">
                <a:solidFill>
                  <a:schemeClr val="accent5">
                    <a:lumMod val="50000"/>
                  </a:schemeClr>
                </a:solidFill>
              </a:rPr>
              <a:t>values_to</a:t>
            </a:r>
            <a:r>
              <a:rPr lang="en-US" sz="8000" i="1" dirty="0">
                <a:solidFill>
                  <a:schemeClr val="accent5">
                    <a:lumMod val="50000"/>
                  </a:schemeClr>
                </a:solidFill>
              </a:rPr>
              <a:t> = “frequency”</a:t>
            </a:r>
            <a:r>
              <a:rPr lang="en-US" sz="8000" i="1" dirty="0">
                <a:solidFill>
                  <a:schemeClr val="accent2">
                    <a:lumMod val="75000"/>
                  </a:schemeClr>
                </a:solidFill>
              </a:rPr>
              <a:t>)</a:t>
            </a:r>
            <a:r>
              <a:rPr lang="en-US" sz="8000" dirty="0"/>
              <a:t>  </a:t>
            </a:r>
            <a:endParaRPr lang="en-US" sz="8000" dirty="0">
              <a:sym typeface="Wingdings" panose="05000000000000000000" pitchFamily="2" charset="2"/>
            </a:endParaRPr>
          </a:p>
          <a:p>
            <a:pPr lvl="1"/>
            <a:r>
              <a:rPr lang="en-US" sz="8000" dirty="0"/>
              <a:t>from pew.csv</a:t>
            </a:r>
          </a:p>
          <a:p>
            <a:pPr lvl="1"/>
            <a:r>
              <a:rPr lang="en-US" sz="8000" dirty="0"/>
              <a:t>pivot everything but the religion name</a:t>
            </a:r>
          </a:p>
          <a:p>
            <a:pPr lvl="1"/>
            <a:r>
              <a:rPr lang="en-US" sz="8000" dirty="0"/>
              <a:t>think of transposing</a:t>
            </a:r>
          </a:p>
          <a:p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498863"/>
              </p:ext>
            </p:extLst>
          </p:nvPr>
        </p:nvGraphicFramePr>
        <p:xfrm>
          <a:off x="4975019" y="4884414"/>
          <a:ext cx="7223247" cy="2014183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1566303">
                  <a:extLst>
                    <a:ext uri="{9D8B030D-6E8A-4147-A177-3AD203B41FA5}">
                      <a16:colId xmlns:a16="http://schemas.microsoft.com/office/drawing/2014/main" val="2458509242"/>
                    </a:ext>
                  </a:extLst>
                </a:gridCol>
                <a:gridCol w="486618">
                  <a:extLst>
                    <a:ext uri="{9D8B030D-6E8A-4147-A177-3AD203B41FA5}">
                      <a16:colId xmlns:a16="http://schemas.microsoft.com/office/drawing/2014/main" val="1062317453"/>
                    </a:ext>
                  </a:extLst>
                </a:gridCol>
                <a:gridCol w="623481">
                  <a:extLst>
                    <a:ext uri="{9D8B030D-6E8A-4147-A177-3AD203B41FA5}">
                      <a16:colId xmlns:a16="http://schemas.microsoft.com/office/drawing/2014/main" val="1576266945"/>
                    </a:ext>
                  </a:extLst>
                </a:gridCol>
                <a:gridCol w="623481">
                  <a:extLst>
                    <a:ext uri="{9D8B030D-6E8A-4147-A177-3AD203B41FA5}">
                      <a16:colId xmlns:a16="http://schemas.microsoft.com/office/drawing/2014/main" val="2143447962"/>
                    </a:ext>
                  </a:extLst>
                </a:gridCol>
                <a:gridCol w="623481">
                  <a:extLst>
                    <a:ext uri="{9D8B030D-6E8A-4147-A177-3AD203B41FA5}">
                      <a16:colId xmlns:a16="http://schemas.microsoft.com/office/drawing/2014/main" val="1478366356"/>
                    </a:ext>
                  </a:extLst>
                </a:gridCol>
                <a:gridCol w="623481">
                  <a:extLst>
                    <a:ext uri="{9D8B030D-6E8A-4147-A177-3AD203B41FA5}">
                      <a16:colId xmlns:a16="http://schemas.microsoft.com/office/drawing/2014/main" val="409012288"/>
                    </a:ext>
                  </a:extLst>
                </a:gridCol>
                <a:gridCol w="623481">
                  <a:extLst>
                    <a:ext uri="{9D8B030D-6E8A-4147-A177-3AD203B41FA5}">
                      <a16:colId xmlns:a16="http://schemas.microsoft.com/office/drawing/2014/main" val="909355903"/>
                    </a:ext>
                  </a:extLst>
                </a:gridCol>
                <a:gridCol w="699513">
                  <a:extLst>
                    <a:ext uri="{9D8B030D-6E8A-4147-A177-3AD203B41FA5}">
                      <a16:colId xmlns:a16="http://schemas.microsoft.com/office/drawing/2014/main" val="3157368224"/>
                    </a:ext>
                  </a:extLst>
                </a:gridCol>
                <a:gridCol w="790756">
                  <a:extLst>
                    <a:ext uri="{9D8B030D-6E8A-4147-A177-3AD203B41FA5}">
                      <a16:colId xmlns:a16="http://schemas.microsoft.com/office/drawing/2014/main" val="804210285"/>
                    </a:ext>
                  </a:extLst>
                </a:gridCol>
                <a:gridCol w="562652">
                  <a:extLst>
                    <a:ext uri="{9D8B030D-6E8A-4147-A177-3AD203B41FA5}">
                      <a16:colId xmlns:a16="http://schemas.microsoft.com/office/drawing/2014/main" val="2449336122"/>
                    </a:ext>
                  </a:extLst>
                </a:gridCol>
              </a:tblGrid>
              <a:tr h="26831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religion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&lt;$10k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$10-20k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$20-30k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$30-40k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$40-50k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$50-75k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$75-100k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$100-150k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&gt;$150k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06347070"/>
                  </a:ext>
                </a:extLst>
              </a:tr>
              <a:tr h="238278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Agnostic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27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60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81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76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137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122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109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84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46668583"/>
                  </a:ext>
                </a:extLst>
              </a:tr>
              <a:tr h="26831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Atheist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12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27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37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52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70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73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59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74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65804402"/>
                  </a:ext>
                </a:extLst>
              </a:tr>
              <a:tr h="26831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Buddhist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27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21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30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58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62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53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21885346"/>
                  </a:ext>
                </a:extLst>
              </a:tr>
              <a:tr h="26831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Catholic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418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617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732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670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638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1116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949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792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633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20594107"/>
                  </a:ext>
                </a:extLst>
              </a:tr>
              <a:tr h="26831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Don't know/refused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10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35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21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79544774"/>
                  </a:ext>
                </a:extLst>
              </a:tr>
              <a:tr h="26831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Evangelical Prot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575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869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1064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982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881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1486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949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723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414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02990986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/>
          <p:nvPr/>
        </p:nvCxnSpPr>
        <p:spPr>
          <a:xfrm flipV="1">
            <a:off x="3780442" y="2409371"/>
            <a:ext cx="2068815" cy="3887521"/>
          </a:xfrm>
          <a:prstGeom prst="straightConnector1">
            <a:avLst/>
          </a:prstGeom>
          <a:ln w="254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6345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Wide To Long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6748522" cy="3805437"/>
          </a:xfrm>
        </p:spPr>
        <p:txBody>
          <a:bodyPr/>
          <a:lstStyle/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pew &lt;-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read_csv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("data/pew.csv",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col_names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= TRUE)</a:t>
            </a:r>
          </a:p>
          <a:p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pew.long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&lt;-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pew %&gt;%</a:t>
            </a:r>
            <a:br>
              <a:rPr lang="en-US" i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               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pivot_longer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i="1" dirty="0">
                <a:solidFill>
                  <a:schemeClr val="tx1"/>
                </a:solidFill>
              </a:rPr>
              <a:t>cols = -religion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br>
              <a:rPr lang="en-US" i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                          </a:t>
            </a:r>
            <a:r>
              <a:rPr lang="en-US" i="1" dirty="0" err="1">
                <a:solidFill>
                  <a:srgbClr val="7030A0"/>
                </a:solidFill>
              </a:rPr>
              <a:t>names_to</a:t>
            </a:r>
            <a:r>
              <a:rPr lang="en-US" i="1" dirty="0">
                <a:solidFill>
                  <a:srgbClr val="7030A0"/>
                </a:solidFill>
              </a:rPr>
              <a:t> = “income”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,</a:t>
            </a:r>
            <a:br>
              <a:rPr lang="en-US" i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                          </a:t>
            </a:r>
            <a:r>
              <a:rPr lang="en-US" i="1" dirty="0" err="1">
                <a:solidFill>
                  <a:schemeClr val="accent5">
                    <a:lumMod val="50000"/>
                  </a:schemeClr>
                </a:solidFill>
              </a:rPr>
              <a:t>values_to</a:t>
            </a:r>
            <a:r>
              <a:rPr lang="en-US" i="1" dirty="0">
                <a:solidFill>
                  <a:schemeClr val="accent5">
                    <a:lumMod val="50000"/>
                  </a:schemeClr>
                </a:solidFill>
              </a:rPr>
              <a:t> = frequency”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)</a:t>
            </a:r>
            <a:r>
              <a:rPr lang="en-US" dirty="0"/>
              <a:t>  </a:t>
            </a:r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320" y="2019300"/>
            <a:ext cx="4262438" cy="436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6197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to Wide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1733" y="2228003"/>
            <a:ext cx="7304404" cy="3633047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US" dirty="0" err="1"/>
              <a:t>pivot_wider</a:t>
            </a:r>
            <a:r>
              <a:rPr lang="en-US" dirty="0"/>
              <a:t> function </a:t>
            </a:r>
            <a:r>
              <a:rPr lang="en-US" dirty="0">
                <a:sym typeface="Wingdings" panose="05000000000000000000" pitchFamily="2" charset="2"/>
              </a:rPr>
              <a:t> makes long data set wide</a:t>
            </a:r>
            <a:endParaRPr lang="en-US" dirty="0"/>
          </a:p>
          <a:p>
            <a:pPr lvl="0"/>
            <a:r>
              <a:rPr lang="en-US" dirty="0" err="1"/>
              <a:t>pivot_wider</a:t>
            </a:r>
            <a:r>
              <a:rPr lang="en-US" dirty="0"/>
              <a:t>(data, </a:t>
            </a:r>
            <a:r>
              <a:rPr lang="en-US" dirty="0" err="1">
                <a:solidFill>
                  <a:srgbClr val="7030A0"/>
                </a:solidFill>
              </a:rPr>
              <a:t>names_from</a:t>
            </a:r>
            <a:r>
              <a:rPr lang="en-US" dirty="0">
                <a:solidFill>
                  <a:srgbClr val="7030A0"/>
                </a:solidFill>
              </a:rPr>
              <a:t> = key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                           </a:t>
            </a:r>
            <a:r>
              <a:rPr lang="en-US" dirty="0" err="1">
                <a:solidFill>
                  <a:schemeClr val="accent5">
                    <a:lumMod val="50000"/>
                  </a:schemeClr>
                </a:solidFill>
              </a:rPr>
              <a:t>values_from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= value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Name of the &lt;k, v&gt; in the long data set to make into 1 line in wide data set</a:t>
            </a:r>
          </a:p>
          <a:p>
            <a:pPr lvl="0"/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weather.wide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&lt;-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pivot_wider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i="1" dirty="0">
                <a:solidFill>
                  <a:srgbClr val="7030A0"/>
                </a:solidFill>
              </a:rPr>
              <a:t>weather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n-US" i="1" dirty="0" err="1">
                <a:solidFill>
                  <a:schemeClr val="accent5">
                    <a:lumMod val="50000"/>
                  </a:schemeClr>
                </a:solidFill>
              </a:rPr>
              <a:t>names_from</a:t>
            </a:r>
            <a:r>
              <a:rPr lang="en-US" i="1" dirty="0">
                <a:solidFill>
                  <a:schemeClr val="accent5">
                    <a:lumMod val="50000"/>
                  </a:schemeClr>
                </a:solidFill>
              </a:rPr>
              <a:t> = element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,</a:t>
            </a:r>
            <a:br>
              <a:rPr lang="en-US" i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                                    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values_from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= value) </a:t>
            </a:r>
          </a:p>
          <a:p>
            <a:pPr lvl="1"/>
            <a:r>
              <a:rPr lang="en-US" dirty="0"/>
              <a:t>  from mexicanweather.csv</a:t>
            </a:r>
          </a:p>
          <a:p>
            <a:pPr lvl="1"/>
            <a:r>
              <a:rPr lang="en-US" dirty="0"/>
              <a:t>Uses element (</a:t>
            </a:r>
            <a:r>
              <a:rPr lang="en-US" dirty="0">
                <a:solidFill>
                  <a:srgbClr val="7030A0"/>
                </a:solidFill>
              </a:rPr>
              <a:t>key</a:t>
            </a:r>
            <a:r>
              <a:rPr lang="en-US" dirty="0"/>
              <a:t>) becomes a VARIABLE</a:t>
            </a:r>
          </a:p>
          <a:p>
            <a:pPr lvl="1"/>
            <a:r>
              <a:rPr lang="en-US" dirty="0"/>
              <a:t>Uses value (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value</a:t>
            </a:r>
            <a:r>
              <a:rPr lang="en-US" dirty="0"/>
              <a:t>) stays an OBSERVATIONAL UNIT</a:t>
            </a:r>
          </a:p>
          <a:p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48917037"/>
              </p:ext>
            </p:extLst>
          </p:nvPr>
        </p:nvGraphicFramePr>
        <p:xfrm>
          <a:off x="7626137" y="2228003"/>
          <a:ext cx="3984672" cy="3759923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996168">
                  <a:extLst>
                    <a:ext uri="{9D8B030D-6E8A-4147-A177-3AD203B41FA5}">
                      <a16:colId xmlns:a16="http://schemas.microsoft.com/office/drawing/2014/main" val="2098671177"/>
                    </a:ext>
                  </a:extLst>
                </a:gridCol>
                <a:gridCol w="996168">
                  <a:extLst>
                    <a:ext uri="{9D8B030D-6E8A-4147-A177-3AD203B41FA5}">
                      <a16:colId xmlns:a16="http://schemas.microsoft.com/office/drawing/2014/main" val="1891448438"/>
                    </a:ext>
                  </a:extLst>
                </a:gridCol>
                <a:gridCol w="996168">
                  <a:extLst>
                    <a:ext uri="{9D8B030D-6E8A-4147-A177-3AD203B41FA5}">
                      <a16:colId xmlns:a16="http://schemas.microsoft.com/office/drawing/2014/main" val="3020253746"/>
                    </a:ext>
                  </a:extLst>
                </a:gridCol>
                <a:gridCol w="996168">
                  <a:extLst>
                    <a:ext uri="{9D8B030D-6E8A-4147-A177-3AD203B41FA5}">
                      <a16:colId xmlns:a16="http://schemas.microsoft.com/office/drawing/2014/main" val="391936609"/>
                    </a:ext>
                  </a:extLst>
                </a:gridCol>
              </a:tblGrid>
              <a:tr h="154629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station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element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value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date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extLst>
                  <a:ext uri="{0D108BD9-81ED-4DB2-BD59-A6C34878D82A}">
                    <a16:rowId xmlns:a16="http://schemas.microsoft.com/office/drawing/2014/main" val="1751872787"/>
                  </a:ext>
                </a:extLst>
              </a:tr>
              <a:tr h="28993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MX000017004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TMAX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310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4/1/1955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extLst>
                  <a:ext uri="{0D108BD9-81ED-4DB2-BD59-A6C34878D82A}">
                    <a16:rowId xmlns:a16="http://schemas.microsoft.com/office/drawing/2014/main" val="3983111712"/>
                  </a:ext>
                </a:extLst>
              </a:tr>
              <a:tr h="28993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MX000017004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TMIN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4/1/1955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extLst>
                  <a:ext uri="{0D108BD9-81ED-4DB2-BD59-A6C34878D82A}">
                    <a16:rowId xmlns:a16="http://schemas.microsoft.com/office/drawing/2014/main" val="859520630"/>
                  </a:ext>
                </a:extLst>
              </a:tr>
              <a:tr h="28993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MX000017004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TMAX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310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5/1/1955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extLst>
                  <a:ext uri="{0D108BD9-81ED-4DB2-BD59-A6C34878D82A}">
                    <a16:rowId xmlns:a16="http://schemas.microsoft.com/office/drawing/2014/main" val="4184524185"/>
                  </a:ext>
                </a:extLst>
              </a:tr>
              <a:tr h="28993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MX000017004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TMIN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200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5/1/1955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extLst>
                  <a:ext uri="{0D108BD9-81ED-4DB2-BD59-A6C34878D82A}">
                    <a16:rowId xmlns:a16="http://schemas.microsoft.com/office/drawing/2014/main" val="3382084880"/>
                  </a:ext>
                </a:extLst>
              </a:tr>
              <a:tr h="28993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MX000017004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TMAX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300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6/1/1955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extLst>
                  <a:ext uri="{0D108BD9-81ED-4DB2-BD59-A6C34878D82A}">
                    <a16:rowId xmlns:a16="http://schemas.microsoft.com/office/drawing/2014/main" val="2777495545"/>
                  </a:ext>
                </a:extLst>
              </a:tr>
              <a:tr h="28993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MX000017004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TMIN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160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6/1/1955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extLst>
                  <a:ext uri="{0D108BD9-81ED-4DB2-BD59-A6C34878D82A}">
                    <a16:rowId xmlns:a16="http://schemas.microsoft.com/office/drawing/2014/main" val="585982006"/>
                  </a:ext>
                </a:extLst>
              </a:tr>
              <a:tr h="28993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MX000017004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TMAX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270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7/1/1955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extLst>
                  <a:ext uri="{0D108BD9-81ED-4DB2-BD59-A6C34878D82A}">
                    <a16:rowId xmlns:a16="http://schemas.microsoft.com/office/drawing/2014/main" val="591887810"/>
                  </a:ext>
                </a:extLst>
              </a:tr>
              <a:tr h="28993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MX000017004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TMIN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7/1/1955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extLst>
                  <a:ext uri="{0D108BD9-81ED-4DB2-BD59-A6C34878D82A}">
                    <a16:rowId xmlns:a16="http://schemas.microsoft.com/office/drawing/2014/main" val="1033422296"/>
                  </a:ext>
                </a:extLst>
              </a:tr>
              <a:tr h="28993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MX000017004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TMAX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230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8/1/1955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extLst>
                  <a:ext uri="{0D108BD9-81ED-4DB2-BD59-A6C34878D82A}">
                    <a16:rowId xmlns:a16="http://schemas.microsoft.com/office/drawing/2014/main" val="3529062001"/>
                  </a:ext>
                </a:extLst>
              </a:tr>
              <a:tr h="28993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MX000017004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TMIN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140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8/1/1955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extLst>
                  <a:ext uri="{0D108BD9-81ED-4DB2-BD59-A6C34878D82A}">
                    <a16:rowId xmlns:a16="http://schemas.microsoft.com/office/drawing/2014/main" val="4054258144"/>
                  </a:ext>
                </a:extLst>
              </a:tr>
              <a:tr h="28993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MX000017004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TMAX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230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9/1/1955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extLst>
                  <a:ext uri="{0D108BD9-81ED-4DB2-BD59-A6C34878D82A}">
                    <a16:rowId xmlns:a16="http://schemas.microsoft.com/office/drawing/2014/main" val="4227292174"/>
                  </a:ext>
                </a:extLst>
              </a:tr>
              <a:tr h="28993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MX000017004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TMIN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9/1/1955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3" marR="6443" marT="6443" marB="0" anchor="b"/>
                </a:tc>
                <a:extLst>
                  <a:ext uri="{0D108BD9-81ED-4DB2-BD59-A6C34878D82A}">
                    <a16:rowId xmlns:a16="http://schemas.microsoft.com/office/drawing/2014/main" val="2919293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2537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to Wide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86266" y="2228003"/>
            <a:ext cx="7399867" cy="3633047"/>
          </a:xfrm>
        </p:spPr>
        <p:txBody>
          <a:bodyPr/>
          <a:lstStyle/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weather &lt;-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read_csv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("data/mexicanweather.csv",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col_names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= TRUE)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weather &lt;- weather %&gt;%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pivot_wider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i="1" dirty="0" err="1">
                <a:solidFill>
                  <a:srgbClr val="7030A0"/>
                </a:solidFill>
              </a:rPr>
              <a:t>names_from</a:t>
            </a:r>
            <a:r>
              <a:rPr lang="en-US" i="1" dirty="0">
                <a:solidFill>
                  <a:srgbClr val="7030A0"/>
                </a:solidFill>
              </a:rPr>
              <a:t> = element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br>
              <a:rPr lang="en-US" i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                </a:t>
            </a:r>
            <a:r>
              <a:rPr lang="en-US" i="1" dirty="0" err="1">
                <a:solidFill>
                  <a:schemeClr val="accent5">
                    <a:lumMod val="50000"/>
                  </a:schemeClr>
                </a:solidFill>
              </a:rPr>
              <a:t>values_from</a:t>
            </a:r>
            <a:r>
              <a:rPr lang="en-US" i="1" dirty="0">
                <a:solidFill>
                  <a:schemeClr val="accent5">
                    <a:lumMod val="50000"/>
                  </a:schemeClr>
                </a:solidFill>
              </a:rPr>
              <a:t> = value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)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View(weather)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4194"/>
          <a:stretch/>
        </p:blipFill>
        <p:spPr>
          <a:xfrm>
            <a:off x="7865533" y="2228003"/>
            <a:ext cx="3903931" cy="39272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8681944-F6CA-4860-B162-F4DF71B2D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924" y="2228003"/>
            <a:ext cx="4151389" cy="409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390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Scraping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4" y="1894697"/>
            <a:ext cx="5088096" cy="403871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Web scraping is a technique for converting data in unstructured format (HTML tags) to structured formats, which can easily be accessed and used.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799" y="6000173"/>
            <a:ext cx="116863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https://www.analyticsvidhya.com/blog/2017/03/beginners-guide-on-web-scraping-in-r-using-rvest-with-hands-on-knowledge/</a:t>
            </a:r>
            <a:endParaRPr lang="en-US" dirty="0"/>
          </a:p>
        </p:txBody>
      </p:sp>
      <p:pic>
        <p:nvPicPr>
          <p:cNvPr id="1026" name="Picture 2" descr="What is Web Scraping and How Does It Work - Data Science Central">
            <a:extLst>
              <a:ext uri="{FF2B5EF4-FFF2-40B4-BE49-F238E27FC236}">
                <a16:creationId xmlns:a16="http://schemas.microsoft.com/office/drawing/2014/main" id="{7CE39DB7-3F64-4E6B-BB5C-82E6B50B1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9972" y="1833807"/>
            <a:ext cx="5780834" cy="4166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7722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Web Scraping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180497"/>
            <a:ext cx="7721144" cy="2370722"/>
          </a:xfrm>
        </p:spPr>
        <p:txBody>
          <a:bodyPr/>
          <a:lstStyle/>
          <a:p>
            <a:r>
              <a:rPr lang="en-US" dirty="0"/>
              <a:t>Movie ratings to create recommendation engines</a:t>
            </a:r>
          </a:p>
          <a:p>
            <a:r>
              <a:rPr lang="en-US" dirty="0"/>
              <a:t>Wikipedia for training deep learning models</a:t>
            </a:r>
          </a:p>
          <a:p>
            <a:r>
              <a:rPr lang="en-US" dirty="0"/>
              <a:t>Social media for sentiment analysis</a:t>
            </a:r>
          </a:p>
          <a:p>
            <a:r>
              <a:rPr lang="en-US" dirty="0"/>
              <a:t>Amazon for user reviews or feedback</a:t>
            </a:r>
          </a:p>
        </p:txBody>
      </p:sp>
      <p:pic>
        <p:nvPicPr>
          <p:cNvPr id="5" name="Picture 5" descr="Imdb Icon | Plex for Android Iconset | Cornmanthe3r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9536" y="1955616"/>
            <a:ext cx="2383060" cy="2355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Image result for amaz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6537" y="4732939"/>
            <a:ext cx="3055627" cy="188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Image result for wikipedia 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8987" y="3762728"/>
            <a:ext cx="1883350" cy="2162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 descr="Image result for twitter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7183" y="5031990"/>
            <a:ext cx="1969779" cy="1107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10635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Ways to Scrape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677504"/>
          </a:xfrm>
        </p:spPr>
        <p:txBody>
          <a:bodyPr/>
          <a:lstStyle/>
          <a:p>
            <a:r>
              <a:rPr lang="en-US" dirty="0"/>
              <a:t>1.	Human Copy-Paste </a:t>
            </a:r>
            <a:r>
              <a:rPr lang="en-US" dirty="0">
                <a:sym typeface="Wingdings" panose="05000000000000000000" pitchFamily="2" charset="2"/>
              </a:rPr>
              <a:t> person analyzing and copying relevant information</a:t>
            </a:r>
          </a:p>
          <a:p>
            <a:r>
              <a:rPr lang="en-US" dirty="0"/>
              <a:t>2.	Text pattern matching </a:t>
            </a:r>
            <a:r>
              <a:rPr lang="en-US" dirty="0">
                <a:sym typeface="Wingdings" panose="05000000000000000000" pitchFamily="2" charset="2"/>
              </a:rPr>
              <a:t> regular expressions in programming languages</a:t>
            </a:r>
          </a:p>
          <a:p>
            <a:r>
              <a:rPr lang="en-US" dirty="0"/>
              <a:t>3.	API Interface </a:t>
            </a:r>
            <a:r>
              <a:rPr lang="en-US" dirty="0">
                <a:sym typeface="Wingdings" panose="05000000000000000000" pitchFamily="2" charset="2"/>
              </a:rPr>
              <a:t> websites such as Facebook, Twitter, LinkedIn provide </a:t>
            </a:r>
            <a:r>
              <a:rPr lang="en-US">
                <a:sym typeface="Wingdings" panose="05000000000000000000" pitchFamily="2" charset="2"/>
              </a:rPr>
              <a:t>prescribed formats </a:t>
            </a:r>
            <a:r>
              <a:rPr lang="en-US" dirty="0">
                <a:sym typeface="Wingdings" panose="05000000000000000000" pitchFamily="2" charset="2"/>
              </a:rPr>
              <a:t>that can be used for retrieving data</a:t>
            </a:r>
          </a:p>
          <a:p>
            <a:r>
              <a:rPr lang="nl-NL" dirty="0"/>
              <a:t>4.	DOM (Document Object Model) Parsing </a:t>
            </a:r>
            <a:r>
              <a:rPr lang="nl-NL" dirty="0">
                <a:sym typeface="Wingdings" panose="05000000000000000000" pitchFamily="2" charset="2"/>
              </a:rPr>
              <a:t> retrieve dynamic content from client-side scripts.  Can also parse to retrieve specific parts of page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951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Document Object Model (DOM)</a:t>
            </a:r>
          </a:p>
        </p:txBody>
      </p:sp>
      <p:pic>
        <p:nvPicPr>
          <p:cNvPr id="1026" name="Picture 2" descr="DOM HTML tre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588" y="1990344"/>
            <a:ext cx="6918993" cy="3786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889994" y="6271450"/>
            <a:ext cx="45406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https://www.w3schools.com/js/js_htmldom.asp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F2D997-8825-432B-9068-A3B2156681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440" y="1990344"/>
            <a:ext cx="4362463" cy="470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4055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Rvest</a:t>
            </a:r>
            <a:r>
              <a:rPr lang="en-US" dirty="0"/>
              <a:t> &amp; </a:t>
            </a:r>
            <a:r>
              <a:rPr lang="en-US" dirty="0" err="1"/>
              <a:t>SelectorGadget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721" y="1982533"/>
            <a:ext cx="6618113" cy="4474828"/>
          </a:xfrm>
        </p:spPr>
        <p:txBody>
          <a:bodyPr>
            <a:normAutofit fontScale="92500"/>
          </a:bodyPr>
          <a:lstStyle/>
          <a:p>
            <a:r>
              <a:rPr lang="en-US" dirty="0" err="1"/>
              <a:t>rvest</a:t>
            </a:r>
            <a:r>
              <a:rPr lang="en-US" dirty="0"/>
              <a:t> part of </a:t>
            </a:r>
            <a:r>
              <a:rPr lang="en-US" dirty="0" err="1"/>
              <a:t>tidyverse</a:t>
            </a:r>
            <a:endParaRPr lang="en-US" dirty="0"/>
          </a:p>
          <a:p>
            <a:pPr lvl="1"/>
            <a:r>
              <a:rPr lang="en-US" dirty="0" err="1"/>
              <a:t>read_html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downloads html as xml</a:t>
            </a:r>
          </a:p>
          <a:p>
            <a:pPr lvl="2"/>
            <a:r>
              <a:rPr lang="en-US" dirty="0" err="1"/>
              <a:t>xml_structure</a:t>
            </a:r>
            <a:r>
              <a:rPr lang="en-US" dirty="0"/>
              <a:t>(page) list xml (xml2 package) </a:t>
            </a:r>
          </a:p>
          <a:p>
            <a:pPr lvl="1"/>
            <a:r>
              <a:rPr lang="en-US" dirty="0" err="1"/>
              <a:t>html_node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grabs node content (</a:t>
            </a:r>
            <a:r>
              <a:rPr lang="en-US" dirty="0" err="1"/>
              <a:t>xpath</a:t>
            </a:r>
            <a:r>
              <a:rPr lang="en-US" dirty="0"/>
              <a:t>)  USE SELECTORGADGET  or CSS Peeper and Pesticide</a:t>
            </a:r>
          </a:p>
          <a:p>
            <a:pPr lvl="1"/>
            <a:r>
              <a:rPr lang="en-US" dirty="0" err="1"/>
              <a:t>html_text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 converts the node to text</a:t>
            </a:r>
          </a:p>
          <a:p>
            <a:pPr lvl="1"/>
            <a:r>
              <a:rPr lang="en-US" dirty="0" err="1"/>
              <a:t>html_attr</a:t>
            </a:r>
            <a:r>
              <a:rPr lang="en-US" dirty="0">
                <a:sym typeface="Wingdings" panose="05000000000000000000" pitchFamily="2" charset="2"/>
              </a:rPr>
              <a:t>  extracts value of an attribute</a:t>
            </a:r>
            <a:endParaRPr lang="en-US" dirty="0"/>
          </a:p>
          <a:p>
            <a:pPr lvl="1"/>
            <a:r>
              <a:rPr lang="en-US" dirty="0"/>
              <a:t>Use </a:t>
            </a:r>
            <a:r>
              <a:rPr lang="en-US" dirty="0" err="1"/>
              <a:t>str_remove</a:t>
            </a:r>
            <a:r>
              <a:rPr lang="en-US" dirty="0"/>
              <a:t>(“string”) and </a:t>
            </a:r>
            <a:r>
              <a:rPr lang="en-US" dirty="0" err="1"/>
              <a:t>str_replace</a:t>
            </a:r>
            <a:r>
              <a:rPr lang="en-US" dirty="0"/>
              <a:t>(“\\n”, “”) and </a:t>
            </a:r>
            <a:r>
              <a:rPr lang="en-US" dirty="0" err="1"/>
              <a:t>is.numeric</a:t>
            </a:r>
            <a:r>
              <a:rPr lang="en-US" dirty="0"/>
              <a:t> and grep to wrangle, if necessary</a:t>
            </a:r>
          </a:p>
        </p:txBody>
      </p:sp>
      <p:pic>
        <p:nvPicPr>
          <p:cNvPr id="5122" name="Picture 2" descr="Image result for inspector gadg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7648" y="2632610"/>
            <a:ext cx="3619500" cy="27146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30829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182DD-8F50-4F28-9ECA-BD9AA4A5C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Grep – Global Regular Expression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B7597-F392-43AD-9326-84305EEC1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610808" cy="4583861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grep – finds a pattern in ALL vector elements</a:t>
            </a:r>
          </a:p>
          <a:p>
            <a:r>
              <a:rPr lang="en-US" dirty="0"/>
              <a:t>grep(</a:t>
            </a:r>
            <a:r>
              <a:rPr lang="en-US" i="1" dirty="0"/>
              <a:t>pattern</a:t>
            </a:r>
            <a:r>
              <a:rPr lang="en-US" dirty="0"/>
              <a:t>, vector)</a:t>
            </a:r>
          </a:p>
          <a:p>
            <a:pPr lvl="1"/>
            <a:r>
              <a:rPr lang="en-US" dirty="0"/>
              <a:t>Pattern is a regular expression</a:t>
            </a:r>
          </a:p>
          <a:p>
            <a:pPr lvl="1"/>
            <a:r>
              <a:rPr lang="en-US" dirty="0"/>
              <a:t>^ designates to look at beginning</a:t>
            </a:r>
          </a:p>
          <a:p>
            <a:pPr lvl="1"/>
            <a:r>
              <a:rPr lang="en-US" dirty="0"/>
              <a:t>$ designates to look at end</a:t>
            </a:r>
          </a:p>
          <a:p>
            <a:pPr lvl="1"/>
            <a:r>
              <a:rPr lang="en-US" dirty="0"/>
              <a:t>?!  designates negative lookahead, or everything BUT this string</a:t>
            </a:r>
          </a:p>
          <a:p>
            <a:r>
              <a:rPr lang="en-US" dirty="0"/>
              <a:t>Examples</a:t>
            </a:r>
          </a:p>
          <a:p>
            <a:pPr lvl="1"/>
            <a:r>
              <a:rPr lang="en-US" b="1" i="1" dirty="0">
                <a:solidFill>
                  <a:srgbClr val="0070C0"/>
                </a:solidFill>
              </a:rPr>
              <a:t>gross </a:t>
            </a:r>
            <a:r>
              <a:rPr lang="en-US" b="1" i="1" dirty="0">
                <a:solidFill>
                  <a:srgbClr val="0070C0"/>
                </a:solidFill>
                <a:latin typeface="Consolas" panose="020B0609020204030204" pitchFamily="49" charset="0"/>
              </a:rPr>
              <a:t>&lt;-</a:t>
            </a:r>
            <a:r>
              <a:rPr lang="en-US" b="1" i="1" dirty="0">
                <a:solidFill>
                  <a:srgbClr val="0070C0"/>
                </a:solidFill>
              </a:rPr>
              <a:t> gross[grep("\\$", gross)]  </a:t>
            </a:r>
            <a:r>
              <a:rPr lang="en-US" dirty="0"/>
              <a:t>- finds all </a:t>
            </a:r>
            <a:r>
              <a:rPr lang="en-US" dirty="0" err="1"/>
              <a:t>occurences</a:t>
            </a:r>
            <a:r>
              <a:rPr lang="en-US" dirty="0"/>
              <a:t> of $ in the vector gross</a:t>
            </a:r>
          </a:p>
          <a:p>
            <a:pPr lvl="2"/>
            <a:r>
              <a:rPr lang="en-US" b="1" i="1" dirty="0">
                <a:solidFill>
                  <a:srgbClr val="0070C0"/>
                </a:solidFill>
              </a:rPr>
              <a:t>gross[seq(1, length(gross), 2)]  </a:t>
            </a:r>
            <a:r>
              <a:rPr lang="en-US" dirty="0"/>
              <a:t>- returns every other value of gross beginning at index 1</a:t>
            </a:r>
            <a:br>
              <a:rPr lang="en-US" dirty="0"/>
            </a:br>
            <a:r>
              <a:rPr lang="en-US" dirty="0"/>
              <a:t>i.e., 1, 3, 5, 7…</a:t>
            </a:r>
          </a:p>
          <a:p>
            <a:pPr lvl="1"/>
            <a:r>
              <a:rPr lang="en-US" b="1" i="1" dirty="0">
                <a:solidFill>
                  <a:srgbClr val="0070C0"/>
                </a:solidFill>
              </a:rPr>
              <a:t>scores </a:t>
            </a:r>
            <a:r>
              <a:rPr lang="en-US" b="1" i="1" dirty="0">
                <a:solidFill>
                  <a:srgbClr val="0070C0"/>
                </a:solidFill>
                <a:latin typeface="Consolas" panose="020B0609020204030204" pitchFamily="49" charset="0"/>
              </a:rPr>
              <a:t>&lt;-</a:t>
            </a:r>
            <a:r>
              <a:rPr lang="en-US" b="1" i="1" dirty="0">
                <a:solidFill>
                  <a:srgbClr val="0070C0"/>
                </a:solidFill>
              </a:rPr>
              <a:t> scores[grep("[^?!Rate]", scores)] </a:t>
            </a:r>
            <a:r>
              <a:rPr lang="en-US" dirty="0"/>
              <a:t>- removes all occurrences of Rate in the vector scores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5FB8B0-3F14-4129-AD3A-695BB4E1E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163" y="1998324"/>
            <a:ext cx="3208329" cy="193098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125125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SelectorGadget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180496"/>
            <a:ext cx="10893630" cy="3678303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SelectorGadget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Chrome App that gives information about webpage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Click </a:t>
            </a:r>
            <a:r>
              <a:rPr lang="en-US" dirty="0" err="1">
                <a:sym typeface="Wingdings" panose="05000000000000000000" pitchFamily="2" charset="2"/>
              </a:rPr>
              <a:t>SelectorGadget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madgnifying</a:t>
            </a:r>
            <a:r>
              <a:rPr lang="en-US" dirty="0">
                <a:sym typeface="Wingdings" panose="05000000000000000000" pitchFamily="2" charset="2"/>
              </a:rPr>
              <a:t> glass by bookmarks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Click element on webpage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Element highlights green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All similar elements highlighted yellow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Click elements to deselect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Element outlined red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Highlighted yellow erased</a:t>
            </a:r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48234" y="6323339"/>
            <a:ext cx="11026589" cy="388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u="sng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https://chrome.google.com/webstore/detail/selectorgadget/mhjhnkcfbdhnjickkkdbjoemdmbfginb?hl=en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0162" y="2467367"/>
            <a:ext cx="2276475" cy="6096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9753600" y="2467367"/>
            <a:ext cx="770966" cy="713771"/>
          </a:xfrm>
          <a:prstGeom prst="ellipse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094950"/>
            <a:ext cx="2047875" cy="13811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5937" y="4843587"/>
            <a:ext cx="1524000" cy="6477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6069" y="4895542"/>
            <a:ext cx="1419225" cy="533400"/>
          </a:xfrm>
          <a:prstGeom prst="rect">
            <a:avLst/>
          </a:prstGeom>
        </p:spPr>
      </p:pic>
      <p:sp>
        <p:nvSpPr>
          <p:cNvPr id="10" name="Right Arrow 9"/>
          <p:cNvSpPr/>
          <p:nvPr/>
        </p:nvSpPr>
        <p:spPr>
          <a:xfrm>
            <a:off x="7294418" y="5167437"/>
            <a:ext cx="581891" cy="2230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789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8C6F7-6821-4D1D-ACFF-9601D456A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Peeper &amp; </a:t>
            </a:r>
            <a:r>
              <a:rPr lang="en-US" dirty="0" err="1"/>
              <a:t>PEsticide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94F37-95D4-4D72-AD65-2771D1AA2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618" y="3429000"/>
            <a:ext cx="4629786" cy="1846169"/>
          </a:xfrm>
        </p:spPr>
        <p:txBody>
          <a:bodyPr/>
          <a:lstStyle/>
          <a:p>
            <a:r>
              <a:rPr lang="en-US" dirty="0"/>
              <a:t>CSS Peeper gives the </a:t>
            </a:r>
            <a:r>
              <a:rPr lang="en-US" dirty="0" err="1"/>
              <a:t>xpath</a:t>
            </a:r>
            <a:endParaRPr lang="en-US" dirty="0"/>
          </a:p>
          <a:p>
            <a:r>
              <a:rPr lang="en-US" dirty="0"/>
              <a:t>Pesticide gives the “boxes” on the webpage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464613-A63D-4850-A757-717E3F5B9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510" y="5406925"/>
            <a:ext cx="2881326" cy="10138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F46663-4165-4076-89E1-7E313DBD6E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6015" y="1947062"/>
            <a:ext cx="2930874" cy="138121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05E21E-DDA7-4A80-B1AA-4069EE0D4E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755" b="5461"/>
          <a:stretch/>
        </p:blipFill>
        <p:spPr>
          <a:xfrm>
            <a:off x="5287637" y="2401890"/>
            <a:ext cx="6953943" cy="39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1316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IMDB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6666275" cy="3678303"/>
          </a:xfrm>
        </p:spPr>
        <p:txBody>
          <a:bodyPr/>
          <a:lstStyle/>
          <a:p>
            <a:r>
              <a:rPr lang="en-US" dirty="0"/>
              <a:t>Use </a:t>
            </a:r>
            <a:r>
              <a:rPr lang="en-US" dirty="0" err="1"/>
              <a:t>robottxt</a:t>
            </a:r>
            <a:r>
              <a:rPr lang="en-US" dirty="0"/>
              <a:t> package to verify web scraping allowed</a:t>
            </a:r>
          </a:p>
          <a:p>
            <a:pPr lvl="1"/>
            <a:r>
              <a:rPr lang="en-US" dirty="0"/>
              <a:t>robot.txt used by websites if web scraping allowed</a:t>
            </a:r>
          </a:p>
          <a:p>
            <a:pPr lvl="1"/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paths_allowed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(domain = "imdb.com")</a:t>
            </a:r>
          </a:p>
          <a:p>
            <a:pPr lvl="1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[1] TRUE</a:t>
            </a:r>
          </a:p>
        </p:txBody>
      </p:sp>
      <p:pic>
        <p:nvPicPr>
          <p:cNvPr id="7173" name="Picture 5" descr="Imdb Icon | Plex for Android Iconset | Cornmanthe3r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7467" y="2180496"/>
            <a:ext cx="4019820" cy="3974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66998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IMDB Top Grossing Movies of All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882589"/>
            <a:ext cx="6615952" cy="4957481"/>
          </a:xfrm>
        </p:spPr>
        <p:txBody>
          <a:bodyPr>
            <a:noAutofit/>
          </a:bodyPr>
          <a:lstStyle/>
          <a:p>
            <a:r>
              <a:rPr lang="en-US" sz="2200" i="1" dirty="0">
                <a:solidFill>
                  <a:schemeClr val="accent2">
                    <a:lumMod val="75000"/>
                  </a:schemeClr>
                </a:solidFill>
              </a:rPr>
              <a:t>page &lt;- </a:t>
            </a:r>
            <a:r>
              <a:rPr lang="en-US" sz="2200" i="1" dirty="0" err="1">
                <a:solidFill>
                  <a:schemeClr val="accent2">
                    <a:lumMod val="75000"/>
                  </a:schemeClr>
                </a:solidFill>
              </a:rPr>
              <a:t>read_html</a:t>
            </a:r>
            <a:r>
              <a:rPr lang="en-US" sz="2200" i="1" dirty="0">
                <a:solidFill>
                  <a:schemeClr val="accent2">
                    <a:lumMod val="75000"/>
                  </a:schemeClr>
                </a:solidFill>
              </a:rPr>
              <a:t>("http://www.imdb.com/chart/top")</a:t>
            </a:r>
          </a:p>
          <a:p>
            <a:r>
              <a:rPr lang="en-US" sz="2200" i="1" dirty="0">
                <a:solidFill>
                  <a:schemeClr val="accent2">
                    <a:lumMod val="75000"/>
                  </a:schemeClr>
                </a:solidFill>
              </a:rPr>
              <a:t>titles &lt;- page %&gt;%</a:t>
            </a:r>
          </a:p>
          <a:p>
            <a:r>
              <a:rPr lang="en-US" sz="2200" i="1" dirty="0">
                <a:solidFill>
                  <a:schemeClr val="accent2">
                    <a:lumMod val="75000"/>
                  </a:schemeClr>
                </a:solidFill>
              </a:rPr>
              <a:t>  </a:t>
            </a:r>
            <a:r>
              <a:rPr lang="en-US" sz="2200" i="1" dirty="0" err="1">
                <a:solidFill>
                  <a:schemeClr val="accent2">
                    <a:lumMod val="75000"/>
                  </a:schemeClr>
                </a:solidFill>
              </a:rPr>
              <a:t>html_nodes</a:t>
            </a:r>
            <a:r>
              <a:rPr lang="en-US" sz="2200" i="1" dirty="0">
                <a:solidFill>
                  <a:schemeClr val="accent2">
                    <a:lumMod val="75000"/>
                  </a:schemeClr>
                </a:solidFill>
              </a:rPr>
              <a:t>(".</a:t>
            </a:r>
            <a:r>
              <a:rPr lang="en-US" sz="2200" i="1" dirty="0" err="1">
                <a:solidFill>
                  <a:schemeClr val="accent2">
                    <a:lumMod val="75000"/>
                  </a:schemeClr>
                </a:solidFill>
              </a:rPr>
              <a:t>ipc</a:t>
            </a:r>
            <a:r>
              <a:rPr lang="en-US" sz="2200" i="1" dirty="0">
                <a:solidFill>
                  <a:schemeClr val="accent2">
                    <a:lumMod val="75000"/>
                  </a:schemeClr>
                </a:solidFill>
              </a:rPr>
              <a:t>-title-link-wrapper") %&gt;%</a:t>
            </a:r>
          </a:p>
          <a:p>
            <a:r>
              <a:rPr lang="en-US" sz="2200" i="1" dirty="0">
                <a:solidFill>
                  <a:schemeClr val="accent2">
                    <a:lumMod val="75000"/>
                  </a:schemeClr>
                </a:solidFill>
              </a:rPr>
              <a:t>  </a:t>
            </a:r>
            <a:r>
              <a:rPr lang="en-US" sz="2200" i="1" dirty="0" err="1">
                <a:solidFill>
                  <a:schemeClr val="accent2">
                    <a:lumMod val="75000"/>
                  </a:schemeClr>
                </a:solidFill>
              </a:rPr>
              <a:t>html_text</a:t>
            </a:r>
            <a:r>
              <a:rPr lang="en-US" sz="2200" i="1" dirty="0">
                <a:solidFill>
                  <a:schemeClr val="accent2">
                    <a:lumMod val="75000"/>
                  </a:schemeClr>
                </a:solidFill>
              </a:rPr>
              <a:t>()</a:t>
            </a:r>
          </a:p>
          <a:p>
            <a:endParaRPr lang="en-US" sz="2200" dirty="0"/>
          </a:p>
          <a:p>
            <a:r>
              <a:rPr lang="en-US" sz="2200" i="1" dirty="0">
                <a:solidFill>
                  <a:schemeClr val="accent2">
                    <a:lumMod val="75000"/>
                  </a:schemeClr>
                </a:solidFill>
              </a:rPr>
              <a:t>years &lt;- page %&gt;%</a:t>
            </a:r>
          </a:p>
          <a:p>
            <a:r>
              <a:rPr lang="en-US" sz="2200" i="1" dirty="0">
                <a:solidFill>
                  <a:schemeClr val="accent2">
                    <a:lumMod val="75000"/>
                  </a:schemeClr>
                </a:solidFill>
              </a:rPr>
              <a:t>  </a:t>
            </a:r>
            <a:r>
              <a:rPr lang="en-US" sz="2200" i="1" dirty="0" err="1">
                <a:solidFill>
                  <a:schemeClr val="accent2">
                    <a:lumMod val="75000"/>
                  </a:schemeClr>
                </a:solidFill>
              </a:rPr>
              <a:t>html_nodes</a:t>
            </a:r>
            <a:r>
              <a:rPr lang="en-US" sz="2200" i="1" dirty="0">
                <a:solidFill>
                  <a:schemeClr val="accent2">
                    <a:lumMod val="75000"/>
                  </a:schemeClr>
                </a:solidFill>
              </a:rPr>
              <a:t>(".</a:t>
            </a:r>
            <a:r>
              <a:rPr lang="en-US" sz="2200" i="1" dirty="0" err="1">
                <a:solidFill>
                  <a:schemeClr val="accent2">
                    <a:lumMod val="75000"/>
                  </a:schemeClr>
                </a:solidFill>
              </a:rPr>
              <a:t>secondaryInfo</a:t>
            </a:r>
            <a:r>
              <a:rPr lang="en-US" sz="2200" i="1" dirty="0">
                <a:solidFill>
                  <a:schemeClr val="accent2">
                    <a:lumMod val="75000"/>
                  </a:schemeClr>
                </a:solidFill>
              </a:rPr>
              <a:t>") %&gt;%</a:t>
            </a:r>
          </a:p>
          <a:p>
            <a:r>
              <a:rPr lang="en-US" sz="2200" i="1" dirty="0">
                <a:solidFill>
                  <a:schemeClr val="accent2">
                    <a:lumMod val="75000"/>
                  </a:schemeClr>
                </a:solidFill>
              </a:rPr>
              <a:t>  </a:t>
            </a:r>
            <a:r>
              <a:rPr lang="en-US" sz="2200" i="1" dirty="0" err="1">
                <a:solidFill>
                  <a:schemeClr val="accent2">
                    <a:lumMod val="75000"/>
                  </a:schemeClr>
                </a:solidFill>
              </a:rPr>
              <a:t>html_text</a:t>
            </a:r>
            <a:r>
              <a:rPr lang="en-US" sz="2200" i="1" dirty="0">
                <a:solidFill>
                  <a:schemeClr val="accent2">
                    <a:lumMod val="75000"/>
                  </a:schemeClr>
                </a:solidFill>
              </a:rPr>
              <a:t>() %&gt;%</a:t>
            </a:r>
          </a:p>
          <a:p>
            <a:r>
              <a:rPr lang="en-US" sz="2200" i="1" dirty="0">
                <a:solidFill>
                  <a:schemeClr val="accent2">
                    <a:lumMod val="75000"/>
                  </a:schemeClr>
                </a:solidFill>
              </a:rPr>
              <a:t>  </a:t>
            </a:r>
            <a:r>
              <a:rPr lang="en-US" sz="2200" i="1" dirty="0" err="1">
                <a:solidFill>
                  <a:schemeClr val="accent2">
                    <a:lumMod val="75000"/>
                  </a:schemeClr>
                </a:solidFill>
              </a:rPr>
              <a:t>as.numeric</a:t>
            </a:r>
            <a:r>
              <a:rPr lang="en-US" sz="2200" i="1" dirty="0">
                <a:solidFill>
                  <a:schemeClr val="accent2">
                    <a:lumMod val="75000"/>
                  </a:schemeClr>
                </a:solidFill>
              </a:rPr>
              <a:t>() %&gt;%</a:t>
            </a:r>
          </a:p>
          <a:p>
            <a:r>
              <a:rPr lang="en-US" sz="2200" i="1" dirty="0">
                <a:solidFill>
                  <a:schemeClr val="accent2">
                    <a:lumMod val="75000"/>
                  </a:schemeClr>
                </a:solidFill>
              </a:rPr>
              <a:t>  </a:t>
            </a:r>
            <a:r>
              <a:rPr lang="en-US" sz="2200" i="1" dirty="0" err="1">
                <a:solidFill>
                  <a:schemeClr val="accent2">
                    <a:lumMod val="75000"/>
                  </a:schemeClr>
                </a:solidFill>
              </a:rPr>
              <a:t>na.omit</a:t>
            </a:r>
            <a:r>
              <a:rPr lang="en-US" sz="2200" i="1" dirty="0">
                <a:solidFill>
                  <a:schemeClr val="accent2">
                    <a:lumMod val="75000"/>
                  </a:schemeClr>
                </a:solidFill>
              </a:rPr>
              <a:t>()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974541" y="1582544"/>
            <a:ext cx="4994857" cy="4629997"/>
          </a:xfrm>
        </p:spPr>
        <p:txBody>
          <a:bodyPr>
            <a:normAutofit fontScale="62500" lnSpcReduction="20000"/>
          </a:bodyPr>
          <a:lstStyle/>
          <a:p>
            <a:endParaRPr lang="en-US" dirty="0"/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scores &lt;- page %&gt;%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html_nodes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(".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ratingGroup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--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imdb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-rating") %&gt;%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html_text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() %&gt;%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str_sub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(start=1, end=3) %&gt;%  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as.numeric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()</a:t>
            </a:r>
          </a:p>
          <a:p>
            <a:endParaRPr lang="en-US" i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imdb_top_250 &lt;-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tibble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(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title = titles, 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year = years, 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score = scores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)</a:t>
            </a:r>
          </a:p>
          <a:p>
            <a:endParaRPr lang="en-US" dirty="0"/>
          </a:p>
        </p:txBody>
      </p:sp>
      <p:sp>
        <p:nvSpPr>
          <p:cNvPr id="6" name="Down Arrow Callout 5"/>
          <p:cNvSpPr/>
          <p:nvPr/>
        </p:nvSpPr>
        <p:spPr>
          <a:xfrm>
            <a:off x="2512437" y="2396793"/>
            <a:ext cx="1719069" cy="710456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From CSS Peeper</a:t>
            </a:r>
          </a:p>
        </p:txBody>
      </p:sp>
      <p:sp>
        <p:nvSpPr>
          <p:cNvPr id="2" name="Up Arrow Callout 1"/>
          <p:cNvSpPr/>
          <p:nvPr/>
        </p:nvSpPr>
        <p:spPr>
          <a:xfrm>
            <a:off x="4511381" y="2486573"/>
            <a:ext cx="2104571" cy="2525486"/>
          </a:xfrm>
          <a:prstGeom prst="up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You may also go to website and save to your local machine (ctrl-S or </a:t>
            </a:r>
            <a:r>
              <a:rPr lang="en-US" dirty="0" err="1"/>
              <a:t>cmd</a:t>
            </a:r>
            <a:r>
              <a:rPr lang="en-US" dirty="0"/>
              <a:t>-S).</a:t>
            </a:r>
          </a:p>
          <a:p>
            <a:pPr algn="ctr"/>
            <a:r>
              <a:rPr lang="en-US" dirty="0"/>
              <a:t>Then, </a:t>
            </a:r>
            <a:r>
              <a:rPr lang="en-US" b="1" i="1" dirty="0" err="1"/>
              <a:t>read_html</a:t>
            </a:r>
            <a:r>
              <a:rPr lang="en-US" dirty="0"/>
              <a:t> from your local </a:t>
            </a:r>
            <a:r>
              <a:rPr lang="en-US" dirty="0" err="1"/>
              <a:t>dir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014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500"/>
                            </p:stCondLst>
                            <p:childTnLst>
                              <p:par>
                                <p:cTn id="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Html_Text</a:t>
            </a:r>
            <a:r>
              <a:rPr lang="en-US" dirty="0"/>
              <a:t>()  v. HTML_ATTR()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715956"/>
            <a:ext cx="11029615" cy="5142044"/>
          </a:xfrm>
        </p:spPr>
        <p:txBody>
          <a:bodyPr>
            <a:normAutofit/>
          </a:bodyPr>
          <a:lstStyle/>
          <a:p>
            <a:r>
              <a:rPr lang="en-US" dirty="0"/>
              <a:t>Say I have the following html anchor tag: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&lt;a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href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="olemiss.edu"&gt;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University of Mississippi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&lt;/a&gt;</a:t>
            </a:r>
          </a:p>
          <a:p>
            <a:r>
              <a:rPr lang="en-US" dirty="0" err="1"/>
              <a:t>html_nodes</a:t>
            </a:r>
            <a:r>
              <a:rPr lang="en-US" dirty="0"/>
              <a:t>("a") %&gt;%</a:t>
            </a:r>
          </a:p>
          <a:p>
            <a:pPr lvl="1"/>
            <a:r>
              <a:rPr lang="en-US" dirty="0" err="1"/>
              <a:t>html_text</a:t>
            </a:r>
            <a:r>
              <a:rPr lang="en-US" dirty="0"/>
              <a:t>()  </a:t>
            </a:r>
            <a:r>
              <a:rPr lang="en-US" dirty="0">
                <a:sym typeface="Wingdings" panose="05000000000000000000" pitchFamily="2" charset="2"/>
              </a:rPr>
              <a:t>  Use when you want to extract the text between tags</a:t>
            </a:r>
          </a:p>
          <a:p>
            <a:pPr lvl="2"/>
            <a:r>
              <a:rPr lang="en-US" dirty="0" err="1">
                <a:sym typeface="Wingdings" panose="05000000000000000000" pitchFamily="2" charset="2"/>
              </a:rPr>
              <a:t>html_text</a:t>
            </a:r>
            <a:r>
              <a:rPr lang="en-US" dirty="0">
                <a:sym typeface="Wingdings" panose="05000000000000000000" pitchFamily="2" charset="2"/>
              </a:rPr>
              <a:t>()    extracts the text: 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University of Mississippi</a:t>
            </a:r>
          </a:p>
          <a:p>
            <a:pPr lvl="1"/>
            <a:r>
              <a:rPr lang="en-US" dirty="0" err="1">
                <a:sym typeface="Wingdings" panose="05000000000000000000" pitchFamily="2" charset="2"/>
              </a:rPr>
              <a:t>html_attr</a:t>
            </a:r>
            <a:r>
              <a:rPr lang="en-US" dirty="0">
                <a:sym typeface="Wingdings" panose="05000000000000000000" pitchFamily="2" charset="2"/>
              </a:rPr>
              <a:t>("</a:t>
            </a:r>
            <a:r>
              <a:rPr lang="en-US" dirty="0" err="1">
                <a:sym typeface="Wingdings" panose="05000000000000000000" pitchFamily="2" charset="2"/>
              </a:rPr>
              <a:t>attributeName</a:t>
            </a:r>
            <a:r>
              <a:rPr lang="en-US" dirty="0">
                <a:sym typeface="Wingdings" panose="05000000000000000000" pitchFamily="2" charset="2"/>
              </a:rPr>
              <a:t>")   Use when you want to extract the value of an attribute</a:t>
            </a:r>
          </a:p>
          <a:p>
            <a:pPr lvl="2"/>
            <a:r>
              <a:rPr lang="en-US" dirty="0" err="1">
                <a:sym typeface="Wingdings" panose="05000000000000000000" pitchFamily="2" charset="2"/>
              </a:rPr>
              <a:t>html_attr</a:t>
            </a:r>
            <a:r>
              <a:rPr lang="en-US" dirty="0">
                <a:sym typeface="Wingdings" panose="05000000000000000000" pitchFamily="2" charset="2"/>
              </a:rPr>
              <a:t>("</a:t>
            </a:r>
            <a:r>
              <a:rPr lang="en-US" dirty="0" err="1">
                <a:sym typeface="Wingdings" panose="05000000000000000000" pitchFamily="2" charset="2"/>
              </a:rPr>
              <a:t>href</a:t>
            </a:r>
            <a:r>
              <a:rPr lang="en-US" dirty="0">
                <a:sym typeface="Wingdings" panose="05000000000000000000" pitchFamily="2" charset="2"/>
              </a:rPr>
              <a:t>")   Extracts the URL: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olemiss.edu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8008207"/>
      </p:ext>
    </p:extLst>
  </p:cSld>
  <p:clrMapOvr>
    <a:masterClrMapping/>
  </p:clrMapOvr>
</p:sld>
</file>

<file path=ppt/theme/theme1.xml><?xml version="1.0" encoding="utf-8"?>
<a:theme xmlns:a="http://schemas.openxmlformats.org/drawingml/2006/main" name="RTheme1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Theme1" id="{6F74742C-CA52-48C0-9269-F86BBCC36A7B}" vid="{131DD306-3EC2-4718-82F0-6A5603621A8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10257</TotalTime>
  <Words>2324</Words>
  <Application>Microsoft Office PowerPoint</Application>
  <PresentationFormat>Widescreen</PresentationFormat>
  <Paragraphs>328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Arial Unicode MS</vt:lpstr>
      <vt:lpstr>Calibri</vt:lpstr>
      <vt:lpstr>Consolas</vt:lpstr>
      <vt:lpstr>Gill Sans MT</vt:lpstr>
      <vt:lpstr>Wingdings 2</vt:lpstr>
      <vt:lpstr>RTheme1</vt:lpstr>
      <vt:lpstr>Readr, readxl, and rvest (Web Scraping)</vt:lpstr>
      <vt:lpstr>Base R</vt:lpstr>
      <vt:lpstr>Readr Package</vt:lpstr>
      <vt:lpstr>Helpful stringr Functions</vt:lpstr>
      <vt:lpstr>Readr CSV </vt:lpstr>
      <vt:lpstr>Example</vt:lpstr>
      <vt:lpstr>Readr TSV</vt:lpstr>
      <vt:lpstr>Example</vt:lpstr>
      <vt:lpstr>Readr Generic Delimited</vt:lpstr>
      <vt:lpstr>Example</vt:lpstr>
      <vt:lpstr>readxl</vt:lpstr>
      <vt:lpstr>Xlsx</vt:lpstr>
      <vt:lpstr>Wide v. Long Datasets</vt:lpstr>
      <vt:lpstr>Wide To Long</vt:lpstr>
      <vt:lpstr>Long to Wide</vt:lpstr>
      <vt:lpstr>Long to Wide</vt:lpstr>
      <vt:lpstr>Web Scraping</vt:lpstr>
      <vt:lpstr>Why Use Web Scraping</vt:lpstr>
      <vt:lpstr>Ways to Scrape Data</vt:lpstr>
      <vt:lpstr>Document Object Model (DOM)</vt:lpstr>
      <vt:lpstr>Rvest &amp; SelectorGadget</vt:lpstr>
      <vt:lpstr>Grep – Global Regular Expression</vt:lpstr>
      <vt:lpstr>SelectorGadget</vt:lpstr>
      <vt:lpstr>CSS Peeper &amp; PEsticide</vt:lpstr>
      <vt:lpstr>Example - IMDB</vt:lpstr>
      <vt:lpstr>Example – IMDB Top Grossing Movies of All Time</vt:lpstr>
      <vt:lpstr>Html_Text()  v. HTML_ATTR()</vt:lpstr>
    </vt:vector>
  </TitlesOfParts>
  <Company>University of Mississippi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Dplyr &amp; Tidyr</dc:title>
  <dc:creator>Kristi Davidson</dc:creator>
  <cp:lastModifiedBy>Kristi Davidson</cp:lastModifiedBy>
  <cp:revision>91</cp:revision>
  <cp:lastPrinted>2019-08-23T21:14:26Z</cp:lastPrinted>
  <dcterms:created xsi:type="dcterms:W3CDTF">2019-08-01T13:50:09Z</dcterms:created>
  <dcterms:modified xsi:type="dcterms:W3CDTF">2024-10-02T18:18:46Z</dcterms:modified>
</cp:coreProperties>
</file>